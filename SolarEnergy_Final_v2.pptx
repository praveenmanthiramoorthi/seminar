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3" r:id="rId24"/>
    <p:sldId id="259" r:id="rId5"/>
    <p:sldId id="274" r:id="rId25"/>
    <p:sldId id="260" r:id="rId6"/>
    <p:sldId id="275" r:id="rId26"/>
    <p:sldId id="261" r:id="rId7"/>
    <p:sldId id="276" r:id="rId27"/>
    <p:sldId id="262" r:id="rId8"/>
    <p:sldId id="277" r:id="rId28"/>
    <p:sldId id="263" r:id="rId9"/>
    <p:sldId id="278" r:id="rId29"/>
    <p:sldId id="264" r:id="rId10"/>
    <p:sldId id="279" r:id="rId30"/>
    <p:sldId id="265" r:id="rId11"/>
    <p:sldId id="280" r:id="rId31"/>
    <p:sldId id="266" r:id="rId12"/>
    <p:sldId id="281" r:id="rId32"/>
    <p:sldId id="267" r:id="rId13"/>
    <p:sldId id="282" r:id="rId33"/>
    <p:sldId id="268" r:id="rId14"/>
    <p:sldId id="283" r:id="rId34"/>
    <p:sldId id="269" r:id="rId15"/>
    <p:sldId id="284" r:id="rId35"/>
    <p:sldId id="270" r:id="rId16"/>
    <p:sldId id="285" r:id="rId36"/>
    <p:sldId id="271" r:id="rId17"/>
    <p:sldId id="286" r:id="rId37"/>
    <p:sldId id="272" r:id="rId23"/>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Solar (GW)</c:v>
                </c:pt>
              </c:strCache>
            </c:strRef>
          </c:tx>
          <c:spPr>
            <a:solidFill>
              <a:srgbClr val="FFB300"/>
            </a:solidFill>
            <a:effectLst/>
          </c:spPr>
          <c:invertIfNegative val="0"/>
          <c:dLbls>
            <c:numFmt formatCode="#,##0" sourceLinked="0"/>
            <c:txPr>
              <a:bodyPr/>
              <a:lstStyle/>
              <a:p>
                <a:pPr>
                  <a:defRPr b="0" i="0" strike="noStrike" sz="800" u="none">
                    <a:solidFill>
                      <a:srgbClr val="0A1628"/>
                    </a:solidFill>
                    <a:latin typeface="Arial"/>
                  </a:defRPr>
                </a:pPr>
              </a:p>
            </c:txPr>
            <c:showLegendKey val="0"/>
            <c:showVal val="1"/>
            <c:showCatName val="0"/>
            <c:showSerName val="0"/>
            <c:showPercent val="0"/>
            <c:showBubbleSize val="0"/>
            <c:showLeaderLines val="0"/>
          </c:dLbls>
          <c:cat>
            <c:multiLvlStrRef>
              <c:f>Sheet1!$A$2:$A$11</c:f>
              <c:multiLvlStrCache>
                <c:ptCount val="10"/>
                <c:lvl>
                  <c:pt idx="0">
                    <c:v>China</c:v>
                  </c:pt>
                  <c:pt idx="1">
                    <c:v>USA</c:v>
                  </c:pt>
                  <c:pt idx="2">
                    <c:v>Japan</c:v>
                  </c:pt>
                  <c:pt idx="3">
                    <c:v>India</c:v>
                  </c:pt>
                  <c:pt idx="4">
                    <c:v>Germany</c:v>
                  </c:pt>
                  <c:pt idx="5">
                    <c:v>Australia</c:v>
                  </c:pt>
                  <c:pt idx="6">
                    <c:v>Brazil</c:v>
                  </c:pt>
                  <c:pt idx="7">
                    <c:v>Italy</c:v>
                  </c:pt>
                  <c:pt idx="8">
                    <c:v>S. Korea</c:v>
                  </c:pt>
                  <c:pt idx="9">
                    <c:v>Spain</c:v>
                  </c:pt>
                </c:lvl>
              </c:multiLvlStrCache>
            </c:multiLvlStrRef>
          </c:cat>
          <c:val>
            <c:numRef>
              <c:f>Sheet1!$B$2:$B$11</c:f>
              <c:numCache>
                <c:formatCode>General</c:formatCode>
                <c:ptCount val="10"/>
                <c:pt idx="0">
                  <c:v>430</c:v>
                </c:pt>
                <c:pt idx="1">
                  <c:v>140</c:v>
                </c:pt>
                <c:pt idx="2">
                  <c:v>84</c:v>
                </c:pt>
                <c:pt idx="3">
                  <c:v>70</c:v>
                </c:pt>
                <c:pt idx="4">
                  <c:v>66</c:v>
                </c:pt>
                <c:pt idx="5">
                  <c:v>26</c:v>
                </c:pt>
                <c:pt idx="6">
                  <c:v>24</c:v>
                </c:pt>
                <c:pt idx="7">
                  <c:v>25</c:v>
                </c:pt>
                <c:pt idx="8">
                  <c:v>21</c:v>
                </c:pt>
                <c:pt idx="9">
                  <c:v>18</c:v>
                </c:pt>
              </c:numCache>
            </c:numRef>
          </c:val>
        </c:ser>
        <c:dLbls>
          <c:numFmt formatCode="#,##0" sourceLinked="0"/>
          <c:txPr>
            <a:bodyPr/>
            <a:lstStyle/>
            <a:p>
              <a:pPr>
                <a:defRPr b="0" i="0" strike="noStrike" sz="8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63238"/>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CEF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Global Solar GW</c:v>
                </c:pt>
              </c:strCache>
            </c:strRef>
          </c:tx>
          <c:spPr>
            <a:solidFill>
              <a:srgbClr val="FFB300"/>
            </a:solidFill>
            <a:ln w="38100" cap="flat">
              <a:solidFill>
                <a:srgbClr val="FFB3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B300"/>
              </a:solidFill>
              <a:ln w="9525" cap="flat">
                <a:solidFill>
                  <a:srgbClr val="FFB300"/>
                </a:solidFill>
                <a:prstDash val="solid"/>
                <a:round/>
              </a:ln>
              <a:effectLst/>
            </c:spPr>
          </c:marker>
          <c:cat>
            <c:multiLvlStrRef>
              <c:f>Sheet1!$A$2:$A$11</c:f>
              <c:multiLvlStrCache>
                <c:ptCount val="10"/>
                <c:lvl>
                  <c:pt idx="0">
                    <c:v>2015</c:v>
                  </c:pt>
                  <c:pt idx="1">
                    <c:v>2016</c:v>
                  </c:pt>
                  <c:pt idx="2">
                    <c:v>2017</c:v>
                  </c:pt>
                  <c:pt idx="3">
                    <c:v>2018</c:v>
                  </c:pt>
                  <c:pt idx="4">
                    <c:v>2019</c:v>
                  </c:pt>
                  <c:pt idx="5">
                    <c:v>2020</c:v>
                  </c:pt>
                  <c:pt idx="6">
                    <c:v>2021</c:v>
                  </c:pt>
                  <c:pt idx="7">
                    <c:v>2022</c:v>
                  </c:pt>
                  <c:pt idx="8">
                    <c:v>2023</c:v>
                  </c:pt>
                  <c:pt idx="9">
                    <c:v>2024</c:v>
                  </c:pt>
                </c:lvl>
              </c:multiLvlStrCache>
            </c:multiLvlStrRef>
          </c:cat>
          <c:val>
            <c:numRef>
              <c:f>Sheet1!$B$2:$B$11</c:f>
              <c:numCache>
                <c:formatCode>General</c:formatCode>
                <c:ptCount val="10"/>
                <c:pt idx="0">
                  <c:v>222</c:v>
                </c:pt>
                <c:pt idx="1">
                  <c:v>290</c:v>
                </c:pt>
                <c:pt idx="2">
                  <c:v>386</c:v>
                </c:pt>
                <c:pt idx="3">
                  <c:v>480</c:v>
                </c:pt>
                <c:pt idx="4">
                  <c:v>586</c:v>
                </c:pt>
                <c:pt idx="5">
                  <c:v>714</c:v>
                </c:pt>
                <c:pt idx="6">
                  <c:v>843</c:v>
                </c:pt>
                <c:pt idx="7">
                  <c:v>1000</c:v>
                </c:pt>
                <c:pt idx="8">
                  <c:v>1100</c:v>
                </c:pt>
                <c:pt idx="9">
                  <c:v>1200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07D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CEF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263238"/>
              </a:solidFill>
              <a:effectLst/>
            </c:spPr>
          </c:dPt>
          <c:dPt>
            <c:idx val="1"/>
            <c:bubble3D val="0"/>
            <c:spPr>
              <a:solidFill>
                <a:srgbClr val="607D8B"/>
              </a:solidFill>
              <a:effectLst/>
            </c:spPr>
          </c:dPt>
          <c:dPt>
            <c:idx val="2"/>
            <c:bubble3D val="0"/>
            <c:spPr>
              <a:solidFill>
                <a:srgbClr val="1565C0"/>
              </a:solidFill>
              <a:effectLst/>
            </c:spPr>
          </c:dPt>
          <c:dPt>
            <c:idx val="3"/>
            <c:bubble3D val="0"/>
            <c:spPr>
              <a:solidFill>
                <a:srgbClr val="2E7D32"/>
              </a:solidFill>
              <a:effectLst/>
            </c:spPr>
          </c:dPt>
          <c:dPt>
            <c:idx val="4"/>
            <c:bubble3D val="0"/>
            <c:spPr>
              <a:solidFill>
                <a:srgbClr val="FFB300"/>
              </a:solidFill>
              <a:effectLst/>
            </c:spPr>
          </c:dPt>
          <c:dPt>
            <c:idx val="5"/>
            <c:bubble3D val="0"/>
            <c:spPr>
              <a:solidFill>
                <a:srgbClr val="311B92"/>
              </a:solidFill>
              <a:effectLst/>
            </c:spPr>
          </c:dPt>
          <c:dPt>
            <c:idx val="6"/>
            <c:bubble3D val="0"/>
            <c:spPr>
              <a:solidFill>
                <a:srgbClr val="9E9E9E"/>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Coal</c:v>
                </c:pt>
                <c:pt idx="1">
                  <c:v>Gas</c:v>
                </c:pt>
                <c:pt idx="2">
                  <c:v>Hydro</c:v>
                </c:pt>
                <c:pt idx="3">
                  <c:v>Wind</c:v>
                </c:pt>
                <c:pt idx="4">
                  <c:v>Solar</c:v>
                </c:pt>
                <c:pt idx="5">
                  <c:v>Nuclear</c:v>
                </c:pt>
                <c:pt idx="6">
                  <c:v>Other</c:v>
                </c:pt>
              </c:strCache>
            </c:strRef>
          </c:cat>
          <c:val>
            <c:numRef>
              <c:f>Sheet1!$B$2:$B$8</c:f>
              <c:numCache>
                <c:ptCount val="7"/>
                <c:pt idx="0">
                  <c:v>36</c:v>
                </c:pt>
                <c:pt idx="1">
                  <c:v>23</c:v>
                </c:pt>
                <c:pt idx="2">
                  <c:v>15</c:v>
                </c:pt>
                <c:pt idx="3">
                  <c:v>7</c:v>
                </c:pt>
                <c:pt idx="4">
                  <c:v>3</c:v>
                </c:pt>
                <c:pt idx="5">
                  <c:v>10</c:v>
                </c:pt>
                <c:pt idx="6">
                  <c:v>6</c:v>
                </c:pt>
              </c:numCache>
            </c:numRef>
          </c:val>
        </c:ser>
        <c:firstSliceAng val="0"/>
      </c:pieChart>
      <c:spPr>
        <a:noFill/>
        <a:ln>
          <a:noFill/>
        </a:ln>
        <a:effectLst/>
      </c:spPr>
    </c:plotArea>
    <c:legend>
      <c:legendPos val="b"/>
      <c:overlay val="0"/>
      <c:txPr>
        <a:bodyPr/>
        <a:lstStyle/>
        <a:p>
          <a:pPr>
            <a:defRPr sz="700">
              <a:solidFill>
                <a:srgbClr val="263238"/>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g_bhadla.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g_solar_farm.png"/></Relationships>
</file>

<file path=ppt/slides/_rels/slide11.xml.rels><?xml version="1.0" encoding="UTF-8"?><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g_rooftop.png"/></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 Id="rId5" Type="http://schemas.openxmlformats.org/officeDocument/2006/relationships/image" Target="../media/img_satellite_orbit.png"/></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 Id="rId7" Type="http://schemas.openxmlformats.org/officeDocument/2006/relationships/image" Target="../media/img_iss.png"/></Relationships>
</file>

<file path=ppt/slides/_rels/slide14.xml.rels><?xml version="1.0" encoding="UTF-8"?><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g_space_solar.png"/></Relationships>
</file>

<file path=ppt/slides/_rels/slide17.xml.rels><?xml version="1.0" encoding="UTF-8"?><Relationships xmlns="http://schemas.openxmlformats.org/package/2006/relationships"><Relationship Id="rId1" Type="http://schemas.openxmlformats.org/officeDocument/2006/relationships/image" Target="../media/new_img1_solar_farm.png"/><Relationship Id="rId2" Type="http://schemas.openxmlformats.org/officeDocument/2006/relationships/image" Target="../media/new_img2_satellite.png"/><Relationship Id="rId3" Type="http://schemas.openxmlformats.org/officeDocument/2006/relationships/image" Target="../media/new_img3_iss.png"/><Relationship Id="rId4" Type="http://schemas.openxmlformats.org/officeDocument/2006/relationships/image" Target="../media/new_img4_sbsp.png"/><Relationship Id="rId5" Type="http://schemas.openxmlformats.org/officeDocument/2006/relationships/image" Target="../media/new_img5_rooftop.png"/><Relationship Id="rId6" Type="http://schemas.openxmlformats.org/officeDocument/2006/relationships/image" Target="../media/new_img6_connection.png"/><Relationship Id="rId7"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2.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3.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4.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5.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6.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7.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8.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9.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0.png"/></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1.png"/></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2.png"/></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3.png"/></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gslide_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303520" y="-2011680"/>
            <a:ext cx="6858000" cy="6858000"/>
          </a:xfrm>
          <a:prstGeom prst="ellipse">
            <a:avLst/>
          </a:prstGeom>
          <a:solidFill>
            <a:srgbClr val="FF8F00">
              <a:alpha val="14000"/>
            </a:srgbClr>
          </a:solidFill>
          <a:ln/>
        </p:spPr>
      </p:sp>
      <p:sp>
        <p:nvSpPr>
          <p:cNvPr id="3" name="Shape 1"/>
          <p:cNvSpPr/>
          <p:nvPr/>
        </p:nvSpPr>
        <p:spPr>
          <a:xfrm>
            <a:off x="6035040" y="-1280160"/>
            <a:ext cx="5120640" cy="5120640"/>
          </a:xfrm>
          <a:prstGeom prst="ellipse">
            <a:avLst/>
          </a:prstGeom>
          <a:solidFill>
            <a:srgbClr val="FFB300">
              <a:alpha val="22000"/>
            </a:srgbClr>
          </a:solidFill>
          <a:ln/>
        </p:spPr>
      </p:sp>
      <p:sp>
        <p:nvSpPr>
          <p:cNvPr id="4" name="Shape 2"/>
          <p:cNvSpPr/>
          <p:nvPr/>
        </p:nvSpPr>
        <p:spPr>
          <a:xfrm>
            <a:off x="6766560" y="-457200"/>
            <a:ext cx="3474720" cy="3474720"/>
          </a:xfrm>
          <a:prstGeom prst="ellipse">
            <a:avLst/>
          </a:prstGeom>
          <a:solidFill>
            <a:srgbClr val="FFD54F">
              <a:alpha val="33000"/>
            </a:srgbClr>
          </a:solidFill>
          <a:ln/>
        </p:spPr>
      </p:sp>
      <p:sp>
        <p:nvSpPr>
          <p:cNvPr id="5" name="Shape 3"/>
          <p:cNvSpPr/>
          <p:nvPr/>
        </p:nvSpPr>
        <p:spPr>
          <a:xfrm>
            <a:off x="0" y="0"/>
            <a:ext cx="128016" cy="5143500"/>
          </a:xfrm>
          <a:prstGeom prst="rect">
            <a:avLst/>
          </a:prstGeom>
          <a:solidFill>
            <a:srgbClr val="FFB300"/>
          </a:solidFill>
          <a:ln/>
        </p:spPr>
      </p:sp>
      <p:sp>
        <p:nvSpPr>
          <p:cNvPr id="6" name="Text 4"/>
          <p:cNvSpPr/>
          <p:nvPr/>
        </p:nvSpPr>
        <p:spPr>
          <a:xfrm>
            <a:off x="411480" y="411480"/>
            <a:ext cx="6858000" cy="1143000"/>
          </a:xfrm>
          <a:prstGeom prst="rect">
            <a:avLst/>
          </a:prstGeom>
          <a:noFill/>
          <a:ln/>
        </p:spPr>
        <p:txBody>
          <a:bodyPr wrap="square" rtlCol="0" anchor="ctr"/>
          <a:lstStyle/>
          <a:p>
            <a:pPr indent="0" marL="0">
              <a:buNone/>
            </a:pPr>
            <a:r>
              <a:rPr lang="en-US" sz="6800" b="1" spc="800" kern="0" dirty="0">
                <a:solidFill>
                  <a:srgbClr val="FFB300"/>
                </a:solidFill>
                <a:latin typeface="Arial Black" pitchFamily="34" charset="0"/>
                <a:ea typeface="Arial Black" pitchFamily="34" charset="-122"/>
                <a:cs typeface="Arial Black" pitchFamily="34" charset="-120"/>
              </a:rPr>
              <a:t>SOLAR</a:t>
            </a:r>
            <a:endParaRPr lang="en-US" sz="6800" dirty="0"/>
          </a:p>
        </p:txBody>
      </p:sp>
      <p:sp>
        <p:nvSpPr>
          <p:cNvPr id="7" name="Text 5"/>
          <p:cNvSpPr/>
          <p:nvPr/>
        </p:nvSpPr>
        <p:spPr>
          <a:xfrm>
            <a:off x="411480" y="1508760"/>
            <a:ext cx="6858000" cy="1143000"/>
          </a:xfrm>
          <a:prstGeom prst="rect">
            <a:avLst/>
          </a:prstGeom>
          <a:noFill/>
          <a:ln/>
        </p:spPr>
        <p:txBody>
          <a:bodyPr wrap="square" rtlCol="0" anchor="ctr"/>
          <a:lstStyle/>
          <a:p>
            <a:pPr indent="0" marL="0">
              <a:buNone/>
            </a:pPr>
            <a:r>
              <a:rPr lang="en-US" sz="6800" b="1" spc="800" kern="0" dirty="0">
                <a:solidFill>
                  <a:srgbClr val="FFFFFF"/>
                </a:solidFill>
                <a:latin typeface="Arial Black" pitchFamily="34" charset="0"/>
                <a:ea typeface="Arial Black" pitchFamily="34" charset="-122"/>
                <a:cs typeface="Arial Black" pitchFamily="34" charset="-120"/>
              </a:rPr>
              <a:t>ENERGY</a:t>
            </a:r>
            <a:endParaRPr lang="en-US" sz="6800" dirty="0"/>
          </a:p>
        </p:txBody>
      </p:sp>
      <p:sp>
        <p:nvSpPr>
          <p:cNvPr id="8" name="Text 6"/>
          <p:cNvSpPr/>
          <p:nvPr/>
        </p:nvSpPr>
        <p:spPr>
          <a:xfrm>
            <a:off x="411480" y="2724912"/>
            <a:ext cx="7772400" cy="475488"/>
          </a:xfrm>
          <a:prstGeom prst="rect">
            <a:avLst/>
          </a:prstGeom>
          <a:noFill/>
          <a:ln/>
        </p:spPr>
        <p:txBody>
          <a:bodyPr wrap="square" rtlCol="0" anchor="ctr"/>
          <a:lstStyle/>
          <a:p>
            <a:pPr indent="0" marL="0">
              <a:buNone/>
            </a:pPr>
            <a:r>
              <a:rPr lang="en-US" sz="1500" i="1" dirty="0">
                <a:solidFill>
                  <a:srgbClr val="FFD54F"/>
                </a:solidFill>
                <a:latin typeface="Calibri" pitchFamily="34" charset="0"/>
                <a:ea typeface="Calibri" pitchFamily="34" charset="-122"/>
                <a:cs typeface="Calibri" pitchFamily="34" charset="-120"/>
              </a:rPr>
              <a:t>Harnessing the Power of the Sun — From Earth to Space</a:t>
            </a:r>
            <a:endParaRPr lang="en-US" sz="1500" dirty="0"/>
          </a:p>
        </p:txBody>
      </p:sp>
      <p:sp>
        <p:nvSpPr>
          <p:cNvPr id="9" name="Shape 7"/>
          <p:cNvSpPr/>
          <p:nvPr/>
        </p:nvSpPr>
        <p:spPr>
          <a:xfrm>
            <a:off x="411480" y="3291840"/>
            <a:ext cx="5486400" cy="36576"/>
          </a:xfrm>
          <a:prstGeom prst="rect">
            <a:avLst/>
          </a:prstGeom>
          <a:solidFill>
            <a:srgbClr val="FF8F00"/>
          </a:solidFill>
          <a:ln/>
        </p:spPr>
      </p:sp>
      <p:sp>
        <p:nvSpPr>
          <p:cNvPr id="10" name="Shape 8"/>
          <p:cNvSpPr/>
          <p:nvPr/>
        </p:nvSpPr>
        <p:spPr>
          <a:xfrm>
            <a:off x="411480" y="3474720"/>
            <a:ext cx="2011680" cy="438912"/>
          </a:xfrm>
          <a:prstGeom prst="rect">
            <a:avLst/>
          </a:prstGeom>
          <a:solidFill>
            <a:srgbClr val="FF8F00"/>
          </a:solidFill>
          <a:ln/>
        </p:spPr>
      </p:sp>
      <p:sp>
        <p:nvSpPr>
          <p:cNvPr id="11" name="Text 9"/>
          <p:cNvSpPr/>
          <p:nvPr/>
        </p:nvSpPr>
        <p:spPr>
          <a:xfrm>
            <a:off x="411480" y="3474720"/>
            <a:ext cx="2011680" cy="438912"/>
          </a:xfrm>
          <a:prstGeom prst="rect">
            <a:avLst/>
          </a:prstGeom>
          <a:noFill/>
          <a:ln/>
        </p:spPr>
        <p:txBody>
          <a:bodyPr wrap="square" rtlCol="0" anchor="ctr"/>
          <a:lstStyle/>
          <a:p>
            <a:pPr algn="ctr" indent="0" marL="0">
              <a:buNone/>
            </a:pPr>
            <a:r>
              <a:rPr lang="en-US" sz="1100" b="1" dirty="0">
                <a:solidFill>
                  <a:srgbClr val="FFFFFF"/>
                </a:solidFill>
              </a:rPr>
              <a:t>16 Detailed Slides</a:t>
            </a:r>
            <a:endParaRPr lang="en-US" sz="1100" dirty="0"/>
          </a:p>
        </p:txBody>
      </p:sp>
      <p:sp>
        <p:nvSpPr>
          <p:cNvPr id="12" name="Shape 10"/>
          <p:cNvSpPr/>
          <p:nvPr/>
        </p:nvSpPr>
        <p:spPr>
          <a:xfrm>
            <a:off x="2587752" y="3474720"/>
            <a:ext cx="2011680" cy="438912"/>
          </a:xfrm>
          <a:prstGeom prst="rect">
            <a:avLst/>
          </a:prstGeom>
          <a:solidFill>
            <a:srgbClr val="4527A0"/>
          </a:solidFill>
          <a:ln/>
        </p:spPr>
      </p:sp>
      <p:sp>
        <p:nvSpPr>
          <p:cNvPr id="13" name="Text 11"/>
          <p:cNvSpPr/>
          <p:nvPr/>
        </p:nvSpPr>
        <p:spPr>
          <a:xfrm>
            <a:off x="2587752" y="3474720"/>
            <a:ext cx="2011680" cy="438912"/>
          </a:xfrm>
          <a:prstGeom prst="rect">
            <a:avLst/>
          </a:prstGeom>
          <a:noFill/>
          <a:ln/>
        </p:spPr>
        <p:txBody>
          <a:bodyPr wrap="square" rtlCol="0" anchor="ctr"/>
          <a:lstStyle/>
          <a:p>
            <a:pPr algn="ctr" indent="0" marL="0">
              <a:buNone/>
            </a:pPr>
            <a:r>
              <a:rPr lang="en-US" sz="1100" b="1" dirty="0">
                <a:solidFill>
                  <a:srgbClr val="FFFFFF"/>
                </a:solidFill>
              </a:rPr>
              <a:t>Satellite Connection</a:t>
            </a:r>
            <a:endParaRPr lang="en-US" sz="1100" dirty="0"/>
          </a:p>
        </p:txBody>
      </p:sp>
      <p:sp>
        <p:nvSpPr>
          <p:cNvPr id="14" name="Shape 12"/>
          <p:cNvSpPr/>
          <p:nvPr/>
        </p:nvSpPr>
        <p:spPr>
          <a:xfrm>
            <a:off x="4764024" y="3474720"/>
            <a:ext cx="2011680" cy="438912"/>
          </a:xfrm>
          <a:prstGeom prst="rect">
            <a:avLst/>
          </a:prstGeom>
          <a:solidFill>
            <a:srgbClr val="1565C0"/>
          </a:solidFill>
          <a:ln/>
        </p:spPr>
      </p:sp>
      <p:sp>
        <p:nvSpPr>
          <p:cNvPr id="15" name="Text 13"/>
          <p:cNvSpPr/>
          <p:nvPr/>
        </p:nvSpPr>
        <p:spPr>
          <a:xfrm>
            <a:off x="4764024" y="3474720"/>
            <a:ext cx="2011680" cy="438912"/>
          </a:xfrm>
          <a:prstGeom prst="rect">
            <a:avLst/>
          </a:prstGeom>
          <a:noFill/>
          <a:ln/>
        </p:spPr>
        <p:txBody>
          <a:bodyPr wrap="square" rtlCol="0" anchor="ctr"/>
          <a:lstStyle/>
          <a:p>
            <a:pPr algn="ctr" indent="0" marL="0">
              <a:buNone/>
            </a:pPr>
            <a:r>
              <a:rPr lang="en-US" sz="1100" b="1" dirty="0">
                <a:solidFill>
                  <a:srgbClr val="FFFFFF"/>
                </a:solidFill>
              </a:rPr>
              <a:t>Case Studies</a:t>
            </a:r>
            <a:endParaRPr lang="en-US" sz="1100" dirty="0"/>
          </a:p>
        </p:txBody>
      </p:sp>
      <p:sp>
        <p:nvSpPr>
          <p:cNvPr id="16" name="Shape 14"/>
          <p:cNvSpPr/>
          <p:nvPr/>
        </p:nvSpPr>
        <p:spPr>
          <a:xfrm>
            <a:off x="6940296" y="3474720"/>
            <a:ext cx="2011680" cy="438912"/>
          </a:xfrm>
          <a:prstGeom prst="rect">
            <a:avLst/>
          </a:prstGeom>
          <a:solidFill>
            <a:srgbClr val="2E7D32"/>
          </a:solidFill>
          <a:ln/>
        </p:spPr>
      </p:sp>
      <p:sp>
        <p:nvSpPr>
          <p:cNvPr id="17" name="Text 15"/>
          <p:cNvSpPr/>
          <p:nvPr/>
        </p:nvSpPr>
        <p:spPr>
          <a:xfrm>
            <a:off x="6940296" y="3474720"/>
            <a:ext cx="2011680" cy="438912"/>
          </a:xfrm>
          <a:prstGeom prst="rect">
            <a:avLst/>
          </a:prstGeom>
          <a:noFill/>
          <a:ln/>
        </p:spPr>
        <p:txBody>
          <a:bodyPr wrap="square" rtlCol="0" anchor="ctr"/>
          <a:lstStyle/>
          <a:p>
            <a:pPr algn="ctr" indent="0" marL="0">
              <a:buNone/>
            </a:pPr>
            <a:r>
              <a:rPr lang="en-US" sz="1100" b="1" dirty="0">
                <a:solidFill>
                  <a:srgbClr val="FFFFFF"/>
                </a:solidFill>
              </a:rPr>
              <a:t>Global Examples</a:t>
            </a:r>
            <a:endParaRPr lang="en-US" sz="1100" dirty="0"/>
          </a:p>
        </p:txBody>
      </p:sp>
      <p:sp>
        <p:nvSpPr>
          <p:cNvPr id="18" name="Text 16"/>
          <p:cNvSpPr/>
          <p:nvPr/>
        </p:nvSpPr>
        <p:spPr>
          <a:xfrm>
            <a:off x="411480" y="4572000"/>
            <a:ext cx="8412480" cy="292608"/>
          </a:xfrm>
          <a:prstGeom prst="rect">
            <a:avLst/>
          </a:prstGeom>
          <a:noFill/>
          <a:ln/>
        </p:spPr>
        <p:txBody>
          <a:bodyPr wrap="square" rtlCol="0" anchor="ctr"/>
          <a:lstStyle/>
          <a:p>
            <a:pPr indent="0" marL="0">
              <a:buNone/>
            </a:pPr>
            <a:r>
              <a:rPr lang="en-US" sz="900" spc="200" kern="0" dirty="0">
                <a:solidFill>
                  <a:srgbClr val="607D8B"/>
                </a:solidFill>
              </a:rPr>
              <a:t>SEMINAR PRESENTATION  •  RENEWABLE ENERGY SERIES</a:t>
            </a:r>
            <a:endParaRPr lang="en-US" sz="900" dirty="0"/>
          </a:p>
        </p:txBody>
      </p:sp>
      <p:pic>
        <p:nvPicPr>
          <p:cNvPr id="19" name="Image 0" descr="preencoded.png"/>
          <p:cNvPicPr>
            <a:picLocks noChangeAspect="1"/>
          </p:cNvPicPr>
          <p:nvPr/>
        </p:nvPicPr>
        <p:blipFill>
          <a:blip r:embed="rId1"/>
          <a:stretch>
            <a:fillRect/>
          </a:stretch>
        </p:blipFill>
        <p:spPr>
          <a:xfrm>
            <a:off x="7498080" y="137160"/>
            <a:ext cx="1325880" cy="1325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TABLE OF CONTENTS</a:t>
            </a:r>
            <a:endParaRPr lang="en-US" sz="2200" dirty="0"/>
          </a:p>
        </p:txBody>
      </p:sp>
      <p:sp>
        <p:nvSpPr>
          <p:cNvPr id="5" name="Shape 3"/>
          <p:cNvSpPr/>
          <p:nvPr/>
        </p:nvSpPr>
        <p:spPr>
          <a:xfrm>
            <a:off x="320040" y="841248"/>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6" name="Shape 4"/>
          <p:cNvSpPr/>
          <p:nvPr/>
        </p:nvSpPr>
        <p:spPr>
          <a:xfrm>
            <a:off x="320040" y="841248"/>
            <a:ext cx="384048" cy="548640"/>
          </a:xfrm>
          <a:prstGeom prst="rect">
            <a:avLst/>
          </a:prstGeom>
          <a:solidFill>
            <a:srgbClr val="0A1628"/>
          </a:solidFill>
          <a:ln/>
        </p:spPr>
      </p:sp>
      <p:sp>
        <p:nvSpPr>
          <p:cNvPr id="7" name="Text 5"/>
          <p:cNvSpPr/>
          <p:nvPr/>
        </p:nvSpPr>
        <p:spPr>
          <a:xfrm>
            <a:off x="320040" y="841248"/>
            <a:ext cx="384048" cy="548640"/>
          </a:xfrm>
          <a:prstGeom prst="rect">
            <a:avLst/>
          </a:prstGeom>
          <a:noFill/>
          <a:ln/>
        </p:spPr>
        <p:txBody>
          <a:bodyPr wrap="square" rtlCol="0" anchor="ctr"/>
          <a:lstStyle/>
          <a:p>
            <a:pPr algn="ctr" indent="0" marL="0">
              <a:buNone/>
            </a:pPr>
            <a:r>
              <a:rPr lang="en-US" sz="1000" b="1" dirty="0">
                <a:solidFill>
                  <a:srgbClr val="FFB300"/>
                </a:solidFill>
              </a:rPr>
              <a:t>01</a:t>
            </a:r>
            <a:endParaRPr lang="en-US" sz="1000" dirty="0"/>
          </a:p>
        </p:txBody>
      </p:sp>
      <p:sp>
        <p:nvSpPr>
          <p:cNvPr id="8" name="Text 6"/>
          <p:cNvSpPr/>
          <p:nvPr/>
        </p:nvSpPr>
        <p:spPr>
          <a:xfrm>
            <a:off x="777240" y="877824"/>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Introduction</a:t>
            </a:r>
            <a:endParaRPr lang="en-US" sz="1150" dirty="0"/>
          </a:p>
        </p:txBody>
      </p:sp>
      <p:sp>
        <p:nvSpPr>
          <p:cNvPr id="9" name="Text 7"/>
          <p:cNvSpPr/>
          <p:nvPr/>
        </p:nvSpPr>
        <p:spPr>
          <a:xfrm>
            <a:off x="777240" y="1124712"/>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Background &amp; history of solar energy</a:t>
            </a:r>
            <a:endParaRPr lang="en-US" sz="900" dirty="0"/>
          </a:p>
        </p:txBody>
      </p:sp>
      <p:sp>
        <p:nvSpPr>
          <p:cNvPr id="10" name="Shape 8"/>
          <p:cNvSpPr/>
          <p:nvPr/>
        </p:nvSpPr>
        <p:spPr>
          <a:xfrm>
            <a:off x="320040" y="1463040"/>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11" name="Shape 9"/>
          <p:cNvSpPr/>
          <p:nvPr/>
        </p:nvSpPr>
        <p:spPr>
          <a:xfrm>
            <a:off x="320040" y="1463040"/>
            <a:ext cx="384048" cy="548640"/>
          </a:xfrm>
          <a:prstGeom prst="rect">
            <a:avLst/>
          </a:prstGeom>
          <a:solidFill>
            <a:srgbClr val="0A1628"/>
          </a:solidFill>
          <a:ln/>
        </p:spPr>
      </p:sp>
      <p:sp>
        <p:nvSpPr>
          <p:cNvPr id="12" name="Text 10"/>
          <p:cNvSpPr/>
          <p:nvPr/>
        </p:nvSpPr>
        <p:spPr>
          <a:xfrm>
            <a:off x="320040" y="1463040"/>
            <a:ext cx="384048" cy="548640"/>
          </a:xfrm>
          <a:prstGeom prst="rect">
            <a:avLst/>
          </a:prstGeom>
          <a:noFill/>
          <a:ln/>
        </p:spPr>
        <p:txBody>
          <a:bodyPr wrap="square" rtlCol="0" anchor="ctr"/>
          <a:lstStyle/>
          <a:p>
            <a:pPr algn="ctr" indent="0" marL="0">
              <a:buNone/>
            </a:pPr>
            <a:r>
              <a:rPr lang="en-US" sz="1000" b="1" dirty="0">
                <a:solidFill>
                  <a:srgbClr val="FFB300"/>
                </a:solidFill>
              </a:rPr>
              <a:t>02</a:t>
            </a:r>
            <a:endParaRPr lang="en-US" sz="1000" dirty="0"/>
          </a:p>
        </p:txBody>
      </p:sp>
      <p:sp>
        <p:nvSpPr>
          <p:cNvPr id="13" name="Text 11"/>
          <p:cNvSpPr/>
          <p:nvPr/>
        </p:nvSpPr>
        <p:spPr>
          <a:xfrm>
            <a:off x="777240" y="1499616"/>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Definition &amp; Science</a:t>
            </a:r>
            <a:endParaRPr lang="en-US" sz="1150" dirty="0"/>
          </a:p>
        </p:txBody>
      </p:sp>
      <p:sp>
        <p:nvSpPr>
          <p:cNvPr id="14" name="Text 12"/>
          <p:cNvSpPr/>
          <p:nvPr/>
        </p:nvSpPr>
        <p:spPr>
          <a:xfrm>
            <a:off x="777240" y="1746504"/>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What solar energy is &amp; how it works</a:t>
            </a:r>
            <a:endParaRPr lang="en-US" sz="900" dirty="0"/>
          </a:p>
        </p:txBody>
      </p:sp>
      <p:sp>
        <p:nvSpPr>
          <p:cNvPr id="15" name="Shape 13"/>
          <p:cNvSpPr/>
          <p:nvPr/>
        </p:nvSpPr>
        <p:spPr>
          <a:xfrm>
            <a:off x="320040" y="2084832"/>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16" name="Shape 14"/>
          <p:cNvSpPr/>
          <p:nvPr/>
        </p:nvSpPr>
        <p:spPr>
          <a:xfrm>
            <a:off x="320040" y="2084832"/>
            <a:ext cx="384048" cy="548640"/>
          </a:xfrm>
          <a:prstGeom prst="rect">
            <a:avLst/>
          </a:prstGeom>
          <a:solidFill>
            <a:srgbClr val="0A1628"/>
          </a:solidFill>
          <a:ln/>
        </p:spPr>
      </p:sp>
      <p:sp>
        <p:nvSpPr>
          <p:cNvPr id="17" name="Text 15"/>
          <p:cNvSpPr/>
          <p:nvPr/>
        </p:nvSpPr>
        <p:spPr>
          <a:xfrm>
            <a:off x="320040" y="2084832"/>
            <a:ext cx="384048" cy="548640"/>
          </a:xfrm>
          <a:prstGeom prst="rect">
            <a:avLst/>
          </a:prstGeom>
          <a:noFill/>
          <a:ln/>
        </p:spPr>
        <p:txBody>
          <a:bodyPr wrap="square" rtlCol="0" anchor="ctr"/>
          <a:lstStyle/>
          <a:p>
            <a:pPr algn="ctr" indent="0" marL="0">
              <a:buNone/>
            </a:pPr>
            <a:r>
              <a:rPr lang="en-US" sz="1000" b="1" dirty="0">
                <a:solidFill>
                  <a:srgbClr val="FFB300"/>
                </a:solidFill>
              </a:rPr>
              <a:t>03</a:t>
            </a:r>
            <a:endParaRPr lang="en-US" sz="1000" dirty="0"/>
          </a:p>
        </p:txBody>
      </p:sp>
      <p:sp>
        <p:nvSpPr>
          <p:cNvPr id="18" name="Text 16"/>
          <p:cNvSpPr/>
          <p:nvPr/>
        </p:nvSpPr>
        <p:spPr>
          <a:xfrm>
            <a:off x="777240" y="2121408"/>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Types of Technology</a:t>
            </a:r>
            <a:endParaRPr lang="en-US" sz="1150" dirty="0"/>
          </a:p>
        </p:txBody>
      </p:sp>
      <p:sp>
        <p:nvSpPr>
          <p:cNvPr id="19" name="Text 17"/>
          <p:cNvSpPr/>
          <p:nvPr/>
        </p:nvSpPr>
        <p:spPr>
          <a:xfrm>
            <a:off x="777240" y="2368296"/>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PV, CSP, Thermal &amp; BIPV</a:t>
            </a:r>
            <a:endParaRPr lang="en-US" sz="900" dirty="0"/>
          </a:p>
        </p:txBody>
      </p:sp>
      <p:sp>
        <p:nvSpPr>
          <p:cNvPr id="20" name="Shape 18"/>
          <p:cNvSpPr/>
          <p:nvPr/>
        </p:nvSpPr>
        <p:spPr>
          <a:xfrm>
            <a:off x="320040" y="2706624"/>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21" name="Shape 19"/>
          <p:cNvSpPr/>
          <p:nvPr/>
        </p:nvSpPr>
        <p:spPr>
          <a:xfrm>
            <a:off x="320040" y="2706624"/>
            <a:ext cx="384048" cy="548640"/>
          </a:xfrm>
          <a:prstGeom prst="rect">
            <a:avLst/>
          </a:prstGeom>
          <a:solidFill>
            <a:srgbClr val="0A1628"/>
          </a:solidFill>
          <a:ln/>
        </p:spPr>
      </p:sp>
      <p:sp>
        <p:nvSpPr>
          <p:cNvPr id="22" name="Text 20"/>
          <p:cNvSpPr/>
          <p:nvPr/>
        </p:nvSpPr>
        <p:spPr>
          <a:xfrm>
            <a:off x="320040" y="2706624"/>
            <a:ext cx="384048" cy="548640"/>
          </a:xfrm>
          <a:prstGeom prst="rect">
            <a:avLst/>
          </a:prstGeom>
          <a:noFill/>
          <a:ln/>
        </p:spPr>
        <p:txBody>
          <a:bodyPr wrap="square" rtlCol="0" anchor="ctr"/>
          <a:lstStyle/>
          <a:p>
            <a:pPr algn="ctr" indent="0" marL="0">
              <a:buNone/>
            </a:pPr>
            <a:r>
              <a:rPr lang="en-US" sz="1000" b="1" dirty="0">
                <a:solidFill>
                  <a:srgbClr val="FFB300"/>
                </a:solidFill>
              </a:rPr>
              <a:t>04</a:t>
            </a:r>
            <a:endParaRPr lang="en-US" sz="1000" dirty="0"/>
          </a:p>
        </p:txBody>
      </p:sp>
      <p:sp>
        <p:nvSpPr>
          <p:cNvPr id="23" name="Text 21"/>
          <p:cNvSpPr/>
          <p:nvPr/>
        </p:nvSpPr>
        <p:spPr>
          <a:xfrm>
            <a:off x="777240" y="2743200"/>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Advantages</a:t>
            </a:r>
            <a:endParaRPr lang="en-US" sz="1150" dirty="0"/>
          </a:p>
        </p:txBody>
      </p:sp>
      <p:sp>
        <p:nvSpPr>
          <p:cNvPr id="24" name="Text 22"/>
          <p:cNvSpPr/>
          <p:nvPr/>
        </p:nvSpPr>
        <p:spPr>
          <a:xfrm>
            <a:off x="777240" y="2990088"/>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Why solar is the future</a:t>
            </a:r>
            <a:endParaRPr lang="en-US" sz="900" dirty="0"/>
          </a:p>
        </p:txBody>
      </p:sp>
      <p:sp>
        <p:nvSpPr>
          <p:cNvPr id="25" name="Shape 23"/>
          <p:cNvSpPr/>
          <p:nvPr/>
        </p:nvSpPr>
        <p:spPr>
          <a:xfrm>
            <a:off x="320040" y="3328416"/>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26" name="Shape 24"/>
          <p:cNvSpPr/>
          <p:nvPr/>
        </p:nvSpPr>
        <p:spPr>
          <a:xfrm>
            <a:off x="320040" y="3328416"/>
            <a:ext cx="384048" cy="548640"/>
          </a:xfrm>
          <a:prstGeom prst="rect">
            <a:avLst/>
          </a:prstGeom>
          <a:solidFill>
            <a:srgbClr val="0A1628"/>
          </a:solidFill>
          <a:ln/>
        </p:spPr>
      </p:sp>
      <p:sp>
        <p:nvSpPr>
          <p:cNvPr id="27" name="Text 25"/>
          <p:cNvSpPr/>
          <p:nvPr/>
        </p:nvSpPr>
        <p:spPr>
          <a:xfrm>
            <a:off x="320040" y="3328416"/>
            <a:ext cx="384048" cy="548640"/>
          </a:xfrm>
          <a:prstGeom prst="rect">
            <a:avLst/>
          </a:prstGeom>
          <a:noFill/>
          <a:ln/>
        </p:spPr>
        <p:txBody>
          <a:bodyPr wrap="square" rtlCol="0" anchor="ctr"/>
          <a:lstStyle/>
          <a:p>
            <a:pPr algn="ctr" indent="0" marL="0">
              <a:buNone/>
            </a:pPr>
            <a:r>
              <a:rPr lang="en-US" sz="1000" b="1" dirty="0">
                <a:solidFill>
                  <a:srgbClr val="FFB300"/>
                </a:solidFill>
              </a:rPr>
              <a:t>05</a:t>
            </a:r>
            <a:endParaRPr lang="en-US" sz="1000" dirty="0"/>
          </a:p>
        </p:txBody>
      </p:sp>
      <p:sp>
        <p:nvSpPr>
          <p:cNvPr id="28" name="Text 26"/>
          <p:cNvSpPr/>
          <p:nvPr/>
        </p:nvSpPr>
        <p:spPr>
          <a:xfrm>
            <a:off x="777240" y="3364992"/>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Disadvantages</a:t>
            </a:r>
            <a:endParaRPr lang="en-US" sz="1150" dirty="0"/>
          </a:p>
        </p:txBody>
      </p:sp>
      <p:sp>
        <p:nvSpPr>
          <p:cNvPr id="29" name="Text 27"/>
          <p:cNvSpPr/>
          <p:nvPr/>
        </p:nvSpPr>
        <p:spPr>
          <a:xfrm>
            <a:off x="777240" y="3611880"/>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Honest challenges &amp; limitations</a:t>
            </a:r>
            <a:endParaRPr lang="en-US" sz="900" dirty="0"/>
          </a:p>
        </p:txBody>
      </p:sp>
      <p:sp>
        <p:nvSpPr>
          <p:cNvPr id="30" name="Shape 28"/>
          <p:cNvSpPr/>
          <p:nvPr/>
        </p:nvSpPr>
        <p:spPr>
          <a:xfrm>
            <a:off x="320040" y="3950208"/>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31" name="Shape 29"/>
          <p:cNvSpPr/>
          <p:nvPr/>
        </p:nvSpPr>
        <p:spPr>
          <a:xfrm>
            <a:off x="320040" y="3950208"/>
            <a:ext cx="384048" cy="548640"/>
          </a:xfrm>
          <a:prstGeom prst="rect">
            <a:avLst/>
          </a:prstGeom>
          <a:solidFill>
            <a:srgbClr val="0A1628"/>
          </a:solidFill>
          <a:ln/>
        </p:spPr>
      </p:sp>
      <p:sp>
        <p:nvSpPr>
          <p:cNvPr id="32" name="Text 30"/>
          <p:cNvSpPr/>
          <p:nvPr/>
        </p:nvSpPr>
        <p:spPr>
          <a:xfrm>
            <a:off x="320040" y="3950208"/>
            <a:ext cx="384048" cy="548640"/>
          </a:xfrm>
          <a:prstGeom prst="rect">
            <a:avLst/>
          </a:prstGeom>
          <a:noFill/>
          <a:ln/>
        </p:spPr>
        <p:txBody>
          <a:bodyPr wrap="square" rtlCol="0" anchor="ctr"/>
          <a:lstStyle/>
          <a:p>
            <a:pPr algn="ctr" indent="0" marL="0">
              <a:buNone/>
            </a:pPr>
            <a:r>
              <a:rPr lang="en-US" sz="1000" b="1" dirty="0">
                <a:solidFill>
                  <a:srgbClr val="FFB300"/>
                </a:solidFill>
              </a:rPr>
              <a:t>06</a:t>
            </a:r>
            <a:endParaRPr lang="en-US" sz="1000" dirty="0"/>
          </a:p>
        </p:txBody>
      </p:sp>
      <p:sp>
        <p:nvSpPr>
          <p:cNvPr id="33" name="Text 31"/>
          <p:cNvSpPr/>
          <p:nvPr/>
        </p:nvSpPr>
        <p:spPr>
          <a:xfrm>
            <a:off x="777240" y="3986784"/>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Applications &amp; Uses</a:t>
            </a:r>
            <a:endParaRPr lang="en-US" sz="1150" dirty="0"/>
          </a:p>
        </p:txBody>
      </p:sp>
      <p:sp>
        <p:nvSpPr>
          <p:cNvPr id="34" name="Text 32"/>
          <p:cNvSpPr/>
          <p:nvPr/>
        </p:nvSpPr>
        <p:spPr>
          <a:xfrm>
            <a:off x="777240" y="4233672"/>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Homes, industries, transport &amp; space</a:t>
            </a:r>
            <a:endParaRPr lang="en-US" sz="900" dirty="0"/>
          </a:p>
        </p:txBody>
      </p:sp>
      <p:sp>
        <p:nvSpPr>
          <p:cNvPr id="35" name="Shape 33"/>
          <p:cNvSpPr/>
          <p:nvPr/>
        </p:nvSpPr>
        <p:spPr>
          <a:xfrm>
            <a:off x="320040" y="4572000"/>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36" name="Shape 34"/>
          <p:cNvSpPr/>
          <p:nvPr/>
        </p:nvSpPr>
        <p:spPr>
          <a:xfrm>
            <a:off x="320040" y="4572000"/>
            <a:ext cx="384048" cy="548640"/>
          </a:xfrm>
          <a:prstGeom prst="rect">
            <a:avLst/>
          </a:prstGeom>
          <a:solidFill>
            <a:srgbClr val="0A1628"/>
          </a:solidFill>
          <a:ln/>
        </p:spPr>
      </p:sp>
      <p:sp>
        <p:nvSpPr>
          <p:cNvPr id="37" name="Text 35"/>
          <p:cNvSpPr/>
          <p:nvPr/>
        </p:nvSpPr>
        <p:spPr>
          <a:xfrm>
            <a:off x="320040" y="4572000"/>
            <a:ext cx="384048" cy="548640"/>
          </a:xfrm>
          <a:prstGeom prst="rect">
            <a:avLst/>
          </a:prstGeom>
          <a:noFill/>
          <a:ln/>
        </p:spPr>
        <p:txBody>
          <a:bodyPr wrap="square" rtlCol="0" anchor="ctr"/>
          <a:lstStyle/>
          <a:p>
            <a:pPr algn="ctr" indent="0" marL="0">
              <a:buNone/>
            </a:pPr>
            <a:r>
              <a:rPr lang="en-US" sz="1000" b="1" dirty="0">
                <a:solidFill>
                  <a:srgbClr val="FFB300"/>
                </a:solidFill>
              </a:rPr>
              <a:t>07</a:t>
            </a:r>
            <a:endParaRPr lang="en-US" sz="1000" dirty="0"/>
          </a:p>
        </p:txBody>
      </p:sp>
      <p:sp>
        <p:nvSpPr>
          <p:cNvPr id="38" name="Text 36"/>
          <p:cNvSpPr/>
          <p:nvPr/>
        </p:nvSpPr>
        <p:spPr>
          <a:xfrm>
            <a:off x="777240" y="4608576"/>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Case Studies</a:t>
            </a:r>
            <a:endParaRPr lang="en-US" sz="1150" dirty="0"/>
          </a:p>
        </p:txBody>
      </p:sp>
      <p:sp>
        <p:nvSpPr>
          <p:cNvPr id="39" name="Text 37"/>
          <p:cNvSpPr/>
          <p:nvPr/>
        </p:nvSpPr>
        <p:spPr>
          <a:xfrm>
            <a:off x="777240" y="4855464"/>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Bhadla, Ivanpah, Benban &amp; Tengger</a:t>
            </a:r>
            <a:endParaRPr lang="en-US" sz="900" dirty="0"/>
          </a:p>
        </p:txBody>
      </p:sp>
      <p:sp>
        <p:nvSpPr>
          <p:cNvPr id="40" name="Shape 38"/>
          <p:cNvSpPr/>
          <p:nvPr/>
        </p:nvSpPr>
        <p:spPr>
          <a:xfrm>
            <a:off x="4754880" y="841248"/>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41" name="Shape 39"/>
          <p:cNvSpPr/>
          <p:nvPr/>
        </p:nvSpPr>
        <p:spPr>
          <a:xfrm>
            <a:off x="4754880" y="841248"/>
            <a:ext cx="384048" cy="548640"/>
          </a:xfrm>
          <a:prstGeom prst="rect">
            <a:avLst/>
          </a:prstGeom>
          <a:solidFill>
            <a:srgbClr val="0A1628"/>
          </a:solidFill>
          <a:ln/>
        </p:spPr>
      </p:sp>
      <p:sp>
        <p:nvSpPr>
          <p:cNvPr id="42" name="Text 40"/>
          <p:cNvSpPr/>
          <p:nvPr/>
        </p:nvSpPr>
        <p:spPr>
          <a:xfrm>
            <a:off x="4754880" y="841248"/>
            <a:ext cx="384048" cy="548640"/>
          </a:xfrm>
          <a:prstGeom prst="rect">
            <a:avLst/>
          </a:prstGeom>
          <a:noFill/>
          <a:ln/>
        </p:spPr>
        <p:txBody>
          <a:bodyPr wrap="square" rtlCol="0" anchor="ctr"/>
          <a:lstStyle/>
          <a:p>
            <a:pPr algn="ctr" indent="0" marL="0">
              <a:buNone/>
            </a:pPr>
            <a:r>
              <a:rPr lang="en-US" sz="1000" b="1" dirty="0">
                <a:solidFill>
                  <a:srgbClr val="FFB300"/>
                </a:solidFill>
              </a:rPr>
              <a:t>08</a:t>
            </a:r>
            <a:endParaRPr lang="en-US" sz="1000" dirty="0"/>
          </a:p>
        </p:txBody>
      </p:sp>
      <p:sp>
        <p:nvSpPr>
          <p:cNvPr id="43" name="Text 41"/>
          <p:cNvSpPr/>
          <p:nvPr/>
        </p:nvSpPr>
        <p:spPr>
          <a:xfrm>
            <a:off x="5212080" y="877824"/>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Real-World Examples</a:t>
            </a:r>
            <a:endParaRPr lang="en-US" sz="1150" dirty="0"/>
          </a:p>
        </p:txBody>
      </p:sp>
      <p:sp>
        <p:nvSpPr>
          <p:cNvPr id="44" name="Text 42"/>
          <p:cNvSpPr/>
          <p:nvPr/>
        </p:nvSpPr>
        <p:spPr>
          <a:xfrm>
            <a:off x="5212080" y="1124712"/>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Countries &amp; companies leading solar</a:t>
            </a:r>
            <a:endParaRPr lang="en-US" sz="900" dirty="0"/>
          </a:p>
        </p:txBody>
      </p:sp>
      <p:sp>
        <p:nvSpPr>
          <p:cNvPr id="45" name="Shape 43"/>
          <p:cNvSpPr/>
          <p:nvPr/>
        </p:nvSpPr>
        <p:spPr>
          <a:xfrm>
            <a:off x="4754880" y="1463040"/>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46" name="Shape 44"/>
          <p:cNvSpPr/>
          <p:nvPr/>
        </p:nvSpPr>
        <p:spPr>
          <a:xfrm>
            <a:off x="4754880" y="1463040"/>
            <a:ext cx="384048" cy="548640"/>
          </a:xfrm>
          <a:prstGeom prst="rect">
            <a:avLst/>
          </a:prstGeom>
          <a:solidFill>
            <a:srgbClr val="0A1628"/>
          </a:solidFill>
          <a:ln/>
        </p:spPr>
      </p:sp>
      <p:sp>
        <p:nvSpPr>
          <p:cNvPr id="47" name="Text 45"/>
          <p:cNvSpPr/>
          <p:nvPr/>
        </p:nvSpPr>
        <p:spPr>
          <a:xfrm>
            <a:off x="4754880" y="1463040"/>
            <a:ext cx="384048" cy="548640"/>
          </a:xfrm>
          <a:prstGeom prst="rect">
            <a:avLst/>
          </a:prstGeom>
          <a:noFill/>
          <a:ln/>
        </p:spPr>
        <p:txBody>
          <a:bodyPr wrap="square" rtlCol="0" anchor="ctr"/>
          <a:lstStyle/>
          <a:p>
            <a:pPr algn="ctr" indent="0" marL="0">
              <a:buNone/>
            </a:pPr>
            <a:r>
              <a:rPr lang="en-US" sz="1000" b="1" dirty="0">
                <a:solidFill>
                  <a:srgbClr val="FFB300"/>
                </a:solidFill>
              </a:rPr>
              <a:t>09</a:t>
            </a:r>
            <a:endParaRPr lang="en-US" sz="1000" dirty="0"/>
          </a:p>
        </p:txBody>
      </p:sp>
      <p:sp>
        <p:nvSpPr>
          <p:cNvPr id="48" name="Text 46"/>
          <p:cNvSpPr/>
          <p:nvPr/>
        </p:nvSpPr>
        <p:spPr>
          <a:xfrm>
            <a:off x="5212080" y="1499616"/>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Where Solar Is Used</a:t>
            </a:r>
            <a:endParaRPr lang="en-US" sz="1150" dirty="0"/>
          </a:p>
        </p:txBody>
      </p:sp>
      <p:sp>
        <p:nvSpPr>
          <p:cNvPr id="49" name="Text 47"/>
          <p:cNvSpPr/>
          <p:nvPr/>
        </p:nvSpPr>
        <p:spPr>
          <a:xfrm>
            <a:off x="5212080" y="1746504"/>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Top solar nations &amp; regions</a:t>
            </a:r>
            <a:endParaRPr lang="en-US" sz="900" dirty="0"/>
          </a:p>
        </p:txBody>
      </p:sp>
      <p:sp>
        <p:nvSpPr>
          <p:cNvPr id="50" name="Shape 48"/>
          <p:cNvSpPr/>
          <p:nvPr/>
        </p:nvSpPr>
        <p:spPr>
          <a:xfrm>
            <a:off x="4754880" y="2084832"/>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51" name="Shape 49"/>
          <p:cNvSpPr/>
          <p:nvPr/>
        </p:nvSpPr>
        <p:spPr>
          <a:xfrm>
            <a:off x="4754880" y="2084832"/>
            <a:ext cx="384048" cy="548640"/>
          </a:xfrm>
          <a:prstGeom prst="rect">
            <a:avLst/>
          </a:prstGeom>
          <a:solidFill>
            <a:srgbClr val="0A1628"/>
          </a:solidFill>
          <a:ln/>
        </p:spPr>
      </p:sp>
      <p:sp>
        <p:nvSpPr>
          <p:cNvPr id="52" name="Text 50"/>
          <p:cNvSpPr/>
          <p:nvPr/>
        </p:nvSpPr>
        <p:spPr>
          <a:xfrm>
            <a:off x="4754880" y="2084832"/>
            <a:ext cx="384048" cy="548640"/>
          </a:xfrm>
          <a:prstGeom prst="rect">
            <a:avLst/>
          </a:prstGeom>
          <a:noFill/>
          <a:ln/>
        </p:spPr>
        <p:txBody>
          <a:bodyPr wrap="square" rtlCol="0" anchor="ctr"/>
          <a:lstStyle/>
          <a:p>
            <a:pPr algn="ctr" indent="0" marL="0">
              <a:buNone/>
            </a:pPr>
            <a:r>
              <a:rPr lang="en-US" sz="1000" b="1" dirty="0">
                <a:solidFill>
                  <a:srgbClr val="FFB300"/>
                </a:solidFill>
              </a:rPr>
              <a:t>10</a:t>
            </a:r>
            <a:endParaRPr lang="en-US" sz="1000" dirty="0"/>
          </a:p>
        </p:txBody>
      </p:sp>
      <p:sp>
        <p:nvSpPr>
          <p:cNvPr id="53" name="Text 51"/>
          <p:cNvSpPr/>
          <p:nvPr/>
        </p:nvSpPr>
        <p:spPr>
          <a:xfrm>
            <a:off x="5212080" y="2121408"/>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Solar &amp; Satellites</a:t>
            </a:r>
            <a:endParaRPr lang="en-US" sz="1150" dirty="0"/>
          </a:p>
        </p:txBody>
      </p:sp>
      <p:sp>
        <p:nvSpPr>
          <p:cNvPr id="54" name="Text 52"/>
          <p:cNvSpPr/>
          <p:nvPr/>
        </p:nvSpPr>
        <p:spPr>
          <a:xfrm>
            <a:off x="5212080" y="2368296"/>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Space power — the full connection</a:t>
            </a:r>
            <a:endParaRPr lang="en-US" sz="900" dirty="0"/>
          </a:p>
        </p:txBody>
      </p:sp>
      <p:sp>
        <p:nvSpPr>
          <p:cNvPr id="55" name="Shape 53"/>
          <p:cNvSpPr/>
          <p:nvPr/>
        </p:nvSpPr>
        <p:spPr>
          <a:xfrm>
            <a:off x="4754880" y="2706624"/>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56" name="Shape 54"/>
          <p:cNvSpPr/>
          <p:nvPr/>
        </p:nvSpPr>
        <p:spPr>
          <a:xfrm>
            <a:off x="4754880" y="2706624"/>
            <a:ext cx="384048" cy="548640"/>
          </a:xfrm>
          <a:prstGeom prst="rect">
            <a:avLst/>
          </a:prstGeom>
          <a:solidFill>
            <a:srgbClr val="0A1628"/>
          </a:solidFill>
          <a:ln/>
        </p:spPr>
      </p:sp>
      <p:sp>
        <p:nvSpPr>
          <p:cNvPr id="57" name="Text 55"/>
          <p:cNvSpPr/>
          <p:nvPr/>
        </p:nvSpPr>
        <p:spPr>
          <a:xfrm>
            <a:off x="4754880" y="2706624"/>
            <a:ext cx="384048" cy="548640"/>
          </a:xfrm>
          <a:prstGeom prst="rect">
            <a:avLst/>
          </a:prstGeom>
          <a:noFill/>
          <a:ln/>
        </p:spPr>
        <p:txBody>
          <a:bodyPr wrap="square" rtlCol="0" anchor="ctr"/>
          <a:lstStyle/>
          <a:p>
            <a:pPr algn="ctr" indent="0" marL="0">
              <a:buNone/>
            </a:pPr>
            <a:r>
              <a:rPr lang="en-US" sz="1000" b="1" dirty="0">
                <a:solidFill>
                  <a:srgbClr val="FFB300"/>
                </a:solidFill>
              </a:rPr>
              <a:t>11</a:t>
            </a:r>
            <a:endParaRPr lang="en-US" sz="1000" dirty="0"/>
          </a:p>
        </p:txBody>
      </p:sp>
      <p:sp>
        <p:nvSpPr>
          <p:cNvPr id="58" name="Text 56"/>
          <p:cNvSpPr/>
          <p:nvPr/>
        </p:nvSpPr>
        <p:spPr>
          <a:xfrm>
            <a:off x="5212080" y="2743200"/>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Satellite Deep Dive</a:t>
            </a:r>
            <a:endParaRPr lang="en-US" sz="1150" dirty="0"/>
          </a:p>
        </p:txBody>
      </p:sp>
      <p:sp>
        <p:nvSpPr>
          <p:cNvPr id="59" name="Text 57"/>
          <p:cNvSpPr/>
          <p:nvPr/>
        </p:nvSpPr>
        <p:spPr>
          <a:xfrm>
            <a:off x="5212080" y="2990088"/>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How satellites run on solar power</a:t>
            </a:r>
            <a:endParaRPr lang="en-US" sz="900" dirty="0"/>
          </a:p>
        </p:txBody>
      </p:sp>
      <p:sp>
        <p:nvSpPr>
          <p:cNvPr id="60" name="Shape 58"/>
          <p:cNvSpPr/>
          <p:nvPr/>
        </p:nvSpPr>
        <p:spPr>
          <a:xfrm>
            <a:off x="4754880" y="3328416"/>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61" name="Shape 59"/>
          <p:cNvSpPr/>
          <p:nvPr/>
        </p:nvSpPr>
        <p:spPr>
          <a:xfrm>
            <a:off x="4754880" y="3328416"/>
            <a:ext cx="384048" cy="548640"/>
          </a:xfrm>
          <a:prstGeom prst="rect">
            <a:avLst/>
          </a:prstGeom>
          <a:solidFill>
            <a:srgbClr val="0A1628"/>
          </a:solidFill>
          <a:ln/>
        </p:spPr>
      </p:sp>
      <p:sp>
        <p:nvSpPr>
          <p:cNvPr id="62" name="Text 60"/>
          <p:cNvSpPr/>
          <p:nvPr/>
        </p:nvSpPr>
        <p:spPr>
          <a:xfrm>
            <a:off x="4754880" y="3328416"/>
            <a:ext cx="384048" cy="548640"/>
          </a:xfrm>
          <a:prstGeom prst="rect">
            <a:avLst/>
          </a:prstGeom>
          <a:noFill/>
          <a:ln/>
        </p:spPr>
        <p:txBody>
          <a:bodyPr wrap="square" rtlCol="0" anchor="ctr"/>
          <a:lstStyle/>
          <a:p>
            <a:pPr algn="ctr" indent="0" marL="0">
              <a:buNone/>
            </a:pPr>
            <a:r>
              <a:rPr lang="en-US" sz="1000" b="1" dirty="0">
                <a:solidFill>
                  <a:srgbClr val="FFB300"/>
                </a:solidFill>
              </a:rPr>
              <a:t>12</a:t>
            </a:r>
            <a:endParaRPr lang="en-US" sz="1000" dirty="0"/>
          </a:p>
        </p:txBody>
      </p:sp>
      <p:sp>
        <p:nvSpPr>
          <p:cNvPr id="63" name="Text 61"/>
          <p:cNvSpPr/>
          <p:nvPr/>
        </p:nvSpPr>
        <p:spPr>
          <a:xfrm>
            <a:off x="5212080" y="3364992"/>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Key Statistics</a:t>
            </a:r>
            <a:endParaRPr lang="en-US" sz="1150" dirty="0"/>
          </a:p>
        </p:txBody>
      </p:sp>
      <p:sp>
        <p:nvSpPr>
          <p:cNvPr id="64" name="Text 62"/>
          <p:cNvSpPr/>
          <p:nvPr/>
        </p:nvSpPr>
        <p:spPr>
          <a:xfrm>
            <a:off x="5212080" y="3611880"/>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Numbers shaping the solar future</a:t>
            </a:r>
            <a:endParaRPr lang="en-US" sz="900" dirty="0"/>
          </a:p>
        </p:txBody>
      </p:sp>
      <p:sp>
        <p:nvSpPr>
          <p:cNvPr id="65" name="Shape 63"/>
          <p:cNvSpPr/>
          <p:nvPr/>
        </p:nvSpPr>
        <p:spPr>
          <a:xfrm>
            <a:off x="4754880" y="3950208"/>
            <a:ext cx="4251960" cy="548640"/>
          </a:xfrm>
          <a:prstGeom prst="rect">
            <a:avLst/>
          </a:prstGeom>
          <a:solidFill>
            <a:srgbClr val="FFFDE7"/>
          </a:solidFill>
          <a:ln/>
          <a:effectLst>
            <a:outerShdw sx="100000" sy="100000" kx="0" ky="0" algn="bl" rotWithShape="0" blurRad="38100" dist="12700" dir="8100000">
              <a:srgbClr val="000000">
                <a:alpha val="7000"/>
              </a:srgbClr>
            </a:outerShdw>
          </a:effectLst>
        </p:spPr>
      </p:sp>
      <p:sp>
        <p:nvSpPr>
          <p:cNvPr id="66" name="Shape 64"/>
          <p:cNvSpPr/>
          <p:nvPr/>
        </p:nvSpPr>
        <p:spPr>
          <a:xfrm>
            <a:off x="4754880" y="3950208"/>
            <a:ext cx="384048" cy="548640"/>
          </a:xfrm>
          <a:prstGeom prst="rect">
            <a:avLst/>
          </a:prstGeom>
          <a:solidFill>
            <a:srgbClr val="0A1628"/>
          </a:solidFill>
          <a:ln/>
        </p:spPr>
      </p:sp>
      <p:sp>
        <p:nvSpPr>
          <p:cNvPr id="67" name="Text 65"/>
          <p:cNvSpPr/>
          <p:nvPr/>
        </p:nvSpPr>
        <p:spPr>
          <a:xfrm>
            <a:off x="4754880" y="3950208"/>
            <a:ext cx="384048" cy="548640"/>
          </a:xfrm>
          <a:prstGeom prst="rect">
            <a:avLst/>
          </a:prstGeom>
          <a:noFill/>
          <a:ln/>
        </p:spPr>
        <p:txBody>
          <a:bodyPr wrap="square" rtlCol="0" anchor="ctr"/>
          <a:lstStyle/>
          <a:p>
            <a:pPr algn="ctr" indent="0" marL="0">
              <a:buNone/>
            </a:pPr>
            <a:r>
              <a:rPr lang="en-US" sz="1000" b="1" dirty="0">
                <a:solidFill>
                  <a:srgbClr val="FFB300"/>
                </a:solidFill>
              </a:rPr>
              <a:t>13</a:t>
            </a:r>
            <a:endParaRPr lang="en-US" sz="1000" dirty="0"/>
          </a:p>
        </p:txBody>
      </p:sp>
      <p:sp>
        <p:nvSpPr>
          <p:cNvPr id="68" name="Text 66"/>
          <p:cNvSpPr/>
          <p:nvPr/>
        </p:nvSpPr>
        <p:spPr>
          <a:xfrm>
            <a:off x="5212080" y="3986784"/>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Future of Solar</a:t>
            </a:r>
            <a:endParaRPr lang="en-US" sz="1150" dirty="0"/>
          </a:p>
        </p:txBody>
      </p:sp>
      <p:sp>
        <p:nvSpPr>
          <p:cNvPr id="69" name="Text 67"/>
          <p:cNvSpPr/>
          <p:nvPr/>
        </p:nvSpPr>
        <p:spPr>
          <a:xfrm>
            <a:off x="5212080" y="4233672"/>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Perovskite, space solar &amp; smart grids</a:t>
            </a:r>
            <a:endParaRPr lang="en-US" sz="900" dirty="0"/>
          </a:p>
        </p:txBody>
      </p:sp>
      <p:sp>
        <p:nvSpPr>
          <p:cNvPr id="70" name="Shape 68"/>
          <p:cNvSpPr/>
          <p:nvPr/>
        </p:nvSpPr>
        <p:spPr>
          <a:xfrm>
            <a:off x="4754880" y="4572000"/>
            <a:ext cx="4251960" cy="548640"/>
          </a:xfrm>
          <a:prstGeom prst="rect">
            <a:avLst/>
          </a:prstGeom>
          <a:solidFill>
            <a:srgbClr val="FFFFFF"/>
          </a:solidFill>
          <a:ln/>
          <a:effectLst>
            <a:outerShdw sx="100000" sy="100000" kx="0" ky="0" algn="bl" rotWithShape="0" blurRad="38100" dist="12700" dir="8100000">
              <a:srgbClr val="000000">
                <a:alpha val="7000"/>
              </a:srgbClr>
            </a:outerShdw>
          </a:effectLst>
        </p:spPr>
      </p:sp>
      <p:sp>
        <p:nvSpPr>
          <p:cNvPr id="71" name="Shape 69"/>
          <p:cNvSpPr/>
          <p:nvPr/>
        </p:nvSpPr>
        <p:spPr>
          <a:xfrm>
            <a:off x="4754880" y="4572000"/>
            <a:ext cx="384048" cy="548640"/>
          </a:xfrm>
          <a:prstGeom prst="rect">
            <a:avLst/>
          </a:prstGeom>
          <a:solidFill>
            <a:srgbClr val="0A1628"/>
          </a:solidFill>
          <a:ln/>
        </p:spPr>
      </p:sp>
      <p:sp>
        <p:nvSpPr>
          <p:cNvPr id="72" name="Text 70"/>
          <p:cNvSpPr/>
          <p:nvPr/>
        </p:nvSpPr>
        <p:spPr>
          <a:xfrm>
            <a:off x="4754880" y="4572000"/>
            <a:ext cx="384048" cy="548640"/>
          </a:xfrm>
          <a:prstGeom prst="rect">
            <a:avLst/>
          </a:prstGeom>
          <a:noFill/>
          <a:ln/>
        </p:spPr>
        <p:txBody>
          <a:bodyPr wrap="square" rtlCol="0" anchor="ctr"/>
          <a:lstStyle/>
          <a:p>
            <a:pPr algn="ctr" indent="0" marL="0">
              <a:buNone/>
            </a:pPr>
            <a:r>
              <a:rPr lang="en-US" sz="1000" b="1" dirty="0">
                <a:solidFill>
                  <a:srgbClr val="FFB300"/>
                </a:solidFill>
              </a:rPr>
              <a:t>14</a:t>
            </a:r>
            <a:endParaRPr lang="en-US" sz="1000" dirty="0"/>
          </a:p>
        </p:txBody>
      </p:sp>
      <p:sp>
        <p:nvSpPr>
          <p:cNvPr id="73" name="Text 71"/>
          <p:cNvSpPr/>
          <p:nvPr/>
        </p:nvSpPr>
        <p:spPr>
          <a:xfrm>
            <a:off x="5212080" y="4608576"/>
            <a:ext cx="3566160" cy="237744"/>
          </a:xfrm>
          <a:prstGeom prst="rect">
            <a:avLst/>
          </a:prstGeom>
          <a:noFill/>
          <a:ln/>
        </p:spPr>
        <p:txBody>
          <a:bodyPr wrap="square" lIns="0" tIns="0" rIns="0" bIns="0" rtlCol="0" anchor="ctr"/>
          <a:lstStyle/>
          <a:p>
            <a:pPr indent="0" marL="0">
              <a:buNone/>
            </a:pPr>
            <a:r>
              <a:rPr lang="en-US" sz="1150" b="1" dirty="0">
                <a:solidFill>
                  <a:srgbClr val="263238"/>
                </a:solidFill>
                <a:latin typeface="Arial" pitchFamily="34" charset="0"/>
                <a:ea typeface="Arial" pitchFamily="34" charset="-122"/>
                <a:cs typeface="Arial" pitchFamily="34" charset="-120"/>
              </a:rPr>
              <a:t>Conclusion</a:t>
            </a:r>
            <a:endParaRPr lang="en-US" sz="1150" dirty="0"/>
          </a:p>
        </p:txBody>
      </p:sp>
      <p:sp>
        <p:nvSpPr>
          <p:cNvPr id="74" name="Text 72"/>
          <p:cNvSpPr/>
          <p:nvPr/>
        </p:nvSpPr>
        <p:spPr>
          <a:xfrm>
            <a:off x="5212080" y="4855464"/>
            <a:ext cx="3566160" cy="201168"/>
          </a:xfrm>
          <a:prstGeom prst="rect">
            <a:avLst/>
          </a:prstGeom>
          <a:noFill/>
          <a:ln/>
        </p:spPr>
        <p:txBody>
          <a:bodyPr wrap="square" lIns="0" tIns="0" rIns="0" bIns="0" rtlCol="0" anchor="ctr"/>
          <a:lstStyle/>
          <a:p>
            <a:pPr indent="0" marL="0">
              <a:buNone/>
            </a:pPr>
            <a:r>
              <a:rPr lang="en-US" sz="900" dirty="0">
                <a:solidFill>
                  <a:srgbClr val="607D8B"/>
                </a:solidFill>
                <a:latin typeface="Calibri" pitchFamily="34" charset="0"/>
                <a:ea typeface="Calibri" pitchFamily="34" charset="-122"/>
                <a:cs typeface="Calibri" pitchFamily="34" charset="-120"/>
              </a:rPr>
              <a:t>Summary &amp; key takeaways</a:t>
            </a:r>
            <a:endParaRPr lang="en-US" sz="900" dirty="0"/>
          </a:p>
        </p:txBody>
      </p:sp>
      <p:sp>
        <p:nvSpPr>
          <p:cNvPr id="75" name="Text 73"/>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2 / 16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INTRODUCTION — The Story of Solar Energy</a:t>
            </a:r>
            <a:endParaRPr lang="en-US" sz="2200" dirty="0"/>
          </a:p>
        </p:txBody>
      </p:sp>
      <p:sp>
        <p:nvSpPr>
          <p:cNvPr id="5" name="Shape 3"/>
          <p:cNvSpPr/>
          <p:nvPr/>
        </p:nvSpPr>
        <p:spPr>
          <a:xfrm>
            <a:off x="320040" y="822960"/>
            <a:ext cx="3931920" cy="2834640"/>
          </a:xfrm>
          <a:prstGeom prst="rect">
            <a:avLst/>
          </a:prstGeom>
          <a:solidFill>
            <a:srgbClr val="152238"/>
          </a:solidFill>
          <a:ln/>
        </p:spPr>
      </p:sp>
      <p:sp>
        <p:nvSpPr>
          <p:cNvPr id="6" name="Shape 4"/>
          <p:cNvSpPr/>
          <p:nvPr/>
        </p:nvSpPr>
        <p:spPr>
          <a:xfrm>
            <a:off x="2377440" y="914400"/>
            <a:ext cx="1097280" cy="1097280"/>
          </a:xfrm>
          <a:prstGeom prst="ellipse">
            <a:avLst/>
          </a:prstGeom>
          <a:solidFill>
            <a:srgbClr val="FFB300">
              <a:alpha val="80000"/>
            </a:srgbClr>
          </a:solidFill>
          <a:ln/>
        </p:spPr>
      </p:sp>
      <p:sp>
        <p:nvSpPr>
          <p:cNvPr id="7" name="Shape 5"/>
          <p:cNvSpPr/>
          <p:nvPr/>
        </p:nvSpPr>
        <p:spPr>
          <a:xfrm>
            <a:off x="502920" y="2286000"/>
            <a:ext cx="457200" cy="1371600"/>
          </a:xfrm>
          <a:prstGeom prst="rect">
            <a:avLst/>
          </a:prstGeom>
          <a:solidFill>
            <a:srgbClr val="263238"/>
          </a:solidFill>
          <a:ln/>
        </p:spPr>
      </p:sp>
      <p:sp>
        <p:nvSpPr>
          <p:cNvPr id="8" name="Shape 6"/>
          <p:cNvSpPr/>
          <p:nvPr/>
        </p:nvSpPr>
        <p:spPr>
          <a:xfrm>
            <a:off x="1051560" y="2011680"/>
            <a:ext cx="548640" cy="1645920"/>
          </a:xfrm>
          <a:prstGeom prst="rect">
            <a:avLst/>
          </a:prstGeom>
          <a:solidFill>
            <a:srgbClr val="263238"/>
          </a:solidFill>
          <a:ln/>
        </p:spPr>
      </p:sp>
      <p:sp>
        <p:nvSpPr>
          <p:cNvPr id="9" name="Shape 7"/>
          <p:cNvSpPr/>
          <p:nvPr/>
        </p:nvSpPr>
        <p:spPr>
          <a:xfrm>
            <a:off x="1691640" y="2560320"/>
            <a:ext cx="457200" cy="1097280"/>
          </a:xfrm>
          <a:prstGeom prst="rect">
            <a:avLst/>
          </a:prstGeom>
          <a:solidFill>
            <a:srgbClr val="263238"/>
          </a:solidFill>
          <a:ln/>
        </p:spPr>
      </p:sp>
      <p:sp>
        <p:nvSpPr>
          <p:cNvPr id="10" name="Shape 8"/>
          <p:cNvSpPr/>
          <p:nvPr/>
        </p:nvSpPr>
        <p:spPr>
          <a:xfrm>
            <a:off x="2240280" y="1828800"/>
            <a:ext cx="594360" cy="1828800"/>
          </a:xfrm>
          <a:prstGeom prst="rect">
            <a:avLst/>
          </a:prstGeom>
          <a:solidFill>
            <a:srgbClr val="263238"/>
          </a:solidFill>
          <a:ln/>
        </p:spPr>
      </p:sp>
      <p:sp>
        <p:nvSpPr>
          <p:cNvPr id="11" name="Shape 9"/>
          <p:cNvSpPr/>
          <p:nvPr/>
        </p:nvSpPr>
        <p:spPr>
          <a:xfrm>
            <a:off x="2926080" y="2377440"/>
            <a:ext cx="457200" cy="1280160"/>
          </a:xfrm>
          <a:prstGeom prst="rect">
            <a:avLst/>
          </a:prstGeom>
          <a:solidFill>
            <a:srgbClr val="263238"/>
          </a:solidFill>
          <a:ln/>
        </p:spPr>
      </p:sp>
      <p:sp>
        <p:nvSpPr>
          <p:cNvPr id="12" name="Shape 10"/>
          <p:cNvSpPr/>
          <p:nvPr/>
        </p:nvSpPr>
        <p:spPr>
          <a:xfrm>
            <a:off x="3474720" y="2103120"/>
            <a:ext cx="502920" cy="1554480"/>
          </a:xfrm>
          <a:prstGeom prst="rect">
            <a:avLst/>
          </a:prstGeom>
          <a:solidFill>
            <a:srgbClr val="263238"/>
          </a:solidFill>
          <a:ln/>
        </p:spPr>
      </p:sp>
      <p:sp>
        <p:nvSpPr>
          <p:cNvPr id="13" name="Shape 11"/>
          <p:cNvSpPr/>
          <p:nvPr/>
        </p:nvSpPr>
        <p:spPr>
          <a:xfrm>
            <a:off x="1097280" y="1965960"/>
            <a:ext cx="502920" cy="109728"/>
          </a:xfrm>
          <a:prstGeom prst="rect">
            <a:avLst/>
          </a:prstGeom>
          <a:solidFill>
            <a:srgbClr val="FF8F00"/>
          </a:solidFill>
          <a:ln/>
        </p:spPr>
      </p:sp>
      <p:sp>
        <p:nvSpPr>
          <p:cNvPr id="14" name="Shape 12"/>
          <p:cNvSpPr/>
          <p:nvPr/>
        </p:nvSpPr>
        <p:spPr>
          <a:xfrm>
            <a:off x="2286000" y="1773936"/>
            <a:ext cx="548640" cy="109728"/>
          </a:xfrm>
          <a:prstGeom prst="rect">
            <a:avLst/>
          </a:prstGeom>
          <a:solidFill>
            <a:srgbClr val="FF8F00"/>
          </a:solidFill>
          <a:ln/>
        </p:spPr>
      </p:sp>
      <p:sp>
        <p:nvSpPr>
          <p:cNvPr id="15" name="Shape 13"/>
          <p:cNvSpPr/>
          <p:nvPr/>
        </p:nvSpPr>
        <p:spPr>
          <a:xfrm>
            <a:off x="3520440" y="2048256"/>
            <a:ext cx="457200" cy="109728"/>
          </a:xfrm>
          <a:prstGeom prst="rect">
            <a:avLst/>
          </a:prstGeom>
          <a:solidFill>
            <a:srgbClr val="FF8F00"/>
          </a:solidFill>
          <a:ln/>
        </p:spPr>
      </p:sp>
      <p:sp>
        <p:nvSpPr>
          <p:cNvPr id="16" name="Shape 14"/>
          <p:cNvSpPr/>
          <p:nvPr/>
        </p:nvSpPr>
        <p:spPr>
          <a:xfrm>
            <a:off x="320040" y="3291840"/>
            <a:ext cx="3931920" cy="384048"/>
          </a:xfrm>
          <a:prstGeom prst="rect">
            <a:avLst/>
          </a:prstGeom>
          <a:solidFill>
            <a:srgbClr val="0A1628">
              <a:alpha val="75000"/>
            </a:srgbClr>
          </a:solidFill>
          <a:ln/>
        </p:spPr>
      </p:sp>
      <p:sp>
        <p:nvSpPr>
          <p:cNvPr id="17" name="Text 15"/>
          <p:cNvSpPr/>
          <p:nvPr/>
        </p:nvSpPr>
        <p:spPr>
          <a:xfrm>
            <a:off x="320040" y="3291840"/>
            <a:ext cx="3931920" cy="384048"/>
          </a:xfrm>
          <a:prstGeom prst="rect">
            <a:avLst/>
          </a:prstGeom>
          <a:noFill/>
          <a:ln/>
        </p:spPr>
        <p:txBody>
          <a:bodyPr wrap="square" rtlCol="0" anchor="ctr"/>
          <a:lstStyle/>
          <a:p>
            <a:pPr algn="ctr" indent="0" marL="0">
              <a:buNone/>
            </a:pPr>
            <a:r>
              <a:rPr lang="en-US" sz="850" i="1" dirty="0">
                <a:solidFill>
                  <a:srgbClr val="FFFFFF"/>
                </a:solidFill>
              </a:rPr>
              <a:t>Cities rely on stable, scalable power — solar is the answer</a:t>
            </a:r>
            <a:endParaRPr lang="en-US" sz="850" dirty="0"/>
          </a:p>
        </p:txBody>
      </p:sp>
      <p:sp>
        <p:nvSpPr>
          <p:cNvPr id="18" name="Shape 16"/>
          <p:cNvSpPr/>
          <p:nvPr/>
        </p:nvSpPr>
        <p:spPr>
          <a:xfrm>
            <a:off x="4480560" y="804672"/>
            <a:ext cx="4343400" cy="8961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480560" y="804672"/>
            <a:ext cx="64008" cy="896112"/>
          </a:xfrm>
          <a:prstGeom prst="rect">
            <a:avLst/>
          </a:prstGeom>
          <a:solidFill>
            <a:srgbClr val="FF8F00"/>
          </a:solidFill>
          <a:ln/>
        </p:spPr>
      </p:sp>
      <p:sp>
        <p:nvSpPr>
          <p:cNvPr id="20" name="Shape 18"/>
          <p:cNvSpPr/>
          <p:nvPr/>
        </p:nvSpPr>
        <p:spPr>
          <a:xfrm>
            <a:off x="4645152" y="932688"/>
            <a:ext cx="512064" cy="512064"/>
          </a:xfrm>
          <a:prstGeom prst="ellipse">
            <a:avLst/>
          </a:prstGeom>
          <a:solidFill>
            <a:srgbClr val="0A1628"/>
          </a:solidFill>
          <a:ln/>
        </p:spPr>
      </p:sp>
      <p:pic>
        <p:nvPicPr>
          <p:cNvPr id="21" name="Image 0" descr="preencoded.png"/>
          <p:cNvPicPr>
            <a:picLocks noChangeAspect="1"/>
          </p:cNvPicPr>
          <p:nvPr/>
        </p:nvPicPr>
        <p:blipFill>
          <a:blip r:embed="rId1"/>
          <a:stretch>
            <a:fillRect/>
          </a:stretch>
        </p:blipFill>
        <p:spPr>
          <a:xfrm>
            <a:off x="4734763" y="1022299"/>
            <a:ext cx="332842" cy="332842"/>
          </a:xfrm>
          <a:prstGeom prst="rect">
            <a:avLst/>
          </a:prstGeom>
        </p:spPr>
      </p:pic>
      <p:sp>
        <p:nvSpPr>
          <p:cNvPr id="22" name="Text 19"/>
          <p:cNvSpPr/>
          <p:nvPr/>
        </p:nvSpPr>
        <p:spPr>
          <a:xfrm>
            <a:off x="5248656" y="905256"/>
            <a:ext cx="3401568" cy="274320"/>
          </a:xfrm>
          <a:prstGeom prst="rect">
            <a:avLst/>
          </a:prstGeom>
          <a:noFill/>
          <a:ln/>
        </p:spPr>
        <p:txBody>
          <a:bodyPr wrap="square" lIns="0" tIns="0" rIns="0" bIns="0" rtlCol="0" anchor="ctr"/>
          <a:lstStyle/>
          <a:p>
            <a:pPr indent="0" marL="0">
              <a:buNone/>
            </a:pPr>
            <a:r>
              <a:rPr lang="en-US" sz="1200" b="1" dirty="0">
                <a:solidFill>
                  <a:srgbClr val="0A1628"/>
                </a:solidFill>
                <a:latin typeface="Arial" pitchFamily="34" charset="0"/>
                <a:ea typeface="Arial" pitchFamily="34" charset="-122"/>
                <a:cs typeface="Arial" pitchFamily="34" charset="-120"/>
              </a:rPr>
              <a:t>Ancient Roots</a:t>
            </a:r>
            <a:endParaRPr lang="en-US" sz="1200" dirty="0"/>
          </a:p>
        </p:txBody>
      </p:sp>
      <p:sp>
        <p:nvSpPr>
          <p:cNvPr id="23" name="Text 20"/>
          <p:cNvSpPr/>
          <p:nvPr/>
        </p:nvSpPr>
        <p:spPr>
          <a:xfrm>
            <a:off x="5248656" y="1188720"/>
            <a:ext cx="3401568" cy="475488"/>
          </a:xfrm>
          <a:prstGeom prst="rect">
            <a:avLst/>
          </a:prstGeom>
          <a:noFill/>
          <a:ln/>
        </p:spPr>
        <p:txBody>
          <a:bodyPr wrap="square" lIns="0" tIns="0" rIns="0" bIns="0" rtlCol="0" anchor="ctr"/>
          <a:lstStyle/>
          <a:p>
            <a:pPr indent="0" marL="0">
              <a:buNone/>
            </a:pPr>
            <a:r>
              <a:rPr lang="en-US" sz="900" dirty="0">
                <a:solidFill>
                  <a:srgbClr val="263238"/>
                </a:solidFill>
                <a:latin typeface="Calibri" pitchFamily="34" charset="0"/>
                <a:ea typeface="Calibri" pitchFamily="34" charset="-122"/>
                <a:cs typeface="Calibri" pitchFamily="34" charset="-120"/>
              </a:rPr>
              <a:t>Humans used sunlight for warmth &amp; food drying since prehistoric times. Greeks &amp; Romans designed south-facing buildings to capture solar heat.</a:t>
            </a:r>
            <a:endParaRPr lang="en-US" sz="900" dirty="0"/>
          </a:p>
        </p:txBody>
      </p:sp>
      <p:sp>
        <p:nvSpPr>
          <p:cNvPr id="24" name="Shape 21"/>
          <p:cNvSpPr/>
          <p:nvPr/>
        </p:nvSpPr>
        <p:spPr>
          <a:xfrm>
            <a:off x="4480560" y="1792224"/>
            <a:ext cx="4343400" cy="8961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2"/>
          <p:cNvSpPr/>
          <p:nvPr/>
        </p:nvSpPr>
        <p:spPr>
          <a:xfrm>
            <a:off x="4480560" y="1792224"/>
            <a:ext cx="64008" cy="896112"/>
          </a:xfrm>
          <a:prstGeom prst="rect">
            <a:avLst/>
          </a:prstGeom>
          <a:solidFill>
            <a:srgbClr val="FF8F00"/>
          </a:solidFill>
          <a:ln/>
        </p:spPr>
      </p:sp>
      <p:sp>
        <p:nvSpPr>
          <p:cNvPr id="26" name="Shape 23"/>
          <p:cNvSpPr/>
          <p:nvPr/>
        </p:nvSpPr>
        <p:spPr>
          <a:xfrm>
            <a:off x="4645152" y="1920240"/>
            <a:ext cx="512064" cy="512064"/>
          </a:xfrm>
          <a:prstGeom prst="ellipse">
            <a:avLst/>
          </a:prstGeom>
          <a:solidFill>
            <a:srgbClr val="0A1628"/>
          </a:solidFill>
          <a:ln/>
        </p:spPr>
      </p:sp>
      <p:pic>
        <p:nvPicPr>
          <p:cNvPr id="27" name="Image 1" descr="preencoded.png"/>
          <p:cNvPicPr>
            <a:picLocks noChangeAspect="1"/>
          </p:cNvPicPr>
          <p:nvPr/>
        </p:nvPicPr>
        <p:blipFill>
          <a:blip r:embed="rId2"/>
          <a:stretch>
            <a:fillRect/>
          </a:stretch>
        </p:blipFill>
        <p:spPr>
          <a:xfrm>
            <a:off x="4734763" y="2009851"/>
            <a:ext cx="332842" cy="332842"/>
          </a:xfrm>
          <a:prstGeom prst="rect">
            <a:avLst/>
          </a:prstGeom>
        </p:spPr>
      </p:pic>
      <p:sp>
        <p:nvSpPr>
          <p:cNvPr id="28" name="Text 24"/>
          <p:cNvSpPr/>
          <p:nvPr/>
        </p:nvSpPr>
        <p:spPr>
          <a:xfrm>
            <a:off x="5248656" y="1892808"/>
            <a:ext cx="3401568" cy="274320"/>
          </a:xfrm>
          <a:prstGeom prst="rect">
            <a:avLst/>
          </a:prstGeom>
          <a:noFill/>
          <a:ln/>
        </p:spPr>
        <p:txBody>
          <a:bodyPr wrap="square" lIns="0" tIns="0" rIns="0" bIns="0" rtlCol="0" anchor="ctr"/>
          <a:lstStyle/>
          <a:p>
            <a:pPr indent="0" marL="0">
              <a:buNone/>
            </a:pPr>
            <a:r>
              <a:rPr lang="en-US" sz="1200" b="1" dirty="0">
                <a:solidFill>
                  <a:srgbClr val="0A1628"/>
                </a:solidFill>
                <a:latin typeface="Arial" pitchFamily="34" charset="0"/>
                <a:ea typeface="Arial" pitchFamily="34" charset="-122"/>
                <a:cs typeface="Arial" pitchFamily="34" charset="-120"/>
              </a:rPr>
              <a:t>1839 Discovery</a:t>
            </a:r>
            <a:endParaRPr lang="en-US" sz="1200" dirty="0"/>
          </a:p>
        </p:txBody>
      </p:sp>
      <p:sp>
        <p:nvSpPr>
          <p:cNvPr id="29" name="Text 25"/>
          <p:cNvSpPr/>
          <p:nvPr/>
        </p:nvSpPr>
        <p:spPr>
          <a:xfrm>
            <a:off x="5248656" y="2176272"/>
            <a:ext cx="3401568" cy="475488"/>
          </a:xfrm>
          <a:prstGeom prst="rect">
            <a:avLst/>
          </a:prstGeom>
          <a:noFill/>
          <a:ln/>
        </p:spPr>
        <p:txBody>
          <a:bodyPr wrap="square" lIns="0" tIns="0" rIns="0" bIns="0" rtlCol="0" anchor="ctr"/>
          <a:lstStyle/>
          <a:p>
            <a:pPr indent="0" marL="0">
              <a:buNone/>
            </a:pPr>
            <a:r>
              <a:rPr lang="en-US" sz="900" dirty="0">
                <a:solidFill>
                  <a:srgbClr val="263238"/>
                </a:solidFill>
                <a:latin typeface="Calibri" pitchFamily="34" charset="0"/>
                <a:ea typeface="Calibri" pitchFamily="34" charset="-122"/>
                <a:cs typeface="Calibri" pitchFamily="34" charset="-120"/>
              </a:rPr>
              <a:t>French physicist Edmond Becquerel discovered the photovoltaic effect — light striking certain materials generates an electric current.</a:t>
            </a:r>
            <a:endParaRPr lang="en-US" sz="900" dirty="0"/>
          </a:p>
        </p:txBody>
      </p:sp>
      <p:sp>
        <p:nvSpPr>
          <p:cNvPr id="30" name="Shape 26"/>
          <p:cNvSpPr/>
          <p:nvPr/>
        </p:nvSpPr>
        <p:spPr>
          <a:xfrm>
            <a:off x="4480560" y="2779776"/>
            <a:ext cx="4343400" cy="8961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7"/>
          <p:cNvSpPr/>
          <p:nvPr/>
        </p:nvSpPr>
        <p:spPr>
          <a:xfrm>
            <a:off x="4480560" y="2779776"/>
            <a:ext cx="64008" cy="896112"/>
          </a:xfrm>
          <a:prstGeom prst="rect">
            <a:avLst/>
          </a:prstGeom>
          <a:solidFill>
            <a:srgbClr val="FF8F00"/>
          </a:solidFill>
          <a:ln/>
        </p:spPr>
      </p:sp>
      <p:sp>
        <p:nvSpPr>
          <p:cNvPr id="32" name="Shape 28"/>
          <p:cNvSpPr/>
          <p:nvPr/>
        </p:nvSpPr>
        <p:spPr>
          <a:xfrm>
            <a:off x="4645152" y="2907792"/>
            <a:ext cx="512064" cy="512064"/>
          </a:xfrm>
          <a:prstGeom prst="ellipse">
            <a:avLst/>
          </a:prstGeom>
          <a:solidFill>
            <a:srgbClr val="0A1628"/>
          </a:solidFill>
          <a:ln/>
        </p:spPr>
      </p:sp>
      <p:pic>
        <p:nvPicPr>
          <p:cNvPr id="33" name="Image 2" descr="preencoded.png"/>
          <p:cNvPicPr>
            <a:picLocks noChangeAspect="1"/>
          </p:cNvPicPr>
          <p:nvPr/>
        </p:nvPicPr>
        <p:blipFill>
          <a:blip r:embed="rId3"/>
          <a:stretch>
            <a:fillRect/>
          </a:stretch>
        </p:blipFill>
        <p:spPr>
          <a:xfrm>
            <a:off x="4734763" y="2997403"/>
            <a:ext cx="332842" cy="332842"/>
          </a:xfrm>
          <a:prstGeom prst="rect">
            <a:avLst/>
          </a:prstGeom>
        </p:spPr>
      </p:pic>
      <p:sp>
        <p:nvSpPr>
          <p:cNvPr id="34" name="Text 29"/>
          <p:cNvSpPr/>
          <p:nvPr/>
        </p:nvSpPr>
        <p:spPr>
          <a:xfrm>
            <a:off x="5248656" y="2880360"/>
            <a:ext cx="3401568" cy="274320"/>
          </a:xfrm>
          <a:prstGeom prst="rect">
            <a:avLst/>
          </a:prstGeom>
          <a:noFill/>
          <a:ln/>
        </p:spPr>
        <p:txBody>
          <a:bodyPr wrap="square" lIns="0" tIns="0" rIns="0" bIns="0" rtlCol="0" anchor="ctr"/>
          <a:lstStyle/>
          <a:p>
            <a:pPr indent="0" marL="0">
              <a:buNone/>
            </a:pPr>
            <a:r>
              <a:rPr lang="en-US" sz="1200" b="1" dirty="0">
                <a:solidFill>
                  <a:srgbClr val="0A1628"/>
                </a:solidFill>
                <a:latin typeface="Arial" pitchFamily="34" charset="0"/>
                <a:ea typeface="Arial" pitchFamily="34" charset="-122"/>
                <a:cs typeface="Arial" pitchFamily="34" charset="-120"/>
              </a:rPr>
              <a:t>1954 Breakthrough</a:t>
            </a:r>
            <a:endParaRPr lang="en-US" sz="1200" dirty="0"/>
          </a:p>
        </p:txBody>
      </p:sp>
      <p:sp>
        <p:nvSpPr>
          <p:cNvPr id="35" name="Text 30"/>
          <p:cNvSpPr/>
          <p:nvPr/>
        </p:nvSpPr>
        <p:spPr>
          <a:xfrm>
            <a:off x="5248656" y="3163824"/>
            <a:ext cx="3401568" cy="475488"/>
          </a:xfrm>
          <a:prstGeom prst="rect">
            <a:avLst/>
          </a:prstGeom>
          <a:noFill/>
          <a:ln/>
        </p:spPr>
        <p:txBody>
          <a:bodyPr wrap="square" lIns="0" tIns="0" rIns="0" bIns="0" rtlCol="0" anchor="ctr"/>
          <a:lstStyle/>
          <a:p>
            <a:pPr indent="0" marL="0">
              <a:buNone/>
            </a:pPr>
            <a:r>
              <a:rPr lang="en-US" sz="900" dirty="0">
                <a:solidFill>
                  <a:srgbClr val="263238"/>
                </a:solidFill>
                <a:latin typeface="Calibri" pitchFamily="34" charset="0"/>
                <a:ea typeface="Calibri" pitchFamily="34" charset="-122"/>
                <a:cs typeface="Calibri" pitchFamily="34" charset="-120"/>
              </a:rPr>
              <a:t>Bell Labs built the first practical silicon solar cell at 6% efficiency. NASA adopted it immediately to power satellites — proving its reliability.</a:t>
            </a:r>
            <a:endParaRPr lang="en-US" sz="900" dirty="0"/>
          </a:p>
        </p:txBody>
      </p:sp>
      <p:sp>
        <p:nvSpPr>
          <p:cNvPr id="36" name="Shape 31"/>
          <p:cNvSpPr/>
          <p:nvPr/>
        </p:nvSpPr>
        <p:spPr>
          <a:xfrm>
            <a:off x="4480560" y="3767328"/>
            <a:ext cx="4343400" cy="8961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7" name="Shape 32"/>
          <p:cNvSpPr/>
          <p:nvPr/>
        </p:nvSpPr>
        <p:spPr>
          <a:xfrm>
            <a:off x="4480560" y="3767328"/>
            <a:ext cx="64008" cy="896112"/>
          </a:xfrm>
          <a:prstGeom prst="rect">
            <a:avLst/>
          </a:prstGeom>
          <a:solidFill>
            <a:srgbClr val="FF8F00"/>
          </a:solidFill>
          <a:ln/>
        </p:spPr>
      </p:sp>
      <p:sp>
        <p:nvSpPr>
          <p:cNvPr id="38" name="Shape 33"/>
          <p:cNvSpPr/>
          <p:nvPr/>
        </p:nvSpPr>
        <p:spPr>
          <a:xfrm>
            <a:off x="4645152" y="3895344"/>
            <a:ext cx="512064" cy="512064"/>
          </a:xfrm>
          <a:prstGeom prst="ellipse">
            <a:avLst/>
          </a:prstGeom>
          <a:solidFill>
            <a:srgbClr val="0A1628"/>
          </a:solidFill>
          <a:ln/>
        </p:spPr>
      </p:sp>
      <p:pic>
        <p:nvPicPr>
          <p:cNvPr id="39" name="Image 3" descr="preencoded.png"/>
          <p:cNvPicPr>
            <a:picLocks noChangeAspect="1"/>
          </p:cNvPicPr>
          <p:nvPr/>
        </p:nvPicPr>
        <p:blipFill>
          <a:blip r:embed="rId4"/>
          <a:stretch>
            <a:fillRect/>
          </a:stretch>
        </p:blipFill>
        <p:spPr>
          <a:xfrm>
            <a:off x="4734763" y="3984955"/>
            <a:ext cx="332842" cy="332842"/>
          </a:xfrm>
          <a:prstGeom prst="rect">
            <a:avLst/>
          </a:prstGeom>
        </p:spPr>
      </p:pic>
      <p:sp>
        <p:nvSpPr>
          <p:cNvPr id="40" name="Text 34"/>
          <p:cNvSpPr/>
          <p:nvPr/>
        </p:nvSpPr>
        <p:spPr>
          <a:xfrm>
            <a:off x="5248656" y="3867912"/>
            <a:ext cx="3401568" cy="274320"/>
          </a:xfrm>
          <a:prstGeom prst="rect">
            <a:avLst/>
          </a:prstGeom>
          <a:noFill/>
          <a:ln/>
        </p:spPr>
        <p:txBody>
          <a:bodyPr wrap="square" lIns="0" tIns="0" rIns="0" bIns="0" rtlCol="0" anchor="ctr"/>
          <a:lstStyle/>
          <a:p>
            <a:pPr indent="0" marL="0">
              <a:buNone/>
            </a:pPr>
            <a:r>
              <a:rPr lang="en-US" sz="1200" b="1" dirty="0">
                <a:solidFill>
                  <a:srgbClr val="0A1628"/>
                </a:solidFill>
                <a:latin typeface="Arial" pitchFamily="34" charset="0"/>
                <a:ea typeface="Arial" pitchFamily="34" charset="-122"/>
                <a:cs typeface="Arial" pitchFamily="34" charset="-120"/>
              </a:rPr>
              <a:t>Today's Reality</a:t>
            </a:r>
            <a:endParaRPr lang="en-US" sz="1200" dirty="0"/>
          </a:p>
        </p:txBody>
      </p:sp>
      <p:sp>
        <p:nvSpPr>
          <p:cNvPr id="41" name="Text 35"/>
          <p:cNvSpPr/>
          <p:nvPr/>
        </p:nvSpPr>
        <p:spPr>
          <a:xfrm>
            <a:off x="5248656" y="4151376"/>
            <a:ext cx="3401568" cy="475488"/>
          </a:xfrm>
          <a:prstGeom prst="rect">
            <a:avLst/>
          </a:prstGeom>
          <a:noFill/>
          <a:ln/>
        </p:spPr>
        <p:txBody>
          <a:bodyPr wrap="square" lIns="0" tIns="0" rIns="0" bIns="0" rtlCol="0" anchor="ctr"/>
          <a:lstStyle/>
          <a:p>
            <a:pPr indent="0" marL="0">
              <a:buNone/>
            </a:pPr>
            <a:r>
              <a:rPr lang="en-US" sz="900" dirty="0">
                <a:solidFill>
                  <a:srgbClr val="263238"/>
                </a:solidFill>
                <a:latin typeface="Calibri" pitchFamily="34" charset="0"/>
                <a:ea typeface="Calibri" pitchFamily="34" charset="-122"/>
                <a:cs typeface="Calibri" pitchFamily="34" charset="-120"/>
              </a:rPr>
              <a:t>Solar is the world's fastest-growing energy. 1.2+ terawatts installed globally. Costs dropped 90% in a decade. Over 4 million jobs created.</a:t>
            </a:r>
            <a:endParaRPr lang="en-US" sz="900" dirty="0"/>
          </a:p>
        </p:txBody>
      </p:sp>
      <p:sp>
        <p:nvSpPr>
          <p:cNvPr id="42" name="Text 36"/>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3 / 16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DEFINITION — What Is Solar Energy &amp; How Does It Work?</a:t>
            </a:r>
            <a:endParaRPr lang="en-US" sz="2200" dirty="0"/>
          </a:p>
        </p:txBody>
      </p:sp>
      <p:sp>
        <p:nvSpPr>
          <p:cNvPr id="5" name="Shape 3"/>
          <p:cNvSpPr/>
          <p:nvPr/>
        </p:nvSpPr>
        <p:spPr>
          <a:xfrm>
            <a:off x="320040" y="822960"/>
            <a:ext cx="8503920" cy="804672"/>
          </a:xfrm>
          <a:prstGeom prst="rect">
            <a:avLst/>
          </a:prstGeom>
          <a:solidFill>
            <a:srgbClr val="FFFDE7"/>
          </a:solidFill>
          <a:ln/>
          <a:effectLst>
            <a:outerShdw sx="100000" sy="100000" kx="0" ky="0" algn="bl" rotWithShape="0" blurRad="63500" dist="25400" dir="8100000">
              <a:srgbClr val="000000">
                <a:alpha val="10000"/>
              </a:srgbClr>
            </a:outerShdw>
          </a:effectLst>
        </p:spPr>
      </p:sp>
      <p:sp>
        <p:nvSpPr>
          <p:cNvPr id="6" name="Shape 4"/>
          <p:cNvSpPr/>
          <p:nvPr/>
        </p:nvSpPr>
        <p:spPr>
          <a:xfrm>
            <a:off x="320040" y="822960"/>
            <a:ext cx="73152" cy="804672"/>
          </a:xfrm>
          <a:prstGeom prst="rect">
            <a:avLst/>
          </a:prstGeom>
          <a:solidFill>
            <a:srgbClr val="FFB300"/>
          </a:solidFill>
          <a:ln/>
        </p:spPr>
      </p:sp>
      <p:sp>
        <p:nvSpPr>
          <p:cNvPr id="7" name="Text 5"/>
          <p:cNvSpPr/>
          <p:nvPr/>
        </p:nvSpPr>
        <p:spPr>
          <a:xfrm>
            <a:off x="502920" y="859536"/>
            <a:ext cx="8229600" cy="713232"/>
          </a:xfrm>
          <a:prstGeom prst="rect">
            <a:avLst/>
          </a:prstGeom>
          <a:noFill/>
          <a:ln/>
        </p:spPr>
        <p:txBody>
          <a:bodyPr wrap="square" rtlCol="0" anchor="ctr"/>
          <a:lstStyle/>
          <a:p>
            <a:pPr indent="0" marL="0">
              <a:buNone/>
            </a:pPr>
            <a:r>
              <a:rPr lang="en-US" sz="1200" i="1" dirty="0">
                <a:solidFill>
                  <a:srgbClr val="263238"/>
                </a:solidFill>
                <a:latin typeface="Calibri" pitchFamily="34" charset="0"/>
                <a:ea typeface="Calibri" pitchFamily="34" charset="-122"/>
                <a:cs typeface="Calibri" pitchFamily="34" charset="-120"/>
              </a:rPr>
              <a:t>Solar energy is radiant light and heat from the Sun, harnessed through technologies such as solar photovoltaics (PV), concentrated solar power (CSP), and solar thermal systems — converting sunlight into electricity or heat for human use.</a:t>
            </a:r>
            <a:endParaRPr lang="en-US" sz="1200" dirty="0"/>
          </a:p>
        </p:txBody>
      </p:sp>
      <p:sp>
        <p:nvSpPr>
          <p:cNvPr id="8" name="Text 6"/>
          <p:cNvSpPr/>
          <p:nvPr/>
        </p:nvSpPr>
        <p:spPr>
          <a:xfrm>
            <a:off x="320040" y="1719072"/>
            <a:ext cx="8503920" cy="320040"/>
          </a:xfrm>
          <a:prstGeom prst="rect">
            <a:avLst/>
          </a:prstGeom>
          <a:noFill/>
          <a:ln/>
        </p:spPr>
        <p:txBody>
          <a:bodyPr wrap="square" rtlCol="0" anchor="ctr"/>
          <a:lstStyle/>
          <a:p>
            <a:pPr indent="0" marL="0">
              <a:buNone/>
            </a:pPr>
            <a:r>
              <a:rPr lang="en-US" sz="1300" b="1" dirty="0">
                <a:solidFill>
                  <a:srgbClr val="0A1628"/>
                </a:solidFill>
                <a:latin typeface="Arial" pitchFamily="34" charset="0"/>
                <a:ea typeface="Arial" pitchFamily="34" charset="-122"/>
                <a:cs typeface="Arial" pitchFamily="34" charset="-120"/>
              </a:rPr>
              <a:t>HOW IT WORKS — The 5-Step Process</a:t>
            </a:r>
            <a:endParaRPr lang="en-US" sz="1300" dirty="0"/>
          </a:p>
        </p:txBody>
      </p:sp>
      <p:sp>
        <p:nvSpPr>
          <p:cNvPr id="9" name="Shape 7"/>
          <p:cNvSpPr/>
          <p:nvPr/>
        </p:nvSpPr>
        <p:spPr>
          <a:xfrm>
            <a:off x="347472" y="2121408"/>
            <a:ext cx="1536192" cy="2468880"/>
          </a:xfrm>
          <a:prstGeom prst="rect">
            <a:avLst/>
          </a:prstGeom>
          <a:solidFill>
            <a:srgbClr val="FF8F00"/>
          </a:solidFill>
          <a:ln/>
          <a:effectLst>
            <a:outerShdw sx="100000" sy="100000" kx="0" ky="0" algn="bl" rotWithShape="0" blurRad="63500" dist="25400" dir="8100000">
              <a:srgbClr val="000000">
                <a:alpha val="15000"/>
              </a:srgbClr>
            </a:outerShdw>
          </a:effectLst>
        </p:spPr>
      </p:sp>
      <p:sp>
        <p:nvSpPr>
          <p:cNvPr id="10" name="Text 8"/>
          <p:cNvSpPr/>
          <p:nvPr/>
        </p:nvSpPr>
        <p:spPr>
          <a:xfrm>
            <a:off x="347472" y="2194560"/>
            <a:ext cx="1536192" cy="54864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1</a:t>
            </a:r>
            <a:endParaRPr lang="en-US" sz="2800" dirty="0"/>
          </a:p>
        </p:txBody>
      </p:sp>
      <p:pic>
        <p:nvPicPr>
          <p:cNvPr id="11" name="Image 0" descr="preencoded.png"/>
          <p:cNvPicPr>
            <a:picLocks noChangeAspect="1"/>
          </p:cNvPicPr>
          <p:nvPr/>
        </p:nvPicPr>
        <p:blipFill>
          <a:blip r:embed="rId1"/>
          <a:stretch>
            <a:fillRect/>
          </a:stretch>
        </p:blipFill>
        <p:spPr>
          <a:xfrm>
            <a:off x="822960" y="2834640"/>
            <a:ext cx="566928" cy="566928"/>
          </a:xfrm>
          <a:prstGeom prst="rect">
            <a:avLst/>
          </a:prstGeom>
        </p:spPr>
      </p:pic>
      <p:sp>
        <p:nvSpPr>
          <p:cNvPr id="12" name="Text 9"/>
          <p:cNvSpPr/>
          <p:nvPr/>
        </p:nvSpPr>
        <p:spPr>
          <a:xfrm>
            <a:off x="420624" y="3493008"/>
            <a:ext cx="1389888"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Sunlight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Hits Panel</a:t>
            </a:r>
            <a:endParaRPr lang="en-US" sz="1050" dirty="0"/>
          </a:p>
        </p:txBody>
      </p:sp>
      <p:sp>
        <p:nvSpPr>
          <p:cNvPr id="13" name="Shape 10"/>
          <p:cNvSpPr/>
          <p:nvPr/>
        </p:nvSpPr>
        <p:spPr>
          <a:xfrm>
            <a:off x="1883664" y="3364992"/>
            <a:ext cx="182880" cy="0"/>
          </a:xfrm>
          <a:prstGeom prst="line">
            <a:avLst/>
          </a:prstGeom>
          <a:noFill/>
          <a:ln w="25400">
            <a:solidFill>
              <a:srgbClr val="607D8B"/>
            </a:solidFill>
            <a:prstDash val="solid"/>
          </a:ln>
        </p:spPr>
      </p:sp>
      <p:sp>
        <p:nvSpPr>
          <p:cNvPr id="14" name="Shape 11"/>
          <p:cNvSpPr/>
          <p:nvPr/>
        </p:nvSpPr>
        <p:spPr>
          <a:xfrm>
            <a:off x="2066544" y="2121408"/>
            <a:ext cx="1536192" cy="2468880"/>
          </a:xfrm>
          <a:prstGeom prst="rect">
            <a:avLst/>
          </a:prstGeom>
          <a:solidFill>
            <a:srgbClr val="1565C0"/>
          </a:solidFill>
          <a:ln/>
          <a:effectLst>
            <a:outerShdw sx="100000" sy="100000" kx="0" ky="0" algn="bl" rotWithShape="0" blurRad="63500" dist="25400" dir="8100000">
              <a:srgbClr val="000000">
                <a:alpha val="15000"/>
              </a:srgbClr>
            </a:outerShdw>
          </a:effectLst>
        </p:spPr>
      </p:sp>
      <p:sp>
        <p:nvSpPr>
          <p:cNvPr id="15" name="Text 12"/>
          <p:cNvSpPr/>
          <p:nvPr/>
        </p:nvSpPr>
        <p:spPr>
          <a:xfrm>
            <a:off x="2066544" y="2194560"/>
            <a:ext cx="1536192" cy="54864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2</a:t>
            </a:r>
            <a:endParaRPr lang="en-US" sz="2800" dirty="0"/>
          </a:p>
        </p:txBody>
      </p:sp>
      <p:pic>
        <p:nvPicPr>
          <p:cNvPr id="16" name="Image 1" descr="preencoded.png"/>
          <p:cNvPicPr>
            <a:picLocks noChangeAspect="1"/>
          </p:cNvPicPr>
          <p:nvPr/>
        </p:nvPicPr>
        <p:blipFill>
          <a:blip r:embed="rId2"/>
          <a:stretch>
            <a:fillRect/>
          </a:stretch>
        </p:blipFill>
        <p:spPr>
          <a:xfrm>
            <a:off x="2542032" y="2834640"/>
            <a:ext cx="566928" cy="566928"/>
          </a:xfrm>
          <a:prstGeom prst="rect">
            <a:avLst/>
          </a:prstGeom>
        </p:spPr>
      </p:pic>
      <p:sp>
        <p:nvSpPr>
          <p:cNvPr id="17" name="Text 13"/>
          <p:cNvSpPr/>
          <p:nvPr/>
        </p:nvSpPr>
        <p:spPr>
          <a:xfrm>
            <a:off x="2139696" y="3493008"/>
            <a:ext cx="1389888"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Electrons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Released</a:t>
            </a:r>
            <a:endParaRPr lang="en-US" sz="1050" dirty="0"/>
          </a:p>
        </p:txBody>
      </p:sp>
      <p:sp>
        <p:nvSpPr>
          <p:cNvPr id="18" name="Shape 14"/>
          <p:cNvSpPr/>
          <p:nvPr/>
        </p:nvSpPr>
        <p:spPr>
          <a:xfrm>
            <a:off x="3602736" y="3364992"/>
            <a:ext cx="182880" cy="0"/>
          </a:xfrm>
          <a:prstGeom prst="line">
            <a:avLst/>
          </a:prstGeom>
          <a:noFill/>
          <a:ln w="25400">
            <a:solidFill>
              <a:srgbClr val="607D8B"/>
            </a:solidFill>
            <a:prstDash val="solid"/>
          </a:ln>
        </p:spPr>
      </p:sp>
      <p:sp>
        <p:nvSpPr>
          <p:cNvPr id="19" name="Shape 15"/>
          <p:cNvSpPr/>
          <p:nvPr/>
        </p:nvSpPr>
        <p:spPr>
          <a:xfrm>
            <a:off x="3785616" y="2121408"/>
            <a:ext cx="1536192" cy="2468880"/>
          </a:xfrm>
          <a:prstGeom prst="rect">
            <a:avLst/>
          </a:prstGeom>
          <a:solidFill>
            <a:srgbClr val="E65100"/>
          </a:solidFill>
          <a:ln/>
          <a:effectLst>
            <a:outerShdw sx="100000" sy="100000" kx="0" ky="0" algn="bl" rotWithShape="0" blurRad="63500" dist="25400" dir="8100000">
              <a:srgbClr val="000000">
                <a:alpha val="15000"/>
              </a:srgbClr>
            </a:outerShdw>
          </a:effectLst>
        </p:spPr>
      </p:sp>
      <p:sp>
        <p:nvSpPr>
          <p:cNvPr id="20" name="Text 16"/>
          <p:cNvSpPr/>
          <p:nvPr/>
        </p:nvSpPr>
        <p:spPr>
          <a:xfrm>
            <a:off x="3785616" y="2194560"/>
            <a:ext cx="1536192" cy="54864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3</a:t>
            </a:r>
            <a:endParaRPr lang="en-US" sz="2800" dirty="0"/>
          </a:p>
        </p:txBody>
      </p:sp>
      <p:pic>
        <p:nvPicPr>
          <p:cNvPr id="21" name="Image 2" descr="preencoded.png"/>
          <p:cNvPicPr>
            <a:picLocks noChangeAspect="1"/>
          </p:cNvPicPr>
          <p:nvPr/>
        </p:nvPicPr>
        <p:blipFill>
          <a:blip r:embed="rId3"/>
          <a:stretch>
            <a:fillRect/>
          </a:stretch>
        </p:blipFill>
        <p:spPr>
          <a:xfrm>
            <a:off x="4261104" y="2834640"/>
            <a:ext cx="566928" cy="566928"/>
          </a:xfrm>
          <a:prstGeom prst="rect">
            <a:avLst/>
          </a:prstGeom>
        </p:spPr>
      </p:pic>
      <p:sp>
        <p:nvSpPr>
          <p:cNvPr id="22" name="Text 17"/>
          <p:cNvSpPr/>
          <p:nvPr/>
        </p:nvSpPr>
        <p:spPr>
          <a:xfrm>
            <a:off x="3858768" y="3493008"/>
            <a:ext cx="1389888"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DC Power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Generated</a:t>
            </a:r>
            <a:endParaRPr lang="en-US" sz="1050" dirty="0"/>
          </a:p>
        </p:txBody>
      </p:sp>
      <p:sp>
        <p:nvSpPr>
          <p:cNvPr id="23" name="Shape 18"/>
          <p:cNvSpPr/>
          <p:nvPr/>
        </p:nvSpPr>
        <p:spPr>
          <a:xfrm>
            <a:off x="5321808" y="3364992"/>
            <a:ext cx="182880" cy="0"/>
          </a:xfrm>
          <a:prstGeom prst="line">
            <a:avLst/>
          </a:prstGeom>
          <a:noFill/>
          <a:ln w="25400">
            <a:solidFill>
              <a:srgbClr val="607D8B"/>
            </a:solidFill>
            <a:prstDash val="solid"/>
          </a:ln>
        </p:spPr>
      </p:sp>
      <p:sp>
        <p:nvSpPr>
          <p:cNvPr id="24" name="Shape 19"/>
          <p:cNvSpPr/>
          <p:nvPr/>
        </p:nvSpPr>
        <p:spPr>
          <a:xfrm>
            <a:off x="5504688" y="2121408"/>
            <a:ext cx="1536192" cy="2468880"/>
          </a:xfrm>
          <a:prstGeom prst="rect">
            <a:avLst/>
          </a:prstGeom>
          <a:solidFill>
            <a:srgbClr val="2E7D32"/>
          </a:solidFill>
          <a:ln/>
          <a:effectLst>
            <a:outerShdw sx="100000" sy="100000" kx="0" ky="0" algn="bl" rotWithShape="0" blurRad="63500" dist="25400" dir="8100000">
              <a:srgbClr val="000000">
                <a:alpha val="15000"/>
              </a:srgbClr>
            </a:outerShdw>
          </a:effectLst>
        </p:spPr>
      </p:sp>
      <p:sp>
        <p:nvSpPr>
          <p:cNvPr id="25" name="Text 20"/>
          <p:cNvSpPr/>
          <p:nvPr/>
        </p:nvSpPr>
        <p:spPr>
          <a:xfrm>
            <a:off x="5504688" y="2194560"/>
            <a:ext cx="1536192" cy="54864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4</a:t>
            </a:r>
            <a:endParaRPr lang="en-US" sz="2800" dirty="0"/>
          </a:p>
        </p:txBody>
      </p:sp>
      <p:pic>
        <p:nvPicPr>
          <p:cNvPr id="26" name="Image 3" descr="preencoded.png"/>
          <p:cNvPicPr>
            <a:picLocks noChangeAspect="1"/>
          </p:cNvPicPr>
          <p:nvPr/>
        </p:nvPicPr>
        <p:blipFill>
          <a:blip r:embed="rId4"/>
          <a:stretch>
            <a:fillRect/>
          </a:stretch>
        </p:blipFill>
        <p:spPr>
          <a:xfrm>
            <a:off x="5980176" y="2834640"/>
            <a:ext cx="566928" cy="566928"/>
          </a:xfrm>
          <a:prstGeom prst="rect">
            <a:avLst/>
          </a:prstGeom>
        </p:spPr>
      </p:pic>
      <p:sp>
        <p:nvSpPr>
          <p:cNvPr id="27" name="Text 21"/>
          <p:cNvSpPr/>
          <p:nvPr/>
        </p:nvSpPr>
        <p:spPr>
          <a:xfrm>
            <a:off x="5577840" y="3493008"/>
            <a:ext cx="1389888"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Inverter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to AC Power</a:t>
            </a:r>
            <a:endParaRPr lang="en-US" sz="1050" dirty="0"/>
          </a:p>
        </p:txBody>
      </p:sp>
      <p:sp>
        <p:nvSpPr>
          <p:cNvPr id="28" name="Shape 22"/>
          <p:cNvSpPr/>
          <p:nvPr/>
        </p:nvSpPr>
        <p:spPr>
          <a:xfrm>
            <a:off x="7040880" y="3364992"/>
            <a:ext cx="182880" cy="0"/>
          </a:xfrm>
          <a:prstGeom prst="line">
            <a:avLst/>
          </a:prstGeom>
          <a:noFill/>
          <a:ln w="25400">
            <a:solidFill>
              <a:srgbClr val="607D8B"/>
            </a:solidFill>
            <a:prstDash val="solid"/>
          </a:ln>
        </p:spPr>
      </p:sp>
      <p:sp>
        <p:nvSpPr>
          <p:cNvPr id="29" name="Shape 23"/>
          <p:cNvSpPr/>
          <p:nvPr/>
        </p:nvSpPr>
        <p:spPr>
          <a:xfrm>
            <a:off x="7223760" y="2121408"/>
            <a:ext cx="1536192" cy="2468880"/>
          </a:xfrm>
          <a:prstGeom prst="rect">
            <a:avLst/>
          </a:prstGeom>
          <a:solidFill>
            <a:srgbClr val="0A1628"/>
          </a:solidFill>
          <a:ln/>
          <a:effectLst>
            <a:outerShdw sx="100000" sy="100000" kx="0" ky="0" algn="bl" rotWithShape="0" blurRad="63500" dist="25400" dir="8100000">
              <a:srgbClr val="000000">
                <a:alpha val="15000"/>
              </a:srgbClr>
            </a:outerShdw>
          </a:effectLst>
        </p:spPr>
      </p:sp>
      <p:sp>
        <p:nvSpPr>
          <p:cNvPr id="30" name="Text 24"/>
          <p:cNvSpPr/>
          <p:nvPr/>
        </p:nvSpPr>
        <p:spPr>
          <a:xfrm>
            <a:off x="7223760" y="2194560"/>
            <a:ext cx="1536192" cy="54864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5</a:t>
            </a:r>
            <a:endParaRPr lang="en-US" sz="2800" dirty="0"/>
          </a:p>
        </p:txBody>
      </p:sp>
      <p:pic>
        <p:nvPicPr>
          <p:cNvPr id="31" name="Image 4" descr="preencoded.png"/>
          <p:cNvPicPr>
            <a:picLocks noChangeAspect="1"/>
          </p:cNvPicPr>
          <p:nvPr/>
        </p:nvPicPr>
        <p:blipFill>
          <a:blip r:embed="rId5"/>
          <a:stretch>
            <a:fillRect/>
          </a:stretch>
        </p:blipFill>
        <p:spPr>
          <a:xfrm>
            <a:off x="7699248" y="2834640"/>
            <a:ext cx="566928" cy="566928"/>
          </a:xfrm>
          <a:prstGeom prst="rect">
            <a:avLst/>
          </a:prstGeom>
        </p:spPr>
      </p:pic>
      <p:sp>
        <p:nvSpPr>
          <p:cNvPr id="32" name="Text 25"/>
          <p:cNvSpPr/>
          <p:nvPr/>
        </p:nvSpPr>
        <p:spPr>
          <a:xfrm>
            <a:off x="7296912" y="3493008"/>
            <a:ext cx="1389888"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Powers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Homes &amp; Grids</a:t>
            </a:r>
            <a:endParaRPr lang="en-US" sz="1050" dirty="0"/>
          </a:p>
        </p:txBody>
      </p:sp>
      <p:sp>
        <p:nvSpPr>
          <p:cNvPr id="33" name="Text 26"/>
          <p:cNvSpPr/>
          <p:nvPr/>
        </p:nvSpPr>
        <p:spPr>
          <a:xfrm>
            <a:off x="320040" y="4681728"/>
            <a:ext cx="8503920" cy="292608"/>
          </a:xfrm>
          <a:prstGeom prst="rect">
            <a:avLst/>
          </a:prstGeom>
          <a:noFill/>
          <a:ln/>
        </p:spPr>
        <p:txBody>
          <a:bodyPr wrap="square" rtlCol="0" anchor="ctr"/>
          <a:lstStyle/>
          <a:p>
            <a:pPr indent="0" marL="0">
              <a:buNone/>
            </a:pPr>
            <a:r>
              <a:rPr lang="en-US" sz="950" i="1" dirty="0">
                <a:solidFill>
                  <a:srgbClr val="607D8B"/>
                </a:solidFill>
                <a:latin typeface="Calibri" pitchFamily="34" charset="0"/>
                <a:ea typeface="Calibri" pitchFamily="34" charset="-122"/>
                <a:cs typeface="Calibri" pitchFamily="34" charset="-120"/>
              </a:rPr>
              <a:t>The Photovoltaic Effect: Photons strike semiconductor silicon atoms, releasing electrons that flow as electrical current.</a:t>
            </a:r>
            <a:endParaRPr lang="en-US" sz="950" dirty="0"/>
          </a:p>
        </p:txBody>
      </p:sp>
      <p:sp>
        <p:nvSpPr>
          <p:cNvPr id="34" name="Text 27"/>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4 / 16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TYPES OF SOLAR TECHNOLOGY</a:t>
            </a:r>
            <a:endParaRPr lang="en-US" sz="2200" dirty="0"/>
          </a:p>
        </p:txBody>
      </p:sp>
      <p:sp>
        <p:nvSpPr>
          <p:cNvPr id="5" name="Shape 3"/>
          <p:cNvSpPr/>
          <p:nvPr/>
        </p:nvSpPr>
        <p:spPr>
          <a:xfrm>
            <a:off x="320040" y="804672"/>
            <a:ext cx="4160520" cy="193852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804672"/>
            <a:ext cx="4160520" cy="457200"/>
          </a:xfrm>
          <a:prstGeom prst="rect">
            <a:avLst/>
          </a:prstGeom>
          <a:solidFill>
            <a:srgbClr val="FF8F00"/>
          </a:solidFill>
          <a:ln/>
        </p:spPr>
      </p:sp>
      <p:pic>
        <p:nvPicPr>
          <p:cNvPr id="7" name="Image 0" descr="preencoded.png"/>
          <p:cNvPicPr>
            <a:picLocks noChangeAspect="1"/>
          </p:cNvPicPr>
          <p:nvPr/>
        </p:nvPicPr>
        <p:blipFill>
          <a:blip r:embed="rId1"/>
          <a:stretch>
            <a:fillRect/>
          </a:stretch>
        </p:blipFill>
        <p:spPr>
          <a:xfrm>
            <a:off x="411480" y="868680"/>
            <a:ext cx="329184" cy="329184"/>
          </a:xfrm>
          <a:prstGeom prst="rect">
            <a:avLst/>
          </a:prstGeom>
        </p:spPr>
      </p:pic>
      <p:sp>
        <p:nvSpPr>
          <p:cNvPr id="8" name="Text 5"/>
          <p:cNvSpPr/>
          <p:nvPr/>
        </p:nvSpPr>
        <p:spPr>
          <a:xfrm>
            <a:off x="813816" y="868680"/>
            <a:ext cx="352044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Photovoltaic (PV) Panels</a:t>
            </a:r>
            <a:endParaRPr lang="en-US" sz="1200" dirty="0"/>
          </a:p>
        </p:txBody>
      </p:sp>
      <p:sp>
        <p:nvSpPr>
          <p:cNvPr id="9" name="Text 6"/>
          <p:cNvSpPr/>
          <p:nvPr/>
        </p:nvSpPr>
        <p:spPr>
          <a:xfrm>
            <a:off x="466344" y="1325880"/>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Most common type worldwide</a:t>
            </a:r>
            <a:endParaRPr lang="en-US" sz="1000" dirty="0"/>
          </a:p>
        </p:txBody>
      </p:sp>
      <p:sp>
        <p:nvSpPr>
          <p:cNvPr id="10" name="Text 7"/>
          <p:cNvSpPr/>
          <p:nvPr/>
        </p:nvSpPr>
        <p:spPr>
          <a:xfrm>
            <a:off x="466344" y="1664208"/>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Silicon cells convert light to electricity</a:t>
            </a:r>
            <a:endParaRPr lang="en-US" sz="1000" dirty="0"/>
          </a:p>
        </p:txBody>
      </p:sp>
      <p:sp>
        <p:nvSpPr>
          <p:cNvPr id="11" name="Text 8"/>
          <p:cNvSpPr/>
          <p:nvPr/>
        </p:nvSpPr>
        <p:spPr>
          <a:xfrm>
            <a:off x="466344" y="2002536"/>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Used on rooftops, solar farms &amp; satellites</a:t>
            </a:r>
            <a:endParaRPr lang="en-US" sz="1000" dirty="0"/>
          </a:p>
        </p:txBody>
      </p:sp>
      <p:sp>
        <p:nvSpPr>
          <p:cNvPr id="12" name="Text 9"/>
          <p:cNvSpPr/>
          <p:nvPr/>
        </p:nvSpPr>
        <p:spPr>
          <a:xfrm>
            <a:off x="466344" y="2340864"/>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Efficiency: 15–23% commercial, 30%+ in space</a:t>
            </a:r>
            <a:endParaRPr lang="en-US" sz="1000" dirty="0"/>
          </a:p>
        </p:txBody>
      </p:sp>
      <p:sp>
        <p:nvSpPr>
          <p:cNvPr id="13" name="Shape 10"/>
          <p:cNvSpPr/>
          <p:nvPr/>
        </p:nvSpPr>
        <p:spPr>
          <a:xfrm>
            <a:off x="4754880" y="804672"/>
            <a:ext cx="4160520" cy="193852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4754880" y="804672"/>
            <a:ext cx="4160520" cy="457200"/>
          </a:xfrm>
          <a:prstGeom prst="rect">
            <a:avLst/>
          </a:prstGeom>
          <a:solidFill>
            <a:srgbClr val="E65100"/>
          </a:solidFill>
          <a:ln/>
        </p:spPr>
      </p:sp>
      <p:pic>
        <p:nvPicPr>
          <p:cNvPr id="15" name="Image 1" descr="preencoded.png"/>
          <p:cNvPicPr>
            <a:picLocks noChangeAspect="1"/>
          </p:cNvPicPr>
          <p:nvPr/>
        </p:nvPicPr>
        <p:blipFill>
          <a:blip r:embed="rId2"/>
          <a:stretch>
            <a:fillRect/>
          </a:stretch>
        </p:blipFill>
        <p:spPr>
          <a:xfrm>
            <a:off x="4846320" y="868680"/>
            <a:ext cx="329184" cy="329184"/>
          </a:xfrm>
          <a:prstGeom prst="rect">
            <a:avLst/>
          </a:prstGeom>
        </p:spPr>
      </p:pic>
      <p:sp>
        <p:nvSpPr>
          <p:cNvPr id="16" name="Text 12"/>
          <p:cNvSpPr/>
          <p:nvPr/>
        </p:nvSpPr>
        <p:spPr>
          <a:xfrm>
            <a:off x="5248656" y="868680"/>
            <a:ext cx="352044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Concentrated Solar Power (CSP)</a:t>
            </a:r>
            <a:endParaRPr lang="en-US" sz="1200" dirty="0"/>
          </a:p>
        </p:txBody>
      </p:sp>
      <p:sp>
        <p:nvSpPr>
          <p:cNvPr id="17" name="Text 13"/>
          <p:cNvSpPr/>
          <p:nvPr/>
        </p:nvSpPr>
        <p:spPr>
          <a:xfrm>
            <a:off x="4901184" y="1325880"/>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Uses mirrors/lenses to focus sunlight</a:t>
            </a:r>
            <a:endParaRPr lang="en-US" sz="1000" dirty="0"/>
          </a:p>
        </p:txBody>
      </p:sp>
      <p:sp>
        <p:nvSpPr>
          <p:cNvPr id="18" name="Text 14"/>
          <p:cNvSpPr/>
          <p:nvPr/>
        </p:nvSpPr>
        <p:spPr>
          <a:xfrm>
            <a:off x="4901184" y="1664208"/>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Heats fluid to drive a steam turbine</a:t>
            </a:r>
            <a:endParaRPr lang="en-US" sz="1000" dirty="0"/>
          </a:p>
        </p:txBody>
      </p:sp>
      <p:sp>
        <p:nvSpPr>
          <p:cNvPr id="19" name="Text 15"/>
          <p:cNvSpPr/>
          <p:nvPr/>
        </p:nvSpPr>
        <p:spPr>
          <a:xfrm>
            <a:off x="4901184" y="2002536"/>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Best for large utility-scale power plants</a:t>
            </a:r>
            <a:endParaRPr lang="en-US" sz="1000" dirty="0"/>
          </a:p>
        </p:txBody>
      </p:sp>
      <p:sp>
        <p:nvSpPr>
          <p:cNvPr id="20" name="Text 16"/>
          <p:cNvSpPr/>
          <p:nvPr/>
        </p:nvSpPr>
        <p:spPr>
          <a:xfrm>
            <a:off x="4901184" y="2340864"/>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Can store heat to generate electricity at night</a:t>
            </a:r>
            <a:endParaRPr lang="en-US" sz="1000" dirty="0"/>
          </a:p>
        </p:txBody>
      </p:sp>
      <p:sp>
        <p:nvSpPr>
          <p:cNvPr id="21" name="Shape 17"/>
          <p:cNvSpPr/>
          <p:nvPr/>
        </p:nvSpPr>
        <p:spPr>
          <a:xfrm>
            <a:off x="320040" y="2907792"/>
            <a:ext cx="4160520" cy="193852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8"/>
          <p:cNvSpPr/>
          <p:nvPr/>
        </p:nvSpPr>
        <p:spPr>
          <a:xfrm>
            <a:off x="320040" y="2907792"/>
            <a:ext cx="4160520" cy="457200"/>
          </a:xfrm>
          <a:prstGeom prst="rect">
            <a:avLst/>
          </a:prstGeom>
          <a:solidFill>
            <a:srgbClr val="1565C0"/>
          </a:solidFill>
          <a:ln/>
        </p:spPr>
      </p:sp>
      <p:pic>
        <p:nvPicPr>
          <p:cNvPr id="23" name="Image 2" descr="preencoded.png"/>
          <p:cNvPicPr>
            <a:picLocks noChangeAspect="1"/>
          </p:cNvPicPr>
          <p:nvPr/>
        </p:nvPicPr>
        <p:blipFill>
          <a:blip r:embed="rId3"/>
          <a:stretch>
            <a:fillRect/>
          </a:stretch>
        </p:blipFill>
        <p:spPr>
          <a:xfrm>
            <a:off x="411480" y="2971800"/>
            <a:ext cx="329184" cy="329184"/>
          </a:xfrm>
          <a:prstGeom prst="rect">
            <a:avLst/>
          </a:prstGeom>
        </p:spPr>
      </p:pic>
      <p:sp>
        <p:nvSpPr>
          <p:cNvPr id="24" name="Text 19"/>
          <p:cNvSpPr/>
          <p:nvPr/>
        </p:nvSpPr>
        <p:spPr>
          <a:xfrm>
            <a:off x="813816" y="2971800"/>
            <a:ext cx="352044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Solar Thermal Systems</a:t>
            </a:r>
            <a:endParaRPr lang="en-US" sz="1200" dirty="0"/>
          </a:p>
        </p:txBody>
      </p:sp>
      <p:sp>
        <p:nvSpPr>
          <p:cNvPr id="25" name="Text 20"/>
          <p:cNvSpPr/>
          <p:nvPr/>
        </p:nvSpPr>
        <p:spPr>
          <a:xfrm>
            <a:off x="466344" y="3429000"/>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Heats water for homes &amp; buildings</a:t>
            </a:r>
            <a:endParaRPr lang="en-US" sz="1000" dirty="0"/>
          </a:p>
        </p:txBody>
      </p:sp>
      <p:sp>
        <p:nvSpPr>
          <p:cNvPr id="26" name="Text 21"/>
          <p:cNvSpPr/>
          <p:nvPr/>
        </p:nvSpPr>
        <p:spPr>
          <a:xfrm>
            <a:off x="466344" y="3767328"/>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Common in hotels, hospitals &amp; swimming pools</a:t>
            </a:r>
            <a:endParaRPr lang="en-US" sz="1000" dirty="0"/>
          </a:p>
        </p:txBody>
      </p:sp>
      <p:sp>
        <p:nvSpPr>
          <p:cNvPr id="27" name="Text 22"/>
          <p:cNvSpPr/>
          <p:nvPr/>
        </p:nvSpPr>
        <p:spPr>
          <a:xfrm>
            <a:off x="466344" y="4105656"/>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Simple tech with low maintenance costs</a:t>
            </a:r>
            <a:endParaRPr lang="en-US" sz="1000" dirty="0"/>
          </a:p>
        </p:txBody>
      </p:sp>
      <p:sp>
        <p:nvSpPr>
          <p:cNvPr id="28" name="Text 23"/>
          <p:cNvSpPr/>
          <p:nvPr/>
        </p:nvSpPr>
        <p:spPr>
          <a:xfrm>
            <a:off x="466344" y="4443984"/>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Widely used in Mediterranean, India &amp; China</a:t>
            </a:r>
            <a:endParaRPr lang="en-US" sz="1000" dirty="0"/>
          </a:p>
        </p:txBody>
      </p:sp>
      <p:sp>
        <p:nvSpPr>
          <p:cNvPr id="29" name="Shape 24"/>
          <p:cNvSpPr/>
          <p:nvPr/>
        </p:nvSpPr>
        <p:spPr>
          <a:xfrm>
            <a:off x="4754880" y="2907792"/>
            <a:ext cx="4160520" cy="193852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5"/>
          <p:cNvSpPr/>
          <p:nvPr/>
        </p:nvSpPr>
        <p:spPr>
          <a:xfrm>
            <a:off x="4754880" y="2907792"/>
            <a:ext cx="4160520" cy="457200"/>
          </a:xfrm>
          <a:prstGeom prst="rect">
            <a:avLst/>
          </a:prstGeom>
          <a:solidFill>
            <a:srgbClr val="2E7D32"/>
          </a:solidFill>
          <a:ln/>
        </p:spPr>
      </p:sp>
      <p:pic>
        <p:nvPicPr>
          <p:cNvPr id="31" name="Image 3" descr="preencoded.png"/>
          <p:cNvPicPr>
            <a:picLocks noChangeAspect="1"/>
          </p:cNvPicPr>
          <p:nvPr/>
        </p:nvPicPr>
        <p:blipFill>
          <a:blip r:embed="rId4"/>
          <a:stretch>
            <a:fillRect/>
          </a:stretch>
        </p:blipFill>
        <p:spPr>
          <a:xfrm>
            <a:off x="4846320" y="2971800"/>
            <a:ext cx="329184" cy="329184"/>
          </a:xfrm>
          <a:prstGeom prst="rect">
            <a:avLst/>
          </a:prstGeom>
        </p:spPr>
      </p:pic>
      <p:sp>
        <p:nvSpPr>
          <p:cNvPr id="32" name="Text 26"/>
          <p:cNvSpPr/>
          <p:nvPr/>
        </p:nvSpPr>
        <p:spPr>
          <a:xfrm>
            <a:off x="5248656" y="2971800"/>
            <a:ext cx="352044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Building-Integrated PV (BIPV)</a:t>
            </a:r>
            <a:endParaRPr lang="en-US" sz="1200" dirty="0"/>
          </a:p>
        </p:txBody>
      </p:sp>
      <p:sp>
        <p:nvSpPr>
          <p:cNvPr id="33" name="Text 27"/>
          <p:cNvSpPr/>
          <p:nvPr/>
        </p:nvSpPr>
        <p:spPr>
          <a:xfrm>
            <a:off x="4901184" y="3429000"/>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Solar cells built into roof tiles or windows</a:t>
            </a:r>
            <a:endParaRPr lang="en-US" sz="1000" dirty="0"/>
          </a:p>
        </p:txBody>
      </p:sp>
      <p:sp>
        <p:nvSpPr>
          <p:cNvPr id="34" name="Text 28"/>
          <p:cNvSpPr/>
          <p:nvPr/>
        </p:nvSpPr>
        <p:spPr>
          <a:xfrm>
            <a:off x="4901184" y="3767328"/>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Tesla Solar Roof is a prime example</a:t>
            </a:r>
            <a:endParaRPr lang="en-US" sz="1000" dirty="0"/>
          </a:p>
        </p:txBody>
      </p:sp>
      <p:sp>
        <p:nvSpPr>
          <p:cNvPr id="35" name="Text 29"/>
          <p:cNvSpPr/>
          <p:nvPr/>
        </p:nvSpPr>
        <p:spPr>
          <a:xfrm>
            <a:off x="4901184" y="4105656"/>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Aesthetic — no visible separate panels</a:t>
            </a:r>
            <a:endParaRPr lang="en-US" sz="1000" dirty="0"/>
          </a:p>
        </p:txBody>
      </p:sp>
      <p:sp>
        <p:nvSpPr>
          <p:cNvPr id="36" name="Text 30"/>
          <p:cNvSpPr/>
          <p:nvPr/>
        </p:nvSpPr>
        <p:spPr>
          <a:xfrm>
            <a:off x="4901184" y="4443984"/>
            <a:ext cx="3840480" cy="338328"/>
          </a:xfrm>
          <a:prstGeom prst="rect">
            <a:avLst/>
          </a:prstGeom>
          <a:noFill/>
          <a:ln/>
        </p:spPr>
        <p:txBody>
          <a:bodyPr wrap="square" rtlCol="0" anchor="ctr"/>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Growing in smart &amp; sustainable architecture</a:t>
            </a:r>
            <a:endParaRPr lang="en-US" sz="1000" dirty="0"/>
          </a:p>
        </p:txBody>
      </p:sp>
      <p:sp>
        <p:nvSpPr>
          <p:cNvPr id="37" name="Text 31"/>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F5EB"/>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7D32"/>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ADVANTAGES OF SOLAR ENERGY</a:t>
            </a:r>
            <a:endParaRPr lang="en-US" sz="2200" dirty="0"/>
          </a:p>
        </p:txBody>
      </p:sp>
      <p:sp>
        <p:nvSpPr>
          <p:cNvPr id="5" name="Shape 3"/>
          <p:cNvSpPr/>
          <p:nvPr/>
        </p:nvSpPr>
        <p:spPr>
          <a:xfrm>
            <a:off x="274320" y="84124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6" name="Shape 4"/>
          <p:cNvSpPr/>
          <p:nvPr/>
        </p:nvSpPr>
        <p:spPr>
          <a:xfrm>
            <a:off x="274320" y="841248"/>
            <a:ext cx="2743200" cy="54864"/>
          </a:xfrm>
          <a:prstGeom prst="rect">
            <a:avLst/>
          </a:prstGeom>
          <a:solidFill>
            <a:srgbClr val="2E7D32"/>
          </a:solidFill>
          <a:ln/>
        </p:spPr>
      </p:sp>
      <p:sp>
        <p:nvSpPr>
          <p:cNvPr id="7" name="Shape 5"/>
          <p:cNvSpPr/>
          <p:nvPr/>
        </p:nvSpPr>
        <p:spPr>
          <a:xfrm>
            <a:off x="457200" y="1042416"/>
            <a:ext cx="548640" cy="548640"/>
          </a:xfrm>
          <a:prstGeom prst="ellipse">
            <a:avLst/>
          </a:prstGeom>
          <a:solidFill>
            <a:srgbClr val="2E7D32"/>
          </a:solidFill>
          <a:ln/>
        </p:spPr>
      </p:sp>
      <p:pic>
        <p:nvPicPr>
          <p:cNvPr id="8" name="Image 0" descr="preencoded.png"/>
          <p:cNvPicPr>
            <a:picLocks noChangeAspect="1"/>
          </p:cNvPicPr>
          <p:nvPr/>
        </p:nvPicPr>
        <p:blipFill>
          <a:blip r:embed="rId1"/>
          <a:stretch>
            <a:fillRect/>
          </a:stretch>
        </p:blipFill>
        <p:spPr>
          <a:xfrm>
            <a:off x="553212" y="1138428"/>
            <a:ext cx="356616" cy="356616"/>
          </a:xfrm>
          <a:prstGeom prst="rect">
            <a:avLst/>
          </a:prstGeom>
        </p:spPr>
      </p:pic>
      <p:sp>
        <p:nvSpPr>
          <p:cNvPr id="9" name="Text 6"/>
          <p:cNvSpPr/>
          <p:nvPr/>
        </p:nvSpPr>
        <p:spPr>
          <a:xfrm>
            <a:off x="411480" y="168249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Clean &amp; Renewable</a:t>
            </a:r>
            <a:endParaRPr lang="en-US" sz="1100" dirty="0"/>
          </a:p>
        </p:txBody>
      </p:sp>
      <p:sp>
        <p:nvSpPr>
          <p:cNvPr id="10" name="Text 7"/>
          <p:cNvSpPr/>
          <p:nvPr/>
        </p:nvSpPr>
        <p:spPr>
          <a:xfrm>
            <a:off x="384048" y="201168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Zero greenhouse gas emissions during operation. Sunlight is inexhaustible — free for billions of years to come.</a:t>
            </a:r>
            <a:endParaRPr lang="en-US" sz="900" dirty="0"/>
          </a:p>
        </p:txBody>
      </p:sp>
      <p:sp>
        <p:nvSpPr>
          <p:cNvPr id="11" name="Shape 8"/>
          <p:cNvSpPr/>
          <p:nvPr/>
        </p:nvSpPr>
        <p:spPr>
          <a:xfrm>
            <a:off x="3200400" y="84124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12" name="Shape 9"/>
          <p:cNvSpPr/>
          <p:nvPr/>
        </p:nvSpPr>
        <p:spPr>
          <a:xfrm>
            <a:off x="3200400" y="841248"/>
            <a:ext cx="2743200" cy="54864"/>
          </a:xfrm>
          <a:prstGeom prst="rect">
            <a:avLst/>
          </a:prstGeom>
          <a:solidFill>
            <a:srgbClr val="FF8F00"/>
          </a:solidFill>
          <a:ln/>
        </p:spPr>
      </p:sp>
      <p:sp>
        <p:nvSpPr>
          <p:cNvPr id="13" name="Shape 10"/>
          <p:cNvSpPr/>
          <p:nvPr/>
        </p:nvSpPr>
        <p:spPr>
          <a:xfrm>
            <a:off x="3383280" y="1042416"/>
            <a:ext cx="548640" cy="548640"/>
          </a:xfrm>
          <a:prstGeom prst="ellipse">
            <a:avLst/>
          </a:prstGeom>
          <a:solidFill>
            <a:srgbClr val="FF8F00"/>
          </a:solidFill>
          <a:ln/>
        </p:spPr>
      </p:sp>
      <p:pic>
        <p:nvPicPr>
          <p:cNvPr id="14" name="Image 1" descr="preencoded.png"/>
          <p:cNvPicPr>
            <a:picLocks noChangeAspect="1"/>
          </p:cNvPicPr>
          <p:nvPr/>
        </p:nvPicPr>
        <p:blipFill>
          <a:blip r:embed="rId2"/>
          <a:stretch>
            <a:fillRect/>
          </a:stretch>
        </p:blipFill>
        <p:spPr>
          <a:xfrm>
            <a:off x="3479292" y="1138428"/>
            <a:ext cx="356616" cy="356616"/>
          </a:xfrm>
          <a:prstGeom prst="rect">
            <a:avLst/>
          </a:prstGeom>
        </p:spPr>
      </p:pic>
      <p:sp>
        <p:nvSpPr>
          <p:cNvPr id="15" name="Text 11"/>
          <p:cNvSpPr/>
          <p:nvPr/>
        </p:nvSpPr>
        <p:spPr>
          <a:xfrm>
            <a:off x="3337560" y="168249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Reduces Electricity Bills</a:t>
            </a:r>
            <a:endParaRPr lang="en-US" sz="1100" dirty="0"/>
          </a:p>
        </p:txBody>
      </p:sp>
      <p:sp>
        <p:nvSpPr>
          <p:cNvPr id="16" name="Text 12"/>
          <p:cNvSpPr/>
          <p:nvPr/>
        </p:nvSpPr>
        <p:spPr>
          <a:xfrm>
            <a:off x="3310128" y="201168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Homeowners cut bills by 50–90%. Excess energy can be sold back to the grid through net metering programs.</a:t>
            </a:r>
            <a:endParaRPr lang="en-US" sz="900" dirty="0"/>
          </a:p>
        </p:txBody>
      </p:sp>
      <p:sp>
        <p:nvSpPr>
          <p:cNvPr id="17" name="Shape 13"/>
          <p:cNvSpPr/>
          <p:nvPr/>
        </p:nvSpPr>
        <p:spPr>
          <a:xfrm>
            <a:off x="6126480" y="84124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18" name="Shape 14"/>
          <p:cNvSpPr/>
          <p:nvPr/>
        </p:nvSpPr>
        <p:spPr>
          <a:xfrm>
            <a:off x="6126480" y="841248"/>
            <a:ext cx="2743200" cy="54864"/>
          </a:xfrm>
          <a:prstGeom prst="rect">
            <a:avLst/>
          </a:prstGeom>
          <a:solidFill>
            <a:srgbClr val="1565C0"/>
          </a:solidFill>
          <a:ln/>
        </p:spPr>
      </p:sp>
      <p:sp>
        <p:nvSpPr>
          <p:cNvPr id="19" name="Shape 15"/>
          <p:cNvSpPr/>
          <p:nvPr/>
        </p:nvSpPr>
        <p:spPr>
          <a:xfrm>
            <a:off x="6309360" y="1042416"/>
            <a:ext cx="548640" cy="548640"/>
          </a:xfrm>
          <a:prstGeom prst="ellipse">
            <a:avLst/>
          </a:prstGeom>
          <a:solidFill>
            <a:srgbClr val="1565C0"/>
          </a:solidFill>
          <a:ln/>
        </p:spPr>
      </p:sp>
      <p:pic>
        <p:nvPicPr>
          <p:cNvPr id="20" name="Image 2" descr="preencoded.png"/>
          <p:cNvPicPr>
            <a:picLocks noChangeAspect="1"/>
          </p:cNvPicPr>
          <p:nvPr/>
        </p:nvPicPr>
        <p:blipFill>
          <a:blip r:embed="rId3"/>
          <a:stretch>
            <a:fillRect/>
          </a:stretch>
        </p:blipFill>
        <p:spPr>
          <a:xfrm>
            <a:off x="6405372" y="1138428"/>
            <a:ext cx="356616" cy="356616"/>
          </a:xfrm>
          <a:prstGeom prst="rect">
            <a:avLst/>
          </a:prstGeom>
        </p:spPr>
      </p:pic>
      <p:sp>
        <p:nvSpPr>
          <p:cNvPr id="21" name="Text 16"/>
          <p:cNvSpPr/>
          <p:nvPr/>
        </p:nvSpPr>
        <p:spPr>
          <a:xfrm>
            <a:off x="6263640" y="168249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Energy Independence</a:t>
            </a:r>
            <a:endParaRPr lang="en-US" sz="1100" dirty="0"/>
          </a:p>
        </p:txBody>
      </p:sp>
      <p:sp>
        <p:nvSpPr>
          <p:cNvPr id="22" name="Text 17"/>
          <p:cNvSpPr/>
          <p:nvPr/>
        </p:nvSpPr>
        <p:spPr>
          <a:xfrm>
            <a:off x="6236208" y="201168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Nations can reduce reliance on imported fossil fuels. Remote villages can generate their own off-grid power.</a:t>
            </a:r>
            <a:endParaRPr lang="en-US" sz="900" dirty="0"/>
          </a:p>
        </p:txBody>
      </p:sp>
      <p:sp>
        <p:nvSpPr>
          <p:cNvPr id="23" name="Shape 18"/>
          <p:cNvSpPr/>
          <p:nvPr/>
        </p:nvSpPr>
        <p:spPr>
          <a:xfrm>
            <a:off x="274320" y="285292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24" name="Shape 19"/>
          <p:cNvSpPr/>
          <p:nvPr/>
        </p:nvSpPr>
        <p:spPr>
          <a:xfrm>
            <a:off x="274320" y="2852928"/>
            <a:ext cx="2743200" cy="54864"/>
          </a:xfrm>
          <a:prstGeom prst="rect">
            <a:avLst/>
          </a:prstGeom>
          <a:solidFill>
            <a:srgbClr val="E65100"/>
          </a:solidFill>
          <a:ln/>
        </p:spPr>
      </p:sp>
      <p:sp>
        <p:nvSpPr>
          <p:cNvPr id="25" name="Shape 20"/>
          <p:cNvSpPr/>
          <p:nvPr/>
        </p:nvSpPr>
        <p:spPr>
          <a:xfrm>
            <a:off x="457200" y="3054096"/>
            <a:ext cx="548640" cy="548640"/>
          </a:xfrm>
          <a:prstGeom prst="ellipse">
            <a:avLst/>
          </a:prstGeom>
          <a:solidFill>
            <a:srgbClr val="E65100"/>
          </a:solidFill>
          <a:ln/>
        </p:spPr>
      </p:sp>
      <p:pic>
        <p:nvPicPr>
          <p:cNvPr id="26" name="Image 3" descr="preencoded.png"/>
          <p:cNvPicPr>
            <a:picLocks noChangeAspect="1"/>
          </p:cNvPicPr>
          <p:nvPr/>
        </p:nvPicPr>
        <p:blipFill>
          <a:blip r:embed="rId4"/>
          <a:stretch>
            <a:fillRect/>
          </a:stretch>
        </p:blipFill>
        <p:spPr>
          <a:xfrm>
            <a:off x="553212" y="3150108"/>
            <a:ext cx="356616" cy="356616"/>
          </a:xfrm>
          <a:prstGeom prst="rect">
            <a:avLst/>
          </a:prstGeom>
        </p:spPr>
      </p:pic>
      <p:sp>
        <p:nvSpPr>
          <p:cNvPr id="27" name="Text 21"/>
          <p:cNvSpPr/>
          <p:nvPr/>
        </p:nvSpPr>
        <p:spPr>
          <a:xfrm>
            <a:off x="411480" y="369417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Low Maintenance</a:t>
            </a:r>
            <a:endParaRPr lang="en-US" sz="1100" dirty="0"/>
          </a:p>
        </p:txBody>
      </p:sp>
      <p:sp>
        <p:nvSpPr>
          <p:cNvPr id="28" name="Text 22"/>
          <p:cNvSpPr/>
          <p:nvPr/>
        </p:nvSpPr>
        <p:spPr>
          <a:xfrm>
            <a:off x="384048" y="402336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No moving parts. Minimal upkeep after installation. Solar panels last 25–30 years with only occasional cleaning.</a:t>
            </a:r>
            <a:endParaRPr lang="en-US" sz="900" dirty="0"/>
          </a:p>
        </p:txBody>
      </p:sp>
      <p:sp>
        <p:nvSpPr>
          <p:cNvPr id="29" name="Shape 23"/>
          <p:cNvSpPr/>
          <p:nvPr/>
        </p:nvSpPr>
        <p:spPr>
          <a:xfrm>
            <a:off x="3200400" y="285292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30" name="Shape 24"/>
          <p:cNvSpPr/>
          <p:nvPr/>
        </p:nvSpPr>
        <p:spPr>
          <a:xfrm>
            <a:off x="3200400" y="2852928"/>
            <a:ext cx="2743200" cy="54864"/>
          </a:xfrm>
          <a:prstGeom prst="rect">
            <a:avLst/>
          </a:prstGeom>
          <a:solidFill>
            <a:srgbClr val="4527A0"/>
          </a:solidFill>
          <a:ln/>
        </p:spPr>
      </p:sp>
      <p:sp>
        <p:nvSpPr>
          <p:cNvPr id="31" name="Shape 25"/>
          <p:cNvSpPr/>
          <p:nvPr/>
        </p:nvSpPr>
        <p:spPr>
          <a:xfrm>
            <a:off x="3383280" y="3054096"/>
            <a:ext cx="548640" cy="548640"/>
          </a:xfrm>
          <a:prstGeom prst="ellipse">
            <a:avLst/>
          </a:prstGeom>
          <a:solidFill>
            <a:srgbClr val="4527A0"/>
          </a:solidFill>
          <a:ln/>
        </p:spPr>
      </p:sp>
      <p:pic>
        <p:nvPicPr>
          <p:cNvPr id="32" name="Image 4" descr="preencoded.png"/>
          <p:cNvPicPr>
            <a:picLocks noChangeAspect="1"/>
          </p:cNvPicPr>
          <p:nvPr/>
        </p:nvPicPr>
        <p:blipFill>
          <a:blip r:embed="rId5"/>
          <a:stretch>
            <a:fillRect/>
          </a:stretch>
        </p:blipFill>
        <p:spPr>
          <a:xfrm>
            <a:off x="3479292" y="3150108"/>
            <a:ext cx="356616" cy="356616"/>
          </a:xfrm>
          <a:prstGeom prst="rect">
            <a:avLst/>
          </a:prstGeom>
        </p:spPr>
      </p:pic>
      <p:sp>
        <p:nvSpPr>
          <p:cNvPr id="33" name="Text 26"/>
          <p:cNvSpPr/>
          <p:nvPr/>
        </p:nvSpPr>
        <p:spPr>
          <a:xfrm>
            <a:off x="3337560" y="369417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Creates Millions of Jobs</a:t>
            </a:r>
            <a:endParaRPr lang="en-US" sz="1100" dirty="0"/>
          </a:p>
        </p:txBody>
      </p:sp>
      <p:sp>
        <p:nvSpPr>
          <p:cNvPr id="34" name="Text 27"/>
          <p:cNvSpPr/>
          <p:nvPr/>
        </p:nvSpPr>
        <p:spPr>
          <a:xfrm>
            <a:off x="3310128" y="402336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Solar employs 4M+ people globally across installation, manufacturing, engineering, and research roles.</a:t>
            </a:r>
            <a:endParaRPr lang="en-US" sz="900" dirty="0"/>
          </a:p>
        </p:txBody>
      </p:sp>
      <p:sp>
        <p:nvSpPr>
          <p:cNvPr id="35" name="Shape 28"/>
          <p:cNvSpPr/>
          <p:nvPr/>
        </p:nvSpPr>
        <p:spPr>
          <a:xfrm>
            <a:off x="6126480" y="2852928"/>
            <a:ext cx="2743200" cy="1828800"/>
          </a:xfrm>
          <a:prstGeom prst="rect">
            <a:avLst/>
          </a:prstGeom>
          <a:solidFill>
            <a:srgbClr val="FFFFFF"/>
          </a:solidFill>
          <a:ln/>
          <a:effectLst>
            <a:outerShdw sx="100000" sy="100000" kx="0" ky="0" algn="bl" rotWithShape="0" blurRad="76200" dist="25400" dir="8100000">
              <a:srgbClr val="000000">
                <a:alpha val="11000"/>
              </a:srgbClr>
            </a:outerShdw>
          </a:effectLst>
        </p:spPr>
      </p:sp>
      <p:sp>
        <p:nvSpPr>
          <p:cNvPr id="36" name="Shape 29"/>
          <p:cNvSpPr/>
          <p:nvPr/>
        </p:nvSpPr>
        <p:spPr>
          <a:xfrm>
            <a:off x="6126480" y="2852928"/>
            <a:ext cx="2743200" cy="54864"/>
          </a:xfrm>
          <a:prstGeom prst="rect">
            <a:avLst/>
          </a:prstGeom>
          <a:solidFill>
            <a:srgbClr val="004D40"/>
          </a:solidFill>
          <a:ln/>
        </p:spPr>
      </p:sp>
      <p:sp>
        <p:nvSpPr>
          <p:cNvPr id="37" name="Shape 30"/>
          <p:cNvSpPr/>
          <p:nvPr/>
        </p:nvSpPr>
        <p:spPr>
          <a:xfrm>
            <a:off x="6309360" y="3054096"/>
            <a:ext cx="548640" cy="548640"/>
          </a:xfrm>
          <a:prstGeom prst="ellipse">
            <a:avLst/>
          </a:prstGeom>
          <a:solidFill>
            <a:srgbClr val="004D40"/>
          </a:solidFill>
          <a:ln/>
        </p:spPr>
      </p:sp>
      <p:pic>
        <p:nvPicPr>
          <p:cNvPr id="38" name="Image 5" descr="preencoded.png"/>
          <p:cNvPicPr>
            <a:picLocks noChangeAspect="1"/>
          </p:cNvPicPr>
          <p:nvPr/>
        </p:nvPicPr>
        <p:blipFill>
          <a:blip r:embed="rId6"/>
          <a:stretch>
            <a:fillRect/>
          </a:stretch>
        </p:blipFill>
        <p:spPr>
          <a:xfrm>
            <a:off x="6405372" y="3150108"/>
            <a:ext cx="356616" cy="356616"/>
          </a:xfrm>
          <a:prstGeom prst="rect">
            <a:avLst/>
          </a:prstGeom>
        </p:spPr>
      </p:pic>
      <p:sp>
        <p:nvSpPr>
          <p:cNvPr id="39" name="Text 31"/>
          <p:cNvSpPr/>
          <p:nvPr/>
        </p:nvSpPr>
        <p:spPr>
          <a:xfrm>
            <a:off x="6263640" y="3694176"/>
            <a:ext cx="2468880" cy="329184"/>
          </a:xfrm>
          <a:prstGeom prst="rect">
            <a:avLst/>
          </a:prstGeom>
          <a:noFill/>
          <a:ln/>
        </p:spPr>
        <p:txBody>
          <a:bodyPr wrap="square" rtlCol="0" anchor="ctr"/>
          <a:lstStyle/>
          <a:p>
            <a:pPr algn="ctr" indent="0" marL="0">
              <a:buNone/>
            </a:pPr>
            <a:r>
              <a:rPr lang="en-US" sz="1100" b="1" dirty="0">
                <a:solidFill>
                  <a:srgbClr val="263238"/>
                </a:solidFill>
                <a:latin typeface="Arial" pitchFamily="34" charset="0"/>
                <a:ea typeface="Arial" pitchFamily="34" charset="-122"/>
                <a:cs typeface="Arial" pitchFamily="34" charset="-120"/>
              </a:rPr>
              <a:t>Scalable &amp; Versatile</a:t>
            </a:r>
            <a:endParaRPr lang="en-US" sz="1100" dirty="0"/>
          </a:p>
        </p:txBody>
      </p:sp>
      <p:sp>
        <p:nvSpPr>
          <p:cNvPr id="40" name="Text 32"/>
          <p:cNvSpPr/>
          <p:nvPr/>
        </p:nvSpPr>
        <p:spPr>
          <a:xfrm>
            <a:off x="6236208" y="4023360"/>
            <a:ext cx="2523744" cy="585216"/>
          </a:xfrm>
          <a:prstGeom prst="rect">
            <a:avLst/>
          </a:prstGeom>
          <a:noFill/>
          <a:ln/>
        </p:spPr>
        <p:txBody>
          <a:bodyPr wrap="square" rtlCol="0" anchor="ctr"/>
          <a:lstStyle/>
          <a:p>
            <a:pPr algn="ctr" indent="0" marL="0">
              <a:buNone/>
            </a:pPr>
            <a:r>
              <a:rPr lang="en-US" sz="900" dirty="0">
                <a:solidFill>
                  <a:srgbClr val="607D8B"/>
                </a:solidFill>
                <a:latin typeface="Calibri" pitchFamily="34" charset="0"/>
                <a:ea typeface="Calibri" pitchFamily="34" charset="-122"/>
                <a:cs typeface="Calibri" pitchFamily="34" charset="-120"/>
              </a:rPr>
              <a:t>Works at any scale — from a single solar phone charger to a 2,000 MW national power plant. Easy to expand.</a:t>
            </a:r>
            <a:endParaRPr lang="en-US" sz="900" dirty="0"/>
          </a:p>
        </p:txBody>
      </p:sp>
      <p:sp>
        <p:nvSpPr>
          <p:cNvPr id="41" name="Text 33"/>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6 / 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3F3"/>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B71C1C"/>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DISADVANTAGES OF SOLAR ENERGY</a:t>
            </a:r>
            <a:endParaRPr lang="en-US" sz="2200" dirty="0"/>
          </a:p>
        </p:txBody>
      </p:sp>
      <p:sp>
        <p:nvSpPr>
          <p:cNvPr id="5" name="Shape 3"/>
          <p:cNvSpPr/>
          <p:nvPr/>
        </p:nvSpPr>
        <p:spPr>
          <a:xfrm>
            <a:off x="274320" y="84124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274320" y="841248"/>
            <a:ext cx="73152" cy="1280160"/>
          </a:xfrm>
          <a:prstGeom prst="rect">
            <a:avLst/>
          </a:prstGeom>
          <a:solidFill>
            <a:srgbClr val="B71C1C"/>
          </a:solidFill>
          <a:ln/>
        </p:spPr>
      </p:sp>
      <p:pic>
        <p:nvPicPr>
          <p:cNvPr id="7" name="Image 0" descr="preencoded.png"/>
          <p:cNvPicPr>
            <a:picLocks noChangeAspect="1"/>
          </p:cNvPicPr>
          <p:nvPr/>
        </p:nvPicPr>
        <p:blipFill>
          <a:blip r:embed="rId1"/>
          <a:stretch>
            <a:fillRect/>
          </a:stretch>
        </p:blipFill>
        <p:spPr>
          <a:xfrm>
            <a:off x="438912" y="1261872"/>
            <a:ext cx="384048" cy="384048"/>
          </a:xfrm>
          <a:prstGeom prst="rect">
            <a:avLst/>
          </a:prstGeom>
        </p:spPr>
      </p:pic>
      <p:sp>
        <p:nvSpPr>
          <p:cNvPr id="8" name="Text 5"/>
          <p:cNvSpPr/>
          <p:nvPr/>
        </p:nvSpPr>
        <p:spPr>
          <a:xfrm>
            <a:off x="932688" y="932688"/>
            <a:ext cx="3383280" cy="310896"/>
          </a:xfrm>
          <a:prstGeom prst="rect">
            <a:avLst/>
          </a:prstGeom>
          <a:noFill/>
          <a:ln/>
        </p:spPr>
        <p:txBody>
          <a:bodyPr wrap="square" lIns="0" tIns="0" rIns="0" bIns="0" rtlCol="0" anchor="ctr"/>
          <a:lstStyle/>
          <a:p>
            <a:pPr indent="0" marL="0">
              <a:buNone/>
            </a:pPr>
            <a:r>
              <a:rPr lang="en-US" sz="1200" b="1" dirty="0">
                <a:solidFill>
                  <a:srgbClr val="B71C1C"/>
                </a:solidFill>
                <a:latin typeface="Arial" pitchFamily="34" charset="0"/>
                <a:ea typeface="Arial" pitchFamily="34" charset="-122"/>
                <a:cs typeface="Arial" pitchFamily="34" charset="-120"/>
              </a:rPr>
              <a:t>Intermittent Supply</a:t>
            </a:r>
            <a:endParaRPr lang="en-US" sz="1200" dirty="0"/>
          </a:p>
        </p:txBody>
      </p:sp>
      <p:sp>
        <p:nvSpPr>
          <p:cNvPr id="9" name="Text 6"/>
          <p:cNvSpPr/>
          <p:nvPr/>
        </p:nvSpPr>
        <p:spPr>
          <a:xfrm>
            <a:off x="932688" y="126187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Solar generates power only when the sun shines. Cloudy days and nights require battery storage or backup grid connections.</a:t>
            </a:r>
            <a:endParaRPr lang="en-US" sz="950" dirty="0"/>
          </a:p>
        </p:txBody>
      </p:sp>
      <p:sp>
        <p:nvSpPr>
          <p:cNvPr id="10" name="Shape 7"/>
          <p:cNvSpPr/>
          <p:nvPr/>
        </p:nvSpPr>
        <p:spPr>
          <a:xfrm>
            <a:off x="4736592" y="84124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1" name="Shape 8"/>
          <p:cNvSpPr/>
          <p:nvPr/>
        </p:nvSpPr>
        <p:spPr>
          <a:xfrm>
            <a:off x="4736592" y="841248"/>
            <a:ext cx="73152" cy="1280160"/>
          </a:xfrm>
          <a:prstGeom prst="rect">
            <a:avLst/>
          </a:prstGeom>
          <a:solidFill>
            <a:srgbClr val="E65100"/>
          </a:solidFill>
          <a:ln/>
        </p:spPr>
      </p:sp>
      <p:pic>
        <p:nvPicPr>
          <p:cNvPr id="12" name="Image 1" descr="preencoded.png"/>
          <p:cNvPicPr>
            <a:picLocks noChangeAspect="1"/>
          </p:cNvPicPr>
          <p:nvPr/>
        </p:nvPicPr>
        <p:blipFill>
          <a:blip r:embed="rId2"/>
          <a:stretch>
            <a:fillRect/>
          </a:stretch>
        </p:blipFill>
        <p:spPr>
          <a:xfrm>
            <a:off x="4901184" y="1261872"/>
            <a:ext cx="384048" cy="384048"/>
          </a:xfrm>
          <a:prstGeom prst="rect">
            <a:avLst/>
          </a:prstGeom>
        </p:spPr>
      </p:pic>
      <p:sp>
        <p:nvSpPr>
          <p:cNvPr id="13" name="Text 9"/>
          <p:cNvSpPr/>
          <p:nvPr/>
        </p:nvSpPr>
        <p:spPr>
          <a:xfrm>
            <a:off x="5394960" y="932688"/>
            <a:ext cx="3383280" cy="310896"/>
          </a:xfrm>
          <a:prstGeom prst="rect">
            <a:avLst/>
          </a:prstGeom>
          <a:noFill/>
          <a:ln/>
        </p:spPr>
        <p:txBody>
          <a:bodyPr wrap="square" lIns="0" tIns="0" rIns="0" bIns="0" rtlCol="0" anchor="ctr"/>
          <a:lstStyle/>
          <a:p>
            <a:pPr indent="0" marL="0">
              <a:buNone/>
            </a:pPr>
            <a:r>
              <a:rPr lang="en-US" sz="1200" b="1" dirty="0">
                <a:solidFill>
                  <a:srgbClr val="E65100"/>
                </a:solidFill>
                <a:latin typeface="Arial" pitchFamily="34" charset="0"/>
                <a:ea typeface="Arial" pitchFamily="34" charset="-122"/>
                <a:cs typeface="Arial" pitchFamily="34" charset="-120"/>
              </a:rPr>
              <a:t>High Initial Cost</a:t>
            </a:r>
            <a:endParaRPr lang="en-US" sz="1200" dirty="0"/>
          </a:p>
        </p:txBody>
      </p:sp>
      <p:sp>
        <p:nvSpPr>
          <p:cNvPr id="14" name="Text 10"/>
          <p:cNvSpPr/>
          <p:nvPr/>
        </p:nvSpPr>
        <p:spPr>
          <a:xfrm>
            <a:off x="5394960" y="126187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Home systems cost $10,000–$30,000 upfront. Though prices fell 90% in a decade, the initial investment remains a barrier.</a:t>
            </a:r>
            <a:endParaRPr lang="en-US" sz="950" dirty="0"/>
          </a:p>
        </p:txBody>
      </p:sp>
      <p:sp>
        <p:nvSpPr>
          <p:cNvPr id="15" name="Shape 11"/>
          <p:cNvSpPr/>
          <p:nvPr/>
        </p:nvSpPr>
        <p:spPr>
          <a:xfrm>
            <a:off x="274320" y="225856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2"/>
          <p:cNvSpPr/>
          <p:nvPr/>
        </p:nvSpPr>
        <p:spPr>
          <a:xfrm>
            <a:off x="274320" y="2258568"/>
            <a:ext cx="73152" cy="1280160"/>
          </a:xfrm>
          <a:prstGeom prst="rect">
            <a:avLst/>
          </a:prstGeom>
          <a:solidFill>
            <a:srgbClr val="FF8F00"/>
          </a:solidFill>
          <a:ln/>
        </p:spPr>
      </p:sp>
      <p:pic>
        <p:nvPicPr>
          <p:cNvPr id="17" name="Image 2" descr="preencoded.png"/>
          <p:cNvPicPr>
            <a:picLocks noChangeAspect="1"/>
          </p:cNvPicPr>
          <p:nvPr/>
        </p:nvPicPr>
        <p:blipFill>
          <a:blip r:embed="rId3"/>
          <a:stretch>
            <a:fillRect/>
          </a:stretch>
        </p:blipFill>
        <p:spPr>
          <a:xfrm>
            <a:off x="438912" y="2679192"/>
            <a:ext cx="384048" cy="384048"/>
          </a:xfrm>
          <a:prstGeom prst="rect">
            <a:avLst/>
          </a:prstGeom>
        </p:spPr>
      </p:pic>
      <p:sp>
        <p:nvSpPr>
          <p:cNvPr id="18" name="Text 13"/>
          <p:cNvSpPr/>
          <p:nvPr/>
        </p:nvSpPr>
        <p:spPr>
          <a:xfrm>
            <a:off x="932688" y="2350008"/>
            <a:ext cx="3383280" cy="310896"/>
          </a:xfrm>
          <a:prstGeom prst="rect">
            <a:avLst/>
          </a:prstGeom>
          <a:noFill/>
          <a:ln/>
        </p:spPr>
        <p:txBody>
          <a:bodyPr wrap="square" lIns="0" tIns="0" rIns="0" bIns="0" rtlCol="0" anchor="ctr"/>
          <a:lstStyle/>
          <a:p>
            <a:pPr indent="0" marL="0">
              <a:buNone/>
            </a:pPr>
            <a:r>
              <a:rPr lang="en-US" sz="1200" b="1" dirty="0">
                <a:solidFill>
                  <a:srgbClr val="FF8F00"/>
                </a:solidFill>
                <a:latin typeface="Arial" pitchFamily="34" charset="0"/>
                <a:ea typeface="Arial" pitchFamily="34" charset="-122"/>
                <a:cs typeface="Arial" pitchFamily="34" charset="-120"/>
              </a:rPr>
              <a:t>Large Land Requirement</a:t>
            </a:r>
            <a:endParaRPr lang="en-US" sz="1200" dirty="0"/>
          </a:p>
        </p:txBody>
      </p:sp>
      <p:sp>
        <p:nvSpPr>
          <p:cNvPr id="19" name="Text 14"/>
          <p:cNvSpPr/>
          <p:nvPr/>
        </p:nvSpPr>
        <p:spPr>
          <a:xfrm>
            <a:off x="932688" y="267919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Utility-scale farms need 5–10 square miles per 1 GW. This competes with agriculture and natural habitats in land-scarce regions.</a:t>
            </a:r>
            <a:endParaRPr lang="en-US" sz="950" dirty="0"/>
          </a:p>
        </p:txBody>
      </p:sp>
      <p:sp>
        <p:nvSpPr>
          <p:cNvPr id="20" name="Shape 15"/>
          <p:cNvSpPr/>
          <p:nvPr/>
        </p:nvSpPr>
        <p:spPr>
          <a:xfrm>
            <a:off x="4736592" y="225856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6"/>
          <p:cNvSpPr/>
          <p:nvPr/>
        </p:nvSpPr>
        <p:spPr>
          <a:xfrm>
            <a:off x="4736592" y="2258568"/>
            <a:ext cx="73152" cy="1280160"/>
          </a:xfrm>
          <a:prstGeom prst="rect">
            <a:avLst/>
          </a:prstGeom>
          <a:solidFill>
            <a:srgbClr val="1565C0"/>
          </a:solidFill>
          <a:ln/>
        </p:spPr>
      </p:sp>
      <p:pic>
        <p:nvPicPr>
          <p:cNvPr id="22" name="Image 3" descr="preencoded.png"/>
          <p:cNvPicPr>
            <a:picLocks noChangeAspect="1"/>
          </p:cNvPicPr>
          <p:nvPr/>
        </p:nvPicPr>
        <p:blipFill>
          <a:blip r:embed="rId4"/>
          <a:stretch>
            <a:fillRect/>
          </a:stretch>
        </p:blipFill>
        <p:spPr>
          <a:xfrm>
            <a:off x="4901184" y="2679192"/>
            <a:ext cx="384048" cy="384048"/>
          </a:xfrm>
          <a:prstGeom prst="rect">
            <a:avLst/>
          </a:prstGeom>
        </p:spPr>
      </p:pic>
      <p:sp>
        <p:nvSpPr>
          <p:cNvPr id="23" name="Text 17"/>
          <p:cNvSpPr/>
          <p:nvPr/>
        </p:nvSpPr>
        <p:spPr>
          <a:xfrm>
            <a:off x="5394960" y="2350008"/>
            <a:ext cx="3383280" cy="310896"/>
          </a:xfrm>
          <a:prstGeom prst="rect">
            <a:avLst/>
          </a:prstGeom>
          <a:noFill/>
          <a:ln/>
        </p:spPr>
        <p:txBody>
          <a:bodyPr wrap="square" lIns="0" tIns="0" rIns="0" bIns="0" rtlCol="0" anchor="ctr"/>
          <a:lstStyle/>
          <a:p>
            <a:pPr indent="0" marL="0">
              <a:buNone/>
            </a:pPr>
            <a:r>
              <a:rPr lang="en-US" sz="1200" b="1" dirty="0">
                <a:solidFill>
                  <a:srgbClr val="1565C0"/>
                </a:solidFill>
                <a:latin typeface="Arial" pitchFamily="34" charset="0"/>
                <a:ea typeface="Arial" pitchFamily="34" charset="-122"/>
                <a:cs typeface="Arial" pitchFamily="34" charset="-120"/>
              </a:rPr>
              <a:t>Energy Storage Costs</a:t>
            </a:r>
            <a:endParaRPr lang="en-US" sz="1200" dirty="0"/>
          </a:p>
        </p:txBody>
      </p:sp>
      <p:sp>
        <p:nvSpPr>
          <p:cNvPr id="24" name="Text 18"/>
          <p:cNvSpPr/>
          <p:nvPr/>
        </p:nvSpPr>
        <p:spPr>
          <a:xfrm>
            <a:off x="5394960" y="267919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Lithium-ion batteries to store solar power overnight remain expensive, adding 30–50% to total system cost.</a:t>
            </a:r>
            <a:endParaRPr lang="en-US" sz="950" dirty="0"/>
          </a:p>
        </p:txBody>
      </p:sp>
      <p:sp>
        <p:nvSpPr>
          <p:cNvPr id="25" name="Shape 19"/>
          <p:cNvSpPr/>
          <p:nvPr/>
        </p:nvSpPr>
        <p:spPr>
          <a:xfrm>
            <a:off x="274320" y="367588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6" name="Shape 20"/>
          <p:cNvSpPr/>
          <p:nvPr/>
        </p:nvSpPr>
        <p:spPr>
          <a:xfrm>
            <a:off x="274320" y="3675888"/>
            <a:ext cx="73152" cy="1280160"/>
          </a:xfrm>
          <a:prstGeom prst="rect">
            <a:avLst/>
          </a:prstGeom>
          <a:solidFill>
            <a:srgbClr val="2E7D32"/>
          </a:solidFill>
          <a:ln/>
        </p:spPr>
      </p:sp>
      <p:pic>
        <p:nvPicPr>
          <p:cNvPr id="27" name="Image 4" descr="preencoded.png"/>
          <p:cNvPicPr>
            <a:picLocks noChangeAspect="1"/>
          </p:cNvPicPr>
          <p:nvPr/>
        </p:nvPicPr>
        <p:blipFill>
          <a:blip r:embed="rId5"/>
          <a:stretch>
            <a:fillRect/>
          </a:stretch>
        </p:blipFill>
        <p:spPr>
          <a:xfrm>
            <a:off x="438912" y="4096512"/>
            <a:ext cx="384048" cy="384048"/>
          </a:xfrm>
          <a:prstGeom prst="rect">
            <a:avLst/>
          </a:prstGeom>
        </p:spPr>
      </p:pic>
      <p:sp>
        <p:nvSpPr>
          <p:cNvPr id="28" name="Text 21"/>
          <p:cNvSpPr/>
          <p:nvPr/>
        </p:nvSpPr>
        <p:spPr>
          <a:xfrm>
            <a:off x="932688" y="3767328"/>
            <a:ext cx="3383280" cy="310896"/>
          </a:xfrm>
          <a:prstGeom prst="rect">
            <a:avLst/>
          </a:prstGeom>
          <a:noFill/>
          <a:ln/>
        </p:spPr>
        <p:txBody>
          <a:bodyPr wrap="square" lIns="0" tIns="0" rIns="0" bIns="0" rtlCol="0" anchor="ctr"/>
          <a:lstStyle/>
          <a:p>
            <a:pPr indent="0" marL="0">
              <a:buNone/>
            </a:pPr>
            <a:r>
              <a:rPr lang="en-US" sz="1200" b="1" dirty="0">
                <a:solidFill>
                  <a:srgbClr val="2E7D32"/>
                </a:solidFill>
                <a:latin typeface="Arial" pitchFamily="34" charset="0"/>
                <a:ea typeface="Arial" pitchFamily="34" charset="-122"/>
                <a:cs typeface="Arial" pitchFamily="34" charset="-120"/>
              </a:rPr>
              <a:t>Efficiency Limitations</a:t>
            </a:r>
            <a:endParaRPr lang="en-US" sz="1200" dirty="0"/>
          </a:p>
        </p:txBody>
      </p:sp>
      <p:sp>
        <p:nvSpPr>
          <p:cNvPr id="29" name="Text 22"/>
          <p:cNvSpPr/>
          <p:nvPr/>
        </p:nvSpPr>
        <p:spPr>
          <a:xfrm>
            <a:off x="932688" y="409651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Commercial panels convert only 15–22% of sunlight. Much energy is lost as heat. Multi-junction cells in space reach 40% but are costly.</a:t>
            </a:r>
            <a:endParaRPr lang="en-US" sz="950" dirty="0"/>
          </a:p>
        </p:txBody>
      </p:sp>
      <p:sp>
        <p:nvSpPr>
          <p:cNvPr id="30" name="Shape 23"/>
          <p:cNvSpPr/>
          <p:nvPr/>
        </p:nvSpPr>
        <p:spPr>
          <a:xfrm>
            <a:off x="4736592" y="3675888"/>
            <a:ext cx="4206240" cy="12801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31" name="Shape 24"/>
          <p:cNvSpPr/>
          <p:nvPr/>
        </p:nvSpPr>
        <p:spPr>
          <a:xfrm>
            <a:off x="4736592" y="3675888"/>
            <a:ext cx="73152" cy="1280160"/>
          </a:xfrm>
          <a:prstGeom prst="rect">
            <a:avLst/>
          </a:prstGeom>
          <a:solidFill>
            <a:srgbClr val="4527A0"/>
          </a:solidFill>
          <a:ln/>
        </p:spPr>
      </p:sp>
      <p:pic>
        <p:nvPicPr>
          <p:cNvPr id="32" name="Image 5" descr="preencoded.png"/>
          <p:cNvPicPr>
            <a:picLocks noChangeAspect="1"/>
          </p:cNvPicPr>
          <p:nvPr/>
        </p:nvPicPr>
        <p:blipFill>
          <a:blip r:embed="rId6"/>
          <a:stretch>
            <a:fillRect/>
          </a:stretch>
        </p:blipFill>
        <p:spPr>
          <a:xfrm>
            <a:off x="4901184" y="4096512"/>
            <a:ext cx="384048" cy="384048"/>
          </a:xfrm>
          <a:prstGeom prst="rect">
            <a:avLst/>
          </a:prstGeom>
        </p:spPr>
      </p:pic>
      <p:sp>
        <p:nvSpPr>
          <p:cNvPr id="33" name="Text 25"/>
          <p:cNvSpPr/>
          <p:nvPr/>
        </p:nvSpPr>
        <p:spPr>
          <a:xfrm>
            <a:off x="5394960" y="3767328"/>
            <a:ext cx="3383280" cy="310896"/>
          </a:xfrm>
          <a:prstGeom prst="rect">
            <a:avLst/>
          </a:prstGeom>
          <a:noFill/>
          <a:ln/>
        </p:spPr>
        <p:txBody>
          <a:bodyPr wrap="square" lIns="0" tIns="0" rIns="0" bIns="0" rtlCol="0" anchor="ctr"/>
          <a:lstStyle/>
          <a:p>
            <a:pPr indent="0" marL="0">
              <a:buNone/>
            </a:pPr>
            <a:r>
              <a:rPr lang="en-US" sz="1200" b="1" dirty="0">
                <a:solidFill>
                  <a:srgbClr val="4527A0"/>
                </a:solidFill>
                <a:latin typeface="Arial" pitchFamily="34" charset="0"/>
                <a:ea typeface="Arial" pitchFamily="34" charset="-122"/>
                <a:cs typeface="Arial" pitchFamily="34" charset="-120"/>
              </a:rPr>
              <a:t>Manufacturing &amp; Recycling</a:t>
            </a:r>
            <a:endParaRPr lang="en-US" sz="1200" dirty="0"/>
          </a:p>
        </p:txBody>
      </p:sp>
      <p:sp>
        <p:nvSpPr>
          <p:cNvPr id="34" name="Text 26"/>
          <p:cNvSpPr/>
          <p:nvPr/>
        </p:nvSpPr>
        <p:spPr>
          <a:xfrm>
            <a:off x="5394960" y="4096512"/>
            <a:ext cx="3383280" cy="658368"/>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Silicon, silver, and cadmium in panels require energy to produce. End-of-life recycling infrastructure is still developing globally.</a:t>
            </a:r>
            <a:endParaRPr lang="en-US" sz="950" dirty="0"/>
          </a:p>
        </p:txBody>
      </p:sp>
      <p:sp>
        <p:nvSpPr>
          <p:cNvPr id="35" name="Text 27"/>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7 / 16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APPLICATIONS &amp; USES OF SOLAR ENERGY</a:t>
            </a:r>
            <a:endParaRPr lang="en-US" sz="2200" dirty="0"/>
          </a:p>
        </p:txBody>
      </p:sp>
      <p:sp>
        <p:nvSpPr>
          <p:cNvPr id="5" name="Shape 3"/>
          <p:cNvSpPr/>
          <p:nvPr/>
        </p:nvSpPr>
        <p:spPr>
          <a:xfrm>
            <a:off x="256032" y="8229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256032" y="822960"/>
            <a:ext cx="2697480" cy="457200"/>
          </a:xfrm>
          <a:prstGeom prst="rect">
            <a:avLst/>
          </a:prstGeom>
          <a:solidFill>
            <a:srgbClr val="FF8F00"/>
          </a:solidFill>
          <a:ln/>
        </p:spPr>
      </p:sp>
      <p:pic>
        <p:nvPicPr>
          <p:cNvPr id="7" name="Image 0" descr="preencoded.png"/>
          <p:cNvPicPr>
            <a:picLocks noChangeAspect="1"/>
          </p:cNvPicPr>
          <p:nvPr/>
        </p:nvPicPr>
        <p:blipFill>
          <a:blip r:embed="rId1"/>
          <a:stretch>
            <a:fillRect/>
          </a:stretch>
        </p:blipFill>
        <p:spPr>
          <a:xfrm>
            <a:off x="365760" y="886968"/>
            <a:ext cx="329184" cy="329184"/>
          </a:xfrm>
          <a:prstGeom prst="rect">
            <a:avLst/>
          </a:prstGeom>
        </p:spPr>
      </p:pic>
      <p:sp>
        <p:nvSpPr>
          <p:cNvPr id="8" name="Text 5"/>
          <p:cNvSpPr/>
          <p:nvPr/>
        </p:nvSpPr>
        <p:spPr>
          <a:xfrm>
            <a:off x="758952" y="8869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Residential</a:t>
            </a:r>
            <a:endParaRPr lang="en-US" sz="1250" dirty="0"/>
          </a:p>
        </p:txBody>
      </p:sp>
      <p:sp>
        <p:nvSpPr>
          <p:cNvPr id="9" name="Text 6"/>
          <p:cNvSpPr/>
          <p:nvPr/>
        </p:nvSpPr>
        <p:spPr>
          <a:xfrm>
            <a:off x="365760" y="13533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Rooftop panels power homes, heat water, and charge EVs. Millions of households worldwide are now fully energy self-sufficient.</a:t>
            </a:r>
            <a:endParaRPr lang="en-US" sz="950" dirty="0"/>
          </a:p>
        </p:txBody>
      </p:sp>
      <p:sp>
        <p:nvSpPr>
          <p:cNvPr id="10" name="Shape 7"/>
          <p:cNvSpPr/>
          <p:nvPr/>
        </p:nvSpPr>
        <p:spPr>
          <a:xfrm>
            <a:off x="3163824" y="8229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3163824" y="822960"/>
            <a:ext cx="2697480" cy="457200"/>
          </a:xfrm>
          <a:prstGeom prst="rect">
            <a:avLst/>
          </a:prstGeom>
          <a:solidFill>
            <a:srgbClr val="E65100"/>
          </a:solidFill>
          <a:ln/>
        </p:spPr>
      </p:sp>
      <p:pic>
        <p:nvPicPr>
          <p:cNvPr id="12" name="Image 1" descr="preencoded.png"/>
          <p:cNvPicPr>
            <a:picLocks noChangeAspect="1"/>
          </p:cNvPicPr>
          <p:nvPr/>
        </p:nvPicPr>
        <p:blipFill>
          <a:blip r:embed="rId2"/>
          <a:stretch>
            <a:fillRect/>
          </a:stretch>
        </p:blipFill>
        <p:spPr>
          <a:xfrm>
            <a:off x="3273552" y="886968"/>
            <a:ext cx="329184" cy="329184"/>
          </a:xfrm>
          <a:prstGeom prst="rect">
            <a:avLst/>
          </a:prstGeom>
        </p:spPr>
      </p:pic>
      <p:sp>
        <p:nvSpPr>
          <p:cNvPr id="13" name="Text 9"/>
          <p:cNvSpPr/>
          <p:nvPr/>
        </p:nvSpPr>
        <p:spPr>
          <a:xfrm>
            <a:off x="3666744" y="8869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Industrial</a:t>
            </a:r>
            <a:endParaRPr lang="en-US" sz="1250" dirty="0"/>
          </a:p>
        </p:txBody>
      </p:sp>
      <p:sp>
        <p:nvSpPr>
          <p:cNvPr id="14" name="Text 10"/>
          <p:cNvSpPr/>
          <p:nvPr/>
        </p:nvSpPr>
        <p:spPr>
          <a:xfrm>
            <a:off x="3273552" y="13533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Factories use solar to power production and reduce costs. Solar heat is used in food, textile, pharmaceutical &amp; chemical industries.</a:t>
            </a:r>
            <a:endParaRPr lang="en-US" sz="950" dirty="0"/>
          </a:p>
        </p:txBody>
      </p:sp>
      <p:sp>
        <p:nvSpPr>
          <p:cNvPr id="15" name="Shape 11"/>
          <p:cNvSpPr/>
          <p:nvPr/>
        </p:nvSpPr>
        <p:spPr>
          <a:xfrm>
            <a:off x="6071616" y="8229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6071616" y="822960"/>
            <a:ext cx="2697480" cy="457200"/>
          </a:xfrm>
          <a:prstGeom prst="rect">
            <a:avLst/>
          </a:prstGeom>
          <a:solidFill>
            <a:srgbClr val="1565C0"/>
          </a:solidFill>
          <a:ln/>
        </p:spPr>
      </p:sp>
      <p:pic>
        <p:nvPicPr>
          <p:cNvPr id="17" name="Image 2" descr="preencoded.png"/>
          <p:cNvPicPr>
            <a:picLocks noChangeAspect="1"/>
          </p:cNvPicPr>
          <p:nvPr/>
        </p:nvPicPr>
        <p:blipFill>
          <a:blip r:embed="rId3"/>
          <a:stretch>
            <a:fillRect/>
          </a:stretch>
        </p:blipFill>
        <p:spPr>
          <a:xfrm>
            <a:off x="6181344" y="886968"/>
            <a:ext cx="329184" cy="329184"/>
          </a:xfrm>
          <a:prstGeom prst="rect">
            <a:avLst/>
          </a:prstGeom>
        </p:spPr>
      </p:pic>
      <p:sp>
        <p:nvSpPr>
          <p:cNvPr id="18" name="Text 13"/>
          <p:cNvSpPr/>
          <p:nvPr/>
        </p:nvSpPr>
        <p:spPr>
          <a:xfrm>
            <a:off x="6574536" y="8869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Grid-Scale Power</a:t>
            </a:r>
            <a:endParaRPr lang="en-US" sz="1250" dirty="0"/>
          </a:p>
        </p:txBody>
      </p:sp>
      <p:sp>
        <p:nvSpPr>
          <p:cNvPr id="19" name="Text 14"/>
          <p:cNvSpPr/>
          <p:nvPr/>
        </p:nvSpPr>
        <p:spPr>
          <a:xfrm>
            <a:off x="6181344" y="13533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Massive solar farms feed electricity into national grids. A single large farm can power hundreds of thousands of homes continuously.</a:t>
            </a:r>
            <a:endParaRPr lang="en-US" sz="950" dirty="0"/>
          </a:p>
        </p:txBody>
      </p:sp>
      <p:sp>
        <p:nvSpPr>
          <p:cNvPr id="20" name="Shape 15"/>
          <p:cNvSpPr/>
          <p:nvPr/>
        </p:nvSpPr>
        <p:spPr>
          <a:xfrm>
            <a:off x="256032" y="28803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256032" y="2880360"/>
            <a:ext cx="2697480" cy="457200"/>
          </a:xfrm>
          <a:prstGeom prst="rect">
            <a:avLst/>
          </a:prstGeom>
          <a:solidFill>
            <a:srgbClr val="2E7D32"/>
          </a:solidFill>
          <a:ln/>
        </p:spPr>
      </p:sp>
      <p:pic>
        <p:nvPicPr>
          <p:cNvPr id="22" name="Image 3" descr="preencoded.png"/>
          <p:cNvPicPr>
            <a:picLocks noChangeAspect="1"/>
          </p:cNvPicPr>
          <p:nvPr/>
        </p:nvPicPr>
        <p:blipFill>
          <a:blip r:embed="rId4"/>
          <a:stretch>
            <a:fillRect/>
          </a:stretch>
        </p:blipFill>
        <p:spPr>
          <a:xfrm>
            <a:off x="365760" y="2944368"/>
            <a:ext cx="329184" cy="329184"/>
          </a:xfrm>
          <a:prstGeom prst="rect">
            <a:avLst/>
          </a:prstGeom>
        </p:spPr>
      </p:pic>
      <p:sp>
        <p:nvSpPr>
          <p:cNvPr id="23" name="Text 17"/>
          <p:cNvSpPr/>
          <p:nvPr/>
        </p:nvSpPr>
        <p:spPr>
          <a:xfrm>
            <a:off x="758952" y="29443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Transportation</a:t>
            </a:r>
            <a:endParaRPr lang="en-US" sz="1250" dirty="0"/>
          </a:p>
        </p:txBody>
      </p:sp>
      <p:sp>
        <p:nvSpPr>
          <p:cNvPr id="24" name="Text 18"/>
          <p:cNvSpPr/>
          <p:nvPr/>
        </p:nvSpPr>
        <p:spPr>
          <a:xfrm>
            <a:off x="365760" y="34107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Solar charges electric vehicles, powers solar boats, planes, and public buses. Solar road panels are being tested in France &amp; USA.</a:t>
            </a:r>
            <a:endParaRPr lang="en-US" sz="950" dirty="0"/>
          </a:p>
        </p:txBody>
      </p:sp>
      <p:sp>
        <p:nvSpPr>
          <p:cNvPr id="25" name="Shape 19"/>
          <p:cNvSpPr/>
          <p:nvPr/>
        </p:nvSpPr>
        <p:spPr>
          <a:xfrm>
            <a:off x="3163824" y="28803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0"/>
          <p:cNvSpPr/>
          <p:nvPr/>
        </p:nvSpPr>
        <p:spPr>
          <a:xfrm>
            <a:off x="3163824" y="2880360"/>
            <a:ext cx="2697480" cy="457200"/>
          </a:xfrm>
          <a:prstGeom prst="rect">
            <a:avLst/>
          </a:prstGeom>
          <a:solidFill>
            <a:srgbClr val="4527A0"/>
          </a:solidFill>
          <a:ln/>
        </p:spPr>
      </p:sp>
      <p:pic>
        <p:nvPicPr>
          <p:cNvPr id="27" name="Image 4" descr="preencoded.png"/>
          <p:cNvPicPr>
            <a:picLocks noChangeAspect="1"/>
          </p:cNvPicPr>
          <p:nvPr/>
        </p:nvPicPr>
        <p:blipFill>
          <a:blip r:embed="rId5"/>
          <a:stretch>
            <a:fillRect/>
          </a:stretch>
        </p:blipFill>
        <p:spPr>
          <a:xfrm>
            <a:off x="3273552" y="2944368"/>
            <a:ext cx="329184" cy="329184"/>
          </a:xfrm>
          <a:prstGeom prst="rect">
            <a:avLst/>
          </a:prstGeom>
        </p:spPr>
      </p:pic>
      <p:sp>
        <p:nvSpPr>
          <p:cNvPr id="28" name="Text 21"/>
          <p:cNvSpPr/>
          <p:nvPr/>
        </p:nvSpPr>
        <p:spPr>
          <a:xfrm>
            <a:off x="3666744" y="29443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Satellites &amp; Space</a:t>
            </a:r>
            <a:endParaRPr lang="en-US" sz="1250" dirty="0"/>
          </a:p>
        </p:txBody>
      </p:sp>
      <p:sp>
        <p:nvSpPr>
          <p:cNvPr id="29" name="Text 22"/>
          <p:cNvSpPr/>
          <p:nvPr/>
        </p:nvSpPr>
        <p:spPr>
          <a:xfrm>
            <a:off x="3273552" y="34107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Every satellite and the ISS runs entirely on solar. It is the only viable power source in orbit — without solar, space exploration stops.</a:t>
            </a:r>
            <a:endParaRPr lang="en-US" sz="950" dirty="0"/>
          </a:p>
        </p:txBody>
      </p:sp>
      <p:sp>
        <p:nvSpPr>
          <p:cNvPr id="30" name="Shape 23"/>
          <p:cNvSpPr/>
          <p:nvPr/>
        </p:nvSpPr>
        <p:spPr>
          <a:xfrm>
            <a:off x="6071616" y="288036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4"/>
          <p:cNvSpPr/>
          <p:nvPr/>
        </p:nvSpPr>
        <p:spPr>
          <a:xfrm>
            <a:off x="6071616" y="2880360"/>
            <a:ext cx="2697480" cy="457200"/>
          </a:xfrm>
          <a:prstGeom prst="rect">
            <a:avLst/>
          </a:prstGeom>
          <a:solidFill>
            <a:srgbClr val="004D40"/>
          </a:solidFill>
          <a:ln/>
        </p:spPr>
      </p:sp>
      <p:pic>
        <p:nvPicPr>
          <p:cNvPr id="32" name="Image 5" descr="preencoded.png"/>
          <p:cNvPicPr>
            <a:picLocks noChangeAspect="1"/>
          </p:cNvPicPr>
          <p:nvPr/>
        </p:nvPicPr>
        <p:blipFill>
          <a:blip r:embed="rId6"/>
          <a:stretch>
            <a:fillRect/>
          </a:stretch>
        </p:blipFill>
        <p:spPr>
          <a:xfrm>
            <a:off x="6181344" y="2944368"/>
            <a:ext cx="329184" cy="329184"/>
          </a:xfrm>
          <a:prstGeom prst="rect">
            <a:avLst/>
          </a:prstGeom>
        </p:spPr>
      </p:pic>
      <p:sp>
        <p:nvSpPr>
          <p:cNvPr id="33" name="Text 25"/>
          <p:cNvSpPr/>
          <p:nvPr/>
        </p:nvSpPr>
        <p:spPr>
          <a:xfrm>
            <a:off x="6574536" y="2944368"/>
            <a:ext cx="2103120"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Agriculture</a:t>
            </a:r>
            <a:endParaRPr lang="en-US" sz="1250" dirty="0"/>
          </a:p>
        </p:txBody>
      </p:sp>
      <p:sp>
        <p:nvSpPr>
          <p:cNvPr id="34" name="Text 26"/>
          <p:cNvSpPr/>
          <p:nvPr/>
        </p:nvSpPr>
        <p:spPr>
          <a:xfrm>
            <a:off x="6181344" y="3410712"/>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Solar-powered irrigation pumps and greenhouses are transforming farming across Africa, India, and South America — without the grid.</a:t>
            </a:r>
            <a:endParaRPr lang="en-US" sz="950" dirty="0"/>
          </a:p>
        </p:txBody>
      </p:sp>
      <p:sp>
        <p:nvSpPr>
          <p:cNvPr id="35" name="Text 27"/>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8 / 16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CASE STUDIES — World's Greatest Solar Projects</a:t>
            </a:r>
            <a:endParaRPr lang="en-US" sz="2200" dirty="0"/>
          </a:p>
        </p:txBody>
      </p:sp>
      <p:sp>
        <p:nvSpPr>
          <p:cNvPr id="5" name="Shape 3"/>
          <p:cNvSpPr/>
          <p:nvPr/>
        </p:nvSpPr>
        <p:spPr>
          <a:xfrm>
            <a:off x="320040" y="841248"/>
            <a:ext cx="8503920" cy="960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20040" y="841248"/>
            <a:ext cx="73152" cy="960120"/>
          </a:xfrm>
          <a:prstGeom prst="rect">
            <a:avLst/>
          </a:prstGeom>
          <a:solidFill>
            <a:srgbClr val="FF8F00"/>
          </a:solidFill>
          <a:ln/>
        </p:spPr>
      </p:sp>
      <p:sp>
        <p:nvSpPr>
          <p:cNvPr id="7" name="Shape 5"/>
          <p:cNvSpPr/>
          <p:nvPr/>
        </p:nvSpPr>
        <p:spPr>
          <a:xfrm>
            <a:off x="7452360" y="1042416"/>
            <a:ext cx="1280160" cy="548640"/>
          </a:xfrm>
          <a:prstGeom prst="rect">
            <a:avLst/>
          </a:prstGeom>
          <a:solidFill>
            <a:srgbClr val="FF8F00"/>
          </a:solidFill>
          <a:ln/>
        </p:spPr>
      </p:sp>
      <p:sp>
        <p:nvSpPr>
          <p:cNvPr id="8" name="Text 6"/>
          <p:cNvSpPr/>
          <p:nvPr/>
        </p:nvSpPr>
        <p:spPr>
          <a:xfrm>
            <a:off x="7452360" y="1042416"/>
            <a:ext cx="1280160" cy="54864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2,245 MW</a:t>
            </a:r>
            <a:endParaRPr lang="en-US" sz="1300" dirty="0"/>
          </a:p>
        </p:txBody>
      </p:sp>
      <p:sp>
        <p:nvSpPr>
          <p:cNvPr id="9" name="Text 7"/>
          <p:cNvSpPr/>
          <p:nvPr/>
        </p:nvSpPr>
        <p:spPr>
          <a:xfrm>
            <a:off x="502920" y="905256"/>
            <a:ext cx="6675120" cy="292608"/>
          </a:xfrm>
          <a:prstGeom prst="rect">
            <a:avLst/>
          </a:prstGeom>
          <a:noFill/>
          <a:ln/>
        </p:spPr>
        <p:txBody>
          <a:bodyPr wrap="square" lIns="0" tIns="0" rIns="0" bIns="0" rtlCol="0" anchor="ctr"/>
          <a:lstStyle/>
          <a:p>
            <a:pPr indent="0" marL="0">
              <a:buNone/>
            </a:pPr>
            <a:r>
              <a:rPr lang="en-US" sz="1350" b="1" dirty="0">
                <a:solidFill>
                  <a:srgbClr val="0A1628"/>
                </a:solidFill>
                <a:latin typeface="Arial" pitchFamily="34" charset="0"/>
                <a:ea typeface="Arial" pitchFamily="34" charset="-122"/>
                <a:cs typeface="Arial" pitchFamily="34" charset="-120"/>
              </a:rPr>
              <a:t>Bhadla Solar Park</a:t>
            </a:r>
            <a:endParaRPr lang="en-US" sz="1350" dirty="0"/>
          </a:p>
        </p:txBody>
      </p:sp>
      <p:sp>
        <p:nvSpPr>
          <p:cNvPr id="10" name="Text 8"/>
          <p:cNvSpPr/>
          <p:nvPr/>
        </p:nvSpPr>
        <p:spPr>
          <a:xfrm>
            <a:off x="502920" y="1188720"/>
            <a:ext cx="3200400" cy="201168"/>
          </a:xfrm>
          <a:prstGeom prst="rect">
            <a:avLst/>
          </a:prstGeom>
          <a:noFill/>
          <a:ln/>
        </p:spPr>
        <p:txBody>
          <a:bodyPr wrap="square" lIns="0" tIns="0" rIns="0" bIns="0" rtlCol="0" anchor="ctr"/>
          <a:lstStyle/>
          <a:p>
            <a:pPr indent="0" marL="0">
              <a:buNone/>
            </a:pPr>
            <a:r>
              <a:rPr lang="en-US" sz="950" i="1" dirty="0">
                <a:solidFill>
                  <a:srgbClr val="FF8F00"/>
                </a:solidFill>
                <a:latin typeface="Calibri" pitchFamily="34" charset="0"/>
                <a:ea typeface="Calibri" pitchFamily="34" charset="-122"/>
                <a:cs typeface="Calibri" pitchFamily="34" charset="-120"/>
              </a:rPr>
              <a:t>Rajasthan, India</a:t>
            </a:r>
            <a:endParaRPr lang="en-US" sz="950" dirty="0"/>
          </a:p>
        </p:txBody>
      </p:sp>
      <p:sp>
        <p:nvSpPr>
          <p:cNvPr id="11" name="Text 9"/>
          <p:cNvSpPr/>
          <p:nvPr/>
        </p:nvSpPr>
        <p:spPr>
          <a:xfrm>
            <a:off x="502920" y="1389888"/>
            <a:ext cx="6675120" cy="347472"/>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World's largest solar park — 14,000 acres of desert. Powers over 1 million Indian homes. Built with $1.4 billion investment and completed in 2020.</a:t>
            </a:r>
            <a:endParaRPr lang="en-US" sz="950" dirty="0"/>
          </a:p>
        </p:txBody>
      </p:sp>
      <p:sp>
        <p:nvSpPr>
          <p:cNvPr id="12" name="Shape 10"/>
          <p:cNvSpPr/>
          <p:nvPr/>
        </p:nvSpPr>
        <p:spPr>
          <a:xfrm>
            <a:off x="320040" y="1892808"/>
            <a:ext cx="8503920" cy="960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320040" y="1892808"/>
            <a:ext cx="73152" cy="960120"/>
          </a:xfrm>
          <a:prstGeom prst="rect">
            <a:avLst/>
          </a:prstGeom>
          <a:solidFill>
            <a:srgbClr val="E65100"/>
          </a:solidFill>
          <a:ln/>
        </p:spPr>
      </p:sp>
      <p:sp>
        <p:nvSpPr>
          <p:cNvPr id="14" name="Shape 12"/>
          <p:cNvSpPr/>
          <p:nvPr/>
        </p:nvSpPr>
        <p:spPr>
          <a:xfrm>
            <a:off x="7452360" y="2093976"/>
            <a:ext cx="1280160" cy="548640"/>
          </a:xfrm>
          <a:prstGeom prst="rect">
            <a:avLst/>
          </a:prstGeom>
          <a:solidFill>
            <a:srgbClr val="E65100"/>
          </a:solidFill>
          <a:ln/>
        </p:spPr>
      </p:sp>
      <p:sp>
        <p:nvSpPr>
          <p:cNvPr id="15" name="Text 13"/>
          <p:cNvSpPr/>
          <p:nvPr/>
        </p:nvSpPr>
        <p:spPr>
          <a:xfrm>
            <a:off x="7452360" y="2093976"/>
            <a:ext cx="1280160" cy="54864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392 MW</a:t>
            </a:r>
            <a:endParaRPr lang="en-US" sz="1300" dirty="0"/>
          </a:p>
        </p:txBody>
      </p:sp>
      <p:sp>
        <p:nvSpPr>
          <p:cNvPr id="16" name="Text 14"/>
          <p:cNvSpPr/>
          <p:nvPr/>
        </p:nvSpPr>
        <p:spPr>
          <a:xfrm>
            <a:off x="502920" y="1956816"/>
            <a:ext cx="6675120" cy="292608"/>
          </a:xfrm>
          <a:prstGeom prst="rect">
            <a:avLst/>
          </a:prstGeom>
          <a:noFill/>
          <a:ln/>
        </p:spPr>
        <p:txBody>
          <a:bodyPr wrap="square" lIns="0" tIns="0" rIns="0" bIns="0" rtlCol="0" anchor="ctr"/>
          <a:lstStyle/>
          <a:p>
            <a:pPr indent="0" marL="0">
              <a:buNone/>
            </a:pPr>
            <a:r>
              <a:rPr lang="en-US" sz="1350" b="1" dirty="0">
                <a:solidFill>
                  <a:srgbClr val="0A1628"/>
                </a:solidFill>
                <a:latin typeface="Arial" pitchFamily="34" charset="0"/>
                <a:ea typeface="Arial" pitchFamily="34" charset="-122"/>
                <a:cs typeface="Arial" pitchFamily="34" charset="-120"/>
              </a:rPr>
              <a:t>Ivanpah Solar Electric</a:t>
            </a:r>
            <a:endParaRPr lang="en-US" sz="1350" dirty="0"/>
          </a:p>
        </p:txBody>
      </p:sp>
      <p:sp>
        <p:nvSpPr>
          <p:cNvPr id="17" name="Text 15"/>
          <p:cNvSpPr/>
          <p:nvPr/>
        </p:nvSpPr>
        <p:spPr>
          <a:xfrm>
            <a:off x="502920" y="2240280"/>
            <a:ext cx="3200400" cy="201168"/>
          </a:xfrm>
          <a:prstGeom prst="rect">
            <a:avLst/>
          </a:prstGeom>
          <a:noFill/>
          <a:ln/>
        </p:spPr>
        <p:txBody>
          <a:bodyPr wrap="square" lIns="0" tIns="0" rIns="0" bIns="0" rtlCol="0" anchor="ctr"/>
          <a:lstStyle/>
          <a:p>
            <a:pPr indent="0" marL="0">
              <a:buNone/>
            </a:pPr>
            <a:r>
              <a:rPr lang="en-US" sz="950" i="1" dirty="0">
                <a:solidFill>
                  <a:srgbClr val="E65100"/>
                </a:solidFill>
                <a:latin typeface="Calibri" pitchFamily="34" charset="0"/>
                <a:ea typeface="Calibri" pitchFamily="34" charset="-122"/>
                <a:cs typeface="Calibri" pitchFamily="34" charset="-120"/>
              </a:rPr>
              <a:t>Mojave Desert, USA</a:t>
            </a:r>
            <a:endParaRPr lang="en-US" sz="950" dirty="0"/>
          </a:p>
        </p:txBody>
      </p:sp>
      <p:sp>
        <p:nvSpPr>
          <p:cNvPr id="18" name="Text 16"/>
          <p:cNvSpPr/>
          <p:nvPr/>
        </p:nvSpPr>
        <p:spPr>
          <a:xfrm>
            <a:off x="502920" y="2441448"/>
            <a:ext cx="6675120" cy="347472"/>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Concentrated Solar Power plant using 170,000 heliostats to focus sunlight onto three towers. Generates power for 140,000 California homes.</a:t>
            </a:r>
            <a:endParaRPr lang="en-US" sz="950" dirty="0"/>
          </a:p>
        </p:txBody>
      </p:sp>
      <p:sp>
        <p:nvSpPr>
          <p:cNvPr id="19" name="Shape 17"/>
          <p:cNvSpPr/>
          <p:nvPr/>
        </p:nvSpPr>
        <p:spPr>
          <a:xfrm>
            <a:off x="320040" y="2944368"/>
            <a:ext cx="8503920" cy="960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0" name="Shape 18"/>
          <p:cNvSpPr/>
          <p:nvPr/>
        </p:nvSpPr>
        <p:spPr>
          <a:xfrm>
            <a:off x="320040" y="2944368"/>
            <a:ext cx="73152" cy="960120"/>
          </a:xfrm>
          <a:prstGeom prst="rect">
            <a:avLst/>
          </a:prstGeom>
          <a:solidFill>
            <a:srgbClr val="1565C0"/>
          </a:solidFill>
          <a:ln/>
        </p:spPr>
      </p:sp>
      <p:sp>
        <p:nvSpPr>
          <p:cNvPr id="21" name="Shape 19"/>
          <p:cNvSpPr/>
          <p:nvPr/>
        </p:nvSpPr>
        <p:spPr>
          <a:xfrm>
            <a:off x="7452360" y="3145536"/>
            <a:ext cx="1280160" cy="548640"/>
          </a:xfrm>
          <a:prstGeom prst="rect">
            <a:avLst/>
          </a:prstGeom>
          <a:solidFill>
            <a:srgbClr val="1565C0"/>
          </a:solidFill>
          <a:ln/>
        </p:spPr>
      </p:sp>
      <p:sp>
        <p:nvSpPr>
          <p:cNvPr id="22" name="Text 20"/>
          <p:cNvSpPr/>
          <p:nvPr/>
        </p:nvSpPr>
        <p:spPr>
          <a:xfrm>
            <a:off x="7452360" y="3145536"/>
            <a:ext cx="1280160" cy="54864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1,650 MW</a:t>
            </a:r>
            <a:endParaRPr lang="en-US" sz="1300" dirty="0"/>
          </a:p>
        </p:txBody>
      </p:sp>
      <p:sp>
        <p:nvSpPr>
          <p:cNvPr id="23" name="Text 21"/>
          <p:cNvSpPr/>
          <p:nvPr/>
        </p:nvSpPr>
        <p:spPr>
          <a:xfrm>
            <a:off x="502920" y="3008376"/>
            <a:ext cx="6675120" cy="292608"/>
          </a:xfrm>
          <a:prstGeom prst="rect">
            <a:avLst/>
          </a:prstGeom>
          <a:noFill/>
          <a:ln/>
        </p:spPr>
        <p:txBody>
          <a:bodyPr wrap="square" lIns="0" tIns="0" rIns="0" bIns="0" rtlCol="0" anchor="ctr"/>
          <a:lstStyle/>
          <a:p>
            <a:pPr indent="0" marL="0">
              <a:buNone/>
            </a:pPr>
            <a:r>
              <a:rPr lang="en-US" sz="1350" b="1" dirty="0">
                <a:solidFill>
                  <a:srgbClr val="0A1628"/>
                </a:solidFill>
                <a:latin typeface="Arial" pitchFamily="34" charset="0"/>
                <a:ea typeface="Arial" pitchFamily="34" charset="-122"/>
                <a:cs typeface="Arial" pitchFamily="34" charset="-120"/>
              </a:rPr>
              <a:t>Benban Solar Hub</a:t>
            </a:r>
            <a:endParaRPr lang="en-US" sz="1350" dirty="0"/>
          </a:p>
        </p:txBody>
      </p:sp>
      <p:sp>
        <p:nvSpPr>
          <p:cNvPr id="24" name="Text 22"/>
          <p:cNvSpPr/>
          <p:nvPr/>
        </p:nvSpPr>
        <p:spPr>
          <a:xfrm>
            <a:off x="502920" y="3291840"/>
            <a:ext cx="3200400" cy="201168"/>
          </a:xfrm>
          <a:prstGeom prst="rect">
            <a:avLst/>
          </a:prstGeom>
          <a:noFill/>
          <a:ln/>
        </p:spPr>
        <p:txBody>
          <a:bodyPr wrap="square" lIns="0" tIns="0" rIns="0" bIns="0"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Aswan, Egypt</a:t>
            </a:r>
            <a:endParaRPr lang="en-US" sz="950" dirty="0"/>
          </a:p>
        </p:txBody>
      </p:sp>
      <p:sp>
        <p:nvSpPr>
          <p:cNvPr id="25" name="Text 23"/>
          <p:cNvSpPr/>
          <p:nvPr/>
        </p:nvSpPr>
        <p:spPr>
          <a:xfrm>
            <a:off x="502920" y="3493008"/>
            <a:ext cx="6675120" cy="347472"/>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Africa's largest solar installation — 40 individual projects. Supports Egypt's target of 42% renewable electricity by 2035 and creates 4,000+ local jobs.</a:t>
            </a:r>
            <a:endParaRPr lang="en-US" sz="950" dirty="0"/>
          </a:p>
        </p:txBody>
      </p:sp>
      <p:sp>
        <p:nvSpPr>
          <p:cNvPr id="26" name="Shape 24"/>
          <p:cNvSpPr/>
          <p:nvPr/>
        </p:nvSpPr>
        <p:spPr>
          <a:xfrm>
            <a:off x="320040" y="3995928"/>
            <a:ext cx="8503920" cy="960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7" name="Shape 25"/>
          <p:cNvSpPr/>
          <p:nvPr/>
        </p:nvSpPr>
        <p:spPr>
          <a:xfrm>
            <a:off x="320040" y="3995928"/>
            <a:ext cx="73152" cy="960120"/>
          </a:xfrm>
          <a:prstGeom prst="rect">
            <a:avLst/>
          </a:prstGeom>
          <a:solidFill>
            <a:srgbClr val="2E7D32"/>
          </a:solidFill>
          <a:ln/>
        </p:spPr>
      </p:sp>
      <p:sp>
        <p:nvSpPr>
          <p:cNvPr id="28" name="Shape 26"/>
          <p:cNvSpPr/>
          <p:nvPr/>
        </p:nvSpPr>
        <p:spPr>
          <a:xfrm>
            <a:off x="7452360" y="4197096"/>
            <a:ext cx="1280160" cy="548640"/>
          </a:xfrm>
          <a:prstGeom prst="rect">
            <a:avLst/>
          </a:prstGeom>
          <a:solidFill>
            <a:srgbClr val="2E7D32"/>
          </a:solidFill>
          <a:ln/>
        </p:spPr>
      </p:sp>
      <p:sp>
        <p:nvSpPr>
          <p:cNvPr id="29" name="Text 27"/>
          <p:cNvSpPr/>
          <p:nvPr/>
        </p:nvSpPr>
        <p:spPr>
          <a:xfrm>
            <a:off x="7452360" y="4197096"/>
            <a:ext cx="1280160" cy="548640"/>
          </a:xfrm>
          <a:prstGeom prst="rect">
            <a:avLst/>
          </a:prstGeom>
          <a:noFill/>
          <a:ln/>
        </p:spPr>
        <p:txBody>
          <a:bodyPr wrap="square"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1,547 MW</a:t>
            </a:r>
            <a:endParaRPr lang="en-US" sz="1300" dirty="0"/>
          </a:p>
        </p:txBody>
      </p:sp>
      <p:sp>
        <p:nvSpPr>
          <p:cNvPr id="30" name="Text 28"/>
          <p:cNvSpPr/>
          <p:nvPr/>
        </p:nvSpPr>
        <p:spPr>
          <a:xfrm>
            <a:off x="502920" y="4059936"/>
            <a:ext cx="6675120" cy="292608"/>
          </a:xfrm>
          <a:prstGeom prst="rect">
            <a:avLst/>
          </a:prstGeom>
          <a:noFill/>
          <a:ln/>
        </p:spPr>
        <p:txBody>
          <a:bodyPr wrap="square" lIns="0" tIns="0" rIns="0" bIns="0" rtlCol="0" anchor="ctr"/>
          <a:lstStyle/>
          <a:p>
            <a:pPr indent="0" marL="0">
              <a:buNone/>
            </a:pPr>
            <a:r>
              <a:rPr lang="en-US" sz="1350" b="1" dirty="0">
                <a:solidFill>
                  <a:srgbClr val="0A1628"/>
                </a:solidFill>
                <a:latin typeface="Arial" pitchFamily="34" charset="0"/>
                <a:ea typeface="Arial" pitchFamily="34" charset="-122"/>
                <a:cs typeface="Arial" pitchFamily="34" charset="-120"/>
              </a:rPr>
              <a:t>Tengger Desert Solar</a:t>
            </a:r>
            <a:endParaRPr lang="en-US" sz="1350" dirty="0"/>
          </a:p>
        </p:txBody>
      </p:sp>
      <p:sp>
        <p:nvSpPr>
          <p:cNvPr id="31" name="Text 29"/>
          <p:cNvSpPr/>
          <p:nvPr/>
        </p:nvSpPr>
        <p:spPr>
          <a:xfrm>
            <a:off x="502920" y="4343400"/>
            <a:ext cx="3200400" cy="201168"/>
          </a:xfrm>
          <a:prstGeom prst="rect">
            <a:avLst/>
          </a:prstGeom>
          <a:noFill/>
          <a:ln/>
        </p:spPr>
        <p:txBody>
          <a:bodyPr wrap="square" lIns="0" tIns="0" rIns="0" bIns="0" rtlCol="0" anchor="ctr"/>
          <a:lstStyle/>
          <a:p>
            <a:pPr indent="0" marL="0">
              <a:buNone/>
            </a:pPr>
            <a:r>
              <a:rPr lang="en-US" sz="950" i="1" dirty="0">
                <a:solidFill>
                  <a:srgbClr val="2E7D32"/>
                </a:solidFill>
                <a:latin typeface="Calibri" pitchFamily="34" charset="0"/>
                <a:ea typeface="Calibri" pitchFamily="34" charset="-122"/>
                <a:cs typeface="Calibri" pitchFamily="34" charset="-120"/>
              </a:rPr>
              <a:t>Ningxia, China</a:t>
            </a:r>
            <a:endParaRPr lang="en-US" sz="950" dirty="0"/>
          </a:p>
        </p:txBody>
      </p:sp>
      <p:sp>
        <p:nvSpPr>
          <p:cNvPr id="32" name="Text 30"/>
          <p:cNvSpPr/>
          <p:nvPr/>
        </p:nvSpPr>
        <p:spPr>
          <a:xfrm>
            <a:off x="502920" y="4544568"/>
            <a:ext cx="6675120" cy="347472"/>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Nicknamed the 'Great Wall of Solar' and visible from space. China leads the world with 430+ GW total installed solar capacity as of 2024.</a:t>
            </a:r>
            <a:endParaRPr lang="en-US" sz="950" dirty="0"/>
          </a:p>
        </p:txBody>
      </p:sp>
      <p:sp>
        <p:nvSpPr>
          <p:cNvPr id="33" name="Text 31"/>
          <p:cNvSpPr/>
          <p:nvPr/>
        </p:nvSpPr>
        <p:spPr>
          <a:xfrm>
            <a:off x="320040" y="4873752"/>
            <a:ext cx="8503920" cy="237744"/>
          </a:xfrm>
          <a:prstGeom prst="rect">
            <a:avLst/>
          </a:prstGeom>
          <a:noFill/>
          <a:ln/>
        </p:spPr>
        <p:txBody>
          <a:bodyPr wrap="square" rtlCol="0" anchor="ctr"/>
          <a:lstStyle/>
          <a:p>
            <a:pPr algn="ctr" indent="0" marL="0">
              <a:buNone/>
            </a:pPr>
            <a:r>
              <a:rPr lang="en-US" sz="900" i="1" dirty="0">
                <a:solidFill>
                  <a:srgbClr val="607D8B"/>
                </a:solidFill>
                <a:latin typeface="Calibri" pitchFamily="34" charset="0"/>
                <a:ea typeface="Calibri" pitchFamily="34" charset="-122"/>
                <a:cs typeface="Calibri" pitchFamily="34" charset="-120"/>
              </a:rPr>
              <a:t>Combined capacity: ~5,834 MW — enough to power 4+ million homes around the clock</a:t>
            </a:r>
            <a:endParaRPr lang="en-US" sz="900" dirty="0"/>
          </a:p>
        </p:txBody>
      </p:sp>
      <p:sp>
        <p:nvSpPr>
          <p:cNvPr id="34" name="Text 32"/>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9 / 16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REAL-WORLD EXAMPLES — Solar in Everyday Life</a:t>
            </a:r>
            <a:endParaRPr lang="en-US" sz="2200" dirty="0"/>
          </a:p>
        </p:txBody>
      </p:sp>
      <p:sp>
        <p:nvSpPr>
          <p:cNvPr id="5" name="Shape 3"/>
          <p:cNvSpPr/>
          <p:nvPr/>
        </p:nvSpPr>
        <p:spPr>
          <a:xfrm>
            <a:off x="320040" y="84124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841248"/>
            <a:ext cx="64008" cy="1261872"/>
          </a:xfrm>
          <a:prstGeom prst="rect">
            <a:avLst/>
          </a:prstGeom>
          <a:solidFill>
            <a:srgbClr val="FF8F00"/>
          </a:solidFill>
          <a:ln/>
        </p:spPr>
      </p:sp>
      <p:sp>
        <p:nvSpPr>
          <p:cNvPr id="7" name="Shape 5"/>
          <p:cNvSpPr/>
          <p:nvPr/>
        </p:nvSpPr>
        <p:spPr>
          <a:xfrm>
            <a:off x="320040" y="841248"/>
            <a:ext cx="4206240" cy="36576"/>
          </a:xfrm>
          <a:prstGeom prst="rect">
            <a:avLst/>
          </a:prstGeom>
          <a:solidFill>
            <a:srgbClr val="FF8F00"/>
          </a:solidFill>
          <a:ln/>
        </p:spPr>
      </p:sp>
      <p:sp>
        <p:nvSpPr>
          <p:cNvPr id="8" name="Text 6"/>
          <p:cNvSpPr/>
          <p:nvPr/>
        </p:nvSpPr>
        <p:spPr>
          <a:xfrm>
            <a:off x="502920" y="95097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Google Campus — Mountain View, USA</a:t>
            </a:r>
            <a:endParaRPr lang="en-US" sz="1150" dirty="0"/>
          </a:p>
        </p:txBody>
      </p:sp>
      <p:sp>
        <p:nvSpPr>
          <p:cNvPr id="9" name="Text 7"/>
          <p:cNvSpPr/>
          <p:nvPr/>
        </p:nvSpPr>
        <p:spPr>
          <a:xfrm>
            <a:off x="502920" y="126187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Google's offices &amp; data centers run on 100% renewable energy. Its Mountain View campus uses 9.5 MW of rooftop and carport solar panels.</a:t>
            </a:r>
            <a:endParaRPr lang="en-US" sz="950" dirty="0"/>
          </a:p>
        </p:txBody>
      </p:sp>
      <p:sp>
        <p:nvSpPr>
          <p:cNvPr id="10" name="Shape 8"/>
          <p:cNvSpPr/>
          <p:nvPr/>
        </p:nvSpPr>
        <p:spPr>
          <a:xfrm>
            <a:off x="4782312" y="84124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782312" y="841248"/>
            <a:ext cx="64008" cy="1261872"/>
          </a:xfrm>
          <a:prstGeom prst="rect">
            <a:avLst/>
          </a:prstGeom>
          <a:solidFill>
            <a:srgbClr val="E65100"/>
          </a:solidFill>
          <a:ln/>
        </p:spPr>
      </p:sp>
      <p:sp>
        <p:nvSpPr>
          <p:cNvPr id="12" name="Shape 10"/>
          <p:cNvSpPr/>
          <p:nvPr/>
        </p:nvSpPr>
        <p:spPr>
          <a:xfrm>
            <a:off x="4782312" y="841248"/>
            <a:ext cx="4206240" cy="36576"/>
          </a:xfrm>
          <a:prstGeom prst="rect">
            <a:avLst/>
          </a:prstGeom>
          <a:solidFill>
            <a:srgbClr val="E65100"/>
          </a:solidFill>
          <a:ln/>
        </p:spPr>
      </p:sp>
      <p:sp>
        <p:nvSpPr>
          <p:cNvPr id="13" name="Text 11"/>
          <p:cNvSpPr/>
          <p:nvPr/>
        </p:nvSpPr>
        <p:spPr>
          <a:xfrm>
            <a:off x="4965192" y="95097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Noor Ouarzazate — Morocco</a:t>
            </a:r>
            <a:endParaRPr lang="en-US" sz="1150" dirty="0"/>
          </a:p>
        </p:txBody>
      </p:sp>
      <p:sp>
        <p:nvSpPr>
          <p:cNvPr id="14" name="Text 12"/>
          <p:cNvSpPr/>
          <p:nvPr/>
        </p:nvSpPr>
        <p:spPr>
          <a:xfrm>
            <a:off x="4965192" y="126187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World's largest CSP complex (580 MW). Morocco exports solar electricity to Europe through undersea cables, earning revenue from clean energy.</a:t>
            </a:r>
            <a:endParaRPr lang="en-US" sz="950" dirty="0"/>
          </a:p>
        </p:txBody>
      </p:sp>
      <p:sp>
        <p:nvSpPr>
          <p:cNvPr id="15" name="Shape 13"/>
          <p:cNvSpPr/>
          <p:nvPr/>
        </p:nvSpPr>
        <p:spPr>
          <a:xfrm>
            <a:off x="320040" y="225856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320040" y="2258568"/>
            <a:ext cx="64008" cy="1261872"/>
          </a:xfrm>
          <a:prstGeom prst="rect">
            <a:avLst/>
          </a:prstGeom>
          <a:solidFill>
            <a:srgbClr val="1565C0"/>
          </a:solidFill>
          <a:ln/>
        </p:spPr>
      </p:sp>
      <p:sp>
        <p:nvSpPr>
          <p:cNvPr id="17" name="Shape 15"/>
          <p:cNvSpPr/>
          <p:nvPr/>
        </p:nvSpPr>
        <p:spPr>
          <a:xfrm>
            <a:off x="320040" y="2258568"/>
            <a:ext cx="4206240" cy="36576"/>
          </a:xfrm>
          <a:prstGeom prst="rect">
            <a:avLst/>
          </a:prstGeom>
          <a:solidFill>
            <a:srgbClr val="1565C0"/>
          </a:solidFill>
          <a:ln/>
        </p:spPr>
      </p:sp>
      <p:sp>
        <p:nvSpPr>
          <p:cNvPr id="18" name="Text 16"/>
          <p:cNvSpPr/>
          <p:nvPr/>
        </p:nvSpPr>
        <p:spPr>
          <a:xfrm>
            <a:off x="502920" y="236829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Cochin Airport — India</a:t>
            </a:r>
            <a:endParaRPr lang="en-US" sz="1150" dirty="0"/>
          </a:p>
        </p:txBody>
      </p:sp>
      <p:sp>
        <p:nvSpPr>
          <p:cNvPr id="19" name="Text 17"/>
          <p:cNvSpPr/>
          <p:nvPr/>
        </p:nvSpPr>
        <p:spPr>
          <a:xfrm>
            <a:off x="502920" y="267919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World's first fully solar-powered international airport (2015). Over 50,000 panels generate all the power the airport needs — zero grid dependency.</a:t>
            </a:r>
            <a:endParaRPr lang="en-US" sz="950" dirty="0"/>
          </a:p>
        </p:txBody>
      </p:sp>
      <p:sp>
        <p:nvSpPr>
          <p:cNvPr id="20" name="Shape 18"/>
          <p:cNvSpPr/>
          <p:nvPr/>
        </p:nvSpPr>
        <p:spPr>
          <a:xfrm>
            <a:off x="4782312" y="225856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9"/>
          <p:cNvSpPr/>
          <p:nvPr/>
        </p:nvSpPr>
        <p:spPr>
          <a:xfrm>
            <a:off x="4782312" y="2258568"/>
            <a:ext cx="64008" cy="1261872"/>
          </a:xfrm>
          <a:prstGeom prst="rect">
            <a:avLst/>
          </a:prstGeom>
          <a:solidFill>
            <a:srgbClr val="2E7D32"/>
          </a:solidFill>
          <a:ln/>
        </p:spPr>
      </p:sp>
      <p:sp>
        <p:nvSpPr>
          <p:cNvPr id="22" name="Shape 20"/>
          <p:cNvSpPr/>
          <p:nvPr/>
        </p:nvSpPr>
        <p:spPr>
          <a:xfrm>
            <a:off x="4782312" y="2258568"/>
            <a:ext cx="4206240" cy="36576"/>
          </a:xfrm>
          <a:prstGeom prst="rect">
            <a:avLst/>
          </a:prstGeom>
          <a:solidFill>
            <a:srgbClr val="2E7D32"/>
          </a:solidFill>
          <a:ln/>
        </p:spPr>
      </p:sp>
      <p:sp>
        <p:nvSpPr>
          <p:cNvPr id="23" name="Text 21"/>
          <p:cNvSpPr/>
          <p:nvPr/>
        </p:nvSpPr>
        <p:spPr>
          <a:xfrm>
            <a:off x="4965192" y="236829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Tesla Solar Roof — Global</a:t>
            </a:r>
            <a:endParaRPr lang="en-US" sz="1150" dirty="0"/>
          </a:p>
        </p:txBody>
      </p:sp>
      <p:sp>
        <p:nvSpPr>
          <p:cNvPr id="24" name="Text 22"/>
          <p:cNvSpPr/>
          <p:nvPr/>
        </p:nvSpPr>
        <p:spPr>
          <a:xfrm>
            <a:off x="4965192" y="267919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Tesla replaces roof tiles with solar-integrated tiles that generate power invisibly. Over 200,000 homes worldwide now use this technology.</a:t>
            </a:r>
            <a:endParaRPr lang="en-US" sz="950" dirty="0"/>
          </a:p>
        </p:txBody>
      </p:sp>
      <p:sp>
        <p:nvSpPr>
          <p:cNvPr id="25" name="Shape 23"/>
          <p:cNvSpPr/>
          <p:nvPr/>
        </p:nvSpPr>
        <p:spPr>
          <a:xfrm>
            <a:off x="320040" y="367588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4"/>
          <p:cNvSpPr/>
          <p:nvPr/>
        </p:nvSpPr>
        <p:spPr>
          <a:xfrm>
            <a:off x="320040" y="3675888"/>
            <a:ext cx="64008" cy="1261872"/>
          </a:xfrm>
          <a:prstGeom prst="rect">
            <a:avLst/>
          </a:prstGeom>
          <a:solidFill>
            <a:srgbClr val="4527A0"/>
          </a:solidFill>
          <a:ln/>
        </p:spPr>
      </p:sp>
      <p:sp>
        <p:nvSpPr>
          <p:cNvPr id="27" name="Shape 25"/>
          <p:cNvSpPr/>
          <p:nvPr/>
        </p:nvSpPr>
        <p:spPr>
          <a:xfrm>
            <a:off x="320040" y="3675888"/>
            <a:ext cx="4206240" cy="36576"/>
          </a:xfrm>
          <a:prstGeom prst="rect">
            <a:avLst/>
          </a:prstGeom>
          <a:solidFill>
            <a:srgbClr val="4527A0"/>
          </a:solidFill>
          <a:ln/>
        </p:spPr>
      </p:sp>
      <p:sp>
        <p:nvSpPr>
          <p:cNvPr id="28" name="Text 26"/>
          <p:cNvSpPr/>
          <p:nvPr/>
        </p:nvSpPr>
        <p:spPr>
          <a:xfrm>
            <a:off x="502920" y="378561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Solar Street Lights — Sub-Saharan Africa</a:t>
            </a:r>
            <a:endParaRPr lang="en-US" sz="1150" dirty="0"/>
          </a:p>
        </p:txBody>
      </p:sp>
      <p:sp>
        <p:nvSpPr>
          <p:cNvPr id="29" name="Text 27"/>
          <p:cNvSpPr/>
          <p:nvPr/>
        </p:nvSpPr>
        <p:spPr>
          <a:xfrm>
            <a:off x="502920" y="409651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10+ million solar LED street lights illuminate roads and villages with zero grid connection needed. Reduces crime and improves safety at night.</a:t>
            </a:r>
            <a:endParaRPr lang="en-US" sz="950" dirty="0"/>
          </a:p>
        </p:txBody>
      </p:sp>
      <p:sp>
        <p:nvSpPr>
          <p:cNvPr id="30" name="Shape 28"/>
          <p:cNvSpPr/>
          <p:nvPr/>
        </p:nvSpPr>
        <p:spPr>
          <a:xfrm>
            <a:off x="4782312" y="3675888"/>
            <a:ext cx="4206240" cy="12618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9"/>
          <p:cNvSpPr/>
          <p:nvPr/>
        </p:nvSpPr>
        <p:spPr>
          <a:xfrm>
            <a:off x="4782312" y="3675888"/>
            <a:ext cx="64008" cy="1261872"/>
          </a:xfrm>
          <a:prstGeom prst="rect">
            <a:avLst/>
          </a:prstGeom>
          <a:solidFill>
            <a:srgbClr val="004D40"/>
          </a:solidFill>
          <a:ln/>
        </p:spPr>
      </p:sp>
      <p:sp>
        <p:nvSpPr>
          <p:cNvPr id="32" name="Shape 30"/>
          <p:cNvSpPr/>
          <p:nvPr/>
        </p:nvSpPr>
        <p:spPr>
          <a:xfrm>
            <a:off x="4782312" y="3675888"/>
            <a:ext cx="4206240" cy="36576"/>
          </a:xfrm>
          <a:prstGeom prst="rect">
            <a:avLst/>
          </a:prstGeom>
          <a:solidFill>
            <a:srgbClr val="004D40"/>
          </a:solidFill>
          <a:ln/>
        </p:spPr>
      </p:sp>
      <p:sp>
        <p:nvSpPr>
          <p:cNvPr id="33" name="Text 31"/>
          <p:cNvSpPr/>
          <p:nvPr/>
        </p:nvSpPr>
        <p:spPr>
          <a:xfrm>
            <a:off x="4965192" y="3785616"/>
            <a:ext cx="3840480" cy="292608"/>
          </a:xfrm>
          <a:prstGeom prst="rect">
            <a:avLst/>
          </a:prstGeom>
          <a:noFill/>
          <a:ln/>
        </p:spPr>
        <p:txBody>
          <a:bodyPr wrap="square" lIns="0" tIns="0" rIns="0" bIns="0" rtlCol="0" anchor="ctr"/>
          <a:lstStyle/>
          <a:p>
            <a:pPr indent="0" marL="0">
              <a:buNone/>
            </a:pPr>
            <a:r>
              <a:rPr lang="en-US" sz="1150" b="1" dirty="0">
                <a:solidFill>
                  <a:srgbClr val="0A1628"/>
                </a:solidFill>
                <a:latin typeface="Arial" pitchFamily="34" charset="0"/>
                <a:ea typeface="Arial" pitchFamily="34" charset="-122"/>
                <a:cs typeface="Arial" pitchFamily="34" charset="-120"/>
              </a:rPr>
              <a:t>MS Tûranor PlanetSolar — Ocean Voyage</a:t>
            </a:r>
            <a:endParaRPr lang="en-US" sz="1150" dirty="0"/>
          </a:p>
        </p:txBody>
      </p:sp>
      <p:sp>
        <p:nvSpPr>
          <p:cNvPr id="34" name="Text 32"/>
          <p:cNvSpPr/>
          <p:nvPr/>
        </p:nvSpPr>
        <p:spPr>
          <a:xfrm>
            <a:off x="4965192" y="4096512"/>
            <a:ext cx="3840480" cy="694944"/>
          </a:xfrm>
          <a:prstGeom prst="rect">
            <a:avLst/>
          </a:prstGeom>
          <a:noFill/>
          <a:ln/>
        </p:spPr>
        <p:txBody>
          <a:bodyPr wrap="square" lIns="0" tIns="0" rIns="0" bIns="0" rtlCol="0" anchor="ctr"/>
          <a:lstStyle/>
          <a:p>
            <a:pPr indent="0" marL="0">
              <a:buNone/>
            </a:pPr>
            <a:r>
              <a:rPr lang="en-US" sz="950" dirty="0">
                <a:solidFill>
                  <a:srgbClr val="263238"/>
                </a:solidFill>
                <a:latin typeface="Calibri" pitchFamily="34" charset="0"/>
                <a:ea typeface="Calibri" pitchFamily="34" charset="-122"/>
                <a:cs typeface="Calibri" pitchFamily="34" charset="-120"/>
              </a:rPr>
              <a:t>Swiss solar catamaran circumnavigated Earth in 2012 using only solar power — proving maritime solar viability across oceans.</a:t>
            </a:r>
            <a:endParaRPr lang="en-US" sz="950" dirty="0"/>
          </a:p>
        </p:txBody>
      </p:sp>
      <p:sp>
        <p:nvSpPr>
          <p:cNvPr id="35" name="Text 33"/>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10 / 16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WHERE IS SOLAR ENERGY USED? — Top Nations &amp; Regions</a:t>
            </a:r>
            <a:endParaRPr lang="en-US" sz="2200" dirty="0"/>
          </a:p>
        </p:txBody>
      </p:sp>
      <p:sp>
        <p:nvSpPr>
          <p:cNvPr id="5" name="Text 3"/>
          <p:cNvSpPr/>
          <p:nvPr/>
        </p:nvSpPr>
        <p:spPr>
          <a:xfrm>
            <a:off x="320040" y="804672"/>
            <a:ext cx="4937760" cy="292608"/>
          </a:xfrm>
          <a:prstGeom prst="rect">
            <a:avLst/>
          </a:prstGeom>
          <a:noFill/>
          <a:ln/>
        </p:spPr>
        <p:txBody>
          <a:bodyPr wrap="square" rtlCol="0" anchor="ctr"/>
          <a:lstStyle/>
          <a:p>
            <a:pPr indent="0" marL="0">
              <a:buNone/>
            </a:pPr>
            <a:r>
              <a:rPr lang="en-US" sz="1100" b="1" dirty="0">
                <a:solidFill>
                  <a:srgbClr val="0A1628"/>
                </a:solidFill>
                <a:latin typeface="Arial" pitchFamily="34" charset="0"/>
                <a:ea typeface="Arial" pitchFamily="34" charset="-122"/>
                <a:cs typeface="Arial" pitchFamily="34" charset="-120"/>
              </a:rPr>
              <a:t>Top 10 Countries by Installed Solar Capacity (GW, 2024)</a:t>
            </a:r>
            <a:endParaRPr lang="en-US" sz="1100" dirty="0"/>
          </a:p>
        </p:txBody>
      </p:sp>
      <p:sp>
        <p:nvSpPr>
          <p:cNvPr id="7" name="Text 4"/>
          <p:cNvSpPr/>
          <p:nvPr/>
        </p:nvSpPr>
        <p:spPr>
          <a:xfrm>
            <a:off x="5394960" y="804672"/>
            <a:ext cx="3520440" cy="292608"/>
          </a:xfrm>
          <a:prstGeom prst="rect">
            <a:avLst/>
          </a:prstGeom>
          <a:noFill/>
          <a:ln/>
        </p:spPr>
        <p:txBody>
          <a:bodyPr wrap="square" rtlCol="0" anchor="ctr"/>
          <a:lstStyle/>
          <a:p>
            <a:pPr indent="0" marL="0">
              <a:buNone/>
            </a:pPr>
            <a:r>
              <a:rPr lang="en-US" sz="1100" b="1" dirty="0">
                <a:solidFill>
                  <a:srgbClr val="0A1628"/>
                </a:solidFill>
                <a:latin typeface="Arial" pitchFamily="34" charset="0"/>
                <a:ea typeface="Arial" pitchFamily="34" charset="-122"/>
                <a:cs typeface="Arial" pitchFamily="34" charset="-120"/>
              </a:rPr>
              <a:t>Regional Highlights</a:t>
            </a:r>
            <a:endParaRPr lang="en-US" sz="1100" dirty="0"/>
          </a:p>
        </p:txBody>
      </p:sp>
      <p:sp>
        <p:nvSpPr>
          <p:cNvPr id="8" name="Shape 5"/>
          <p:cNvSpPr/>
          <p:nvPr/>
        </p:nvSpPr>
        <p:spPr>
          <a:xfrm>
            <a:off x="5394960" y="1115568"/>
            <a:ext cx="3520440" cy="859536"/>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9" name="Shape 6"/>
          <p:cNvSpPr/>
          <p:nvPr/>
        </p:nvSpPr>
        <p:spPr>
          <a:xfrm>
            <a:off x="5394960" y="1115568"/>
            <a:ext cx="64008" cy="859536"/>
          </a:xfrm>
          <a:prstGeom prst="rect">
            <a:avLst/>
          </a:prstGeom>
          <a:solidFill>
            <a:srgbClr val="FF8F00"/>
          </a:solidFill>
          <a:ln/>
        </p:spPr>
      </p:sp>
      <p:sp>
        <p:nvSpPr>
          <p:cNvPr id="10" name="Shape 7"/>
          <p:cNvSpPr/>
          <p:nvPr/>
        </p:nvSpPr>
        <p:spPr>
          <a:xfrm>
            <a:off x="5394960" y="1115568"/>
            <a:ext cx="749808" cy="859536"/>
          </a:xfrm>
          <a:prstGeom prst="rect">
            <a:avLst/>
          </a:prstGeom>
          <a:solidFill>
            <a:srgbClr val="FF8F00">
              <a:alpha val="16000"/>
            </a:srgbClr>
          </a:solidFill>
          <a:ln/>
        </p:spPr>
      </p:sp>
      <p:sp>
        <p:nvSpPr>
          <p:cNvPr id="11" name="Text 8"/>
          <p:cNvSpPr/>
          <p:nvPr/>
        </p:nvSpPr>
        <p:spPr>
          <a:xfrm>
            <a:off x="5394960" y="1115568"/>
            <a:ext cx="749808" cy="859536"/>
          </a:xfrm>
          <a:prstGeom prst="rect">
            <a:avLst/>
          </a:prstGeom>
          <a:noFill/>
          <a:ln/>
        </p:spPr>
        <p:txBody>
          <a:bodyPr wrap="square" rtlCol="0" anchor="ctr"/>
          <a:lstStyle/>
          <a:p>
            <a:pPr algn="ctr" indent="0" marL="0">
              <a:buNone/>
            </a:pPr>
            <a:r>
              <a:rPr lang="en-US" sz="700" b="1" dirty="0">
                <a:solidFill>
                  <a:srgbClr val="FF8F00"/>
                </a:solidFill>
                <a:latin typeface="Arial" pitchFamily="34" charset="0"/>
                <a:ea typeface="Arial" pitchFamily="34" charset="-122"/>
                <a:cs typeface="Arial" pitchFamily="34" charset="-120"/>
              </a:rPr>
              <a:t>ASIA</a:t>
            </a:r>
            <a:endParaRPr lang="en-US" sz="700" dirty="0"/>
          </a:p>
        </p:txBody>
      </p:sp>
      <p:sp>
        <p:nvSpPr>
          <p:cNvPr id="12" name="Text 9"/>
          <p:cNvSpPr/>
          <p:nvPr/>
        </p:nvSpPr>
        <p:spPr>
          <a:xfrm>
            <a:off x="6217920" y="1207008"/>
            <a:ext cx="2606040" cy="694944"/>
          </a:xfrm>
          <a:prstGeom prst="rect">
            <a:avLst/>
          </a:prstGeom>
          <a:noFill/>
          <a:ln/>
        </p:spPr>
        <p:txBody>
          <a:bodyPr wrap="square" lIns="0" tIns="0" rIns="0" bIns="0" rtlCol="0" anchor="ctr"/>
          <a:lstStyle/>
          <a:p>
            <a:pPr indent="0" marL="0">
              <a:buNone/>
            </a:pPr>
            <a:r>
              <a:rPr lang="en-US" sz="850" dirty="0">
                <a:solidFill>
                  <a:srgbClr val="263238"/>
                </a:solidFill>
                <a:latin typeface="Calibri" pitchFamily="34" charset="0"/>
                <a:ea typeface="Calibri" pitchFamily="34" charset="-122"/>
                <a:cs typeface="Calibri" pitchFamily="34" charset="-120"/>
              </a:rPr>
              <a:t>China produces 30%+ of world's solar. Japan uses floating solar on reservoirs. India adding 50 GW/year.</a:t>
            </a:r>
            <a:endParaRPr lang="en-US" sz="850" dirty="0"/>
          </a:p>
        </p:txBody>
      </p:sp>
      <p:sp>
        <p:nvSpPr>
          <p:cNvPr id="13" name="Shape 10"/>
          <p:cNvSpPr/>
          <p:nvPr/>
        </p:nvSpPr>
        <p:spPr>
          <a:xfrm>
            <a:off x="5394960" y="2084832"/>
            <a:ext cx="3520440" cy="859536"/>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4" name="Shape 11"/>
          <p:cNvSpPr/>
          <p:nvPr/>
        </p:nvSpPr>
        <p:spPr>
          <a:xfrm>
            <a:off x="5394960" y="2084832"/>
            <a:ext cx="64008" cy="859536"/>
          </a:xfrm>
          <a:prstGeom prst="rect">
            <a:avLst/>
          </a:prstGeom>
          <a:solidFill>
            <a:srgbClr val="1565C0"/>
          </a:solidFill>
          <a:ln/>
        </p:spPr>
      </p:sp>
      <p:sp>
        <p:nvSpPr>
          <p:cNvPr id="15" name="Shape 12"/>
          <p:cNvSpPr/>
          <p:nvPr/>
        </p:nvSpPr>
        <p:spPr>
          <a:xfrm>
            <a:off x="5394960" y="2084832"/>
            <a:ext cx="749808" cy="859536"/>
          </a:xfrm>
          <a:prstGeom prst="rect">
            <a:avLst/>
          </a:prstGeom>
          <a:solidFill>
            <a:srgbClr val="1565C0">
              <a:alpha val="16000"/>
            </a:srgbClr>
          </a:solidFill>
          <a:ln/>
        </p:spPr>
      </p:sp>
      <p:sp>
        <p:nvSpPr>
          <p:cNvPr id="16" name="Text 13"/>
          <p:cNvSpPr/>
          <p:nvPr/>
        </p:nvSpPr>
        <p:spPr>
          <a:xfrm>
            <a:off x="5394960" y="2084832"/>
            <a:ext cx="749808" cy="859536"/>
          </a:xfrm>
          <a:prstGeom prst="rect">
            <a:avLst/>
          </a:prstGeom>
          <a:noFill/>
          <a:ln/>
        </p:spPr>
        <p:txBody>
          <a:bodyPr wrap="square" rtlCol="0" anchor="ctr"/>
          <a:lstStyle/>
          <a:p>
            <a:pPr algn="ctr" indent="0" marL="0">
              <a:buNone/>
            </a:pPr>
            <a:r>
              <a:rPr lang="en-US" sz="700" b="1" dirty="0">
                <a:solidFill>
                  <a:srgbClr val="1565C0"/>
                </a:solidFill>
                <a:latin typeface="Arial" pitchFamily="34" charset="0"/>
                <a:ea typeface="Arial" pitchFamily="34" charset="-122"/>
                <a:cs typeface="Arial" pitchFamily="34" charset="-120"/>
              </a:rPr>
              <a:t>EUROPE</a:t>
            </a:r>
            <a:endParaRPr lang="en-US" sz="700" dirty="0"/>
          </a:p>
        </p:txBody>
      </p:sp>
      <p:sp>
        <p:nvSpPr>
          <p:cNvPr id="17" name="Text 14"/>
          <p:cNvSpPr/>
          <p:nvPr/>
        </p:nvSpPr>
        <p:spPr>
          <a:xfrm>
            <a:off x="6217920" y="2176272"/>
            <a:ext cx="2606040" cy="694944"/>
          </a:xfrm>
          <a:prstGeom prst="rect">
            <a:avLst/>
          </a:prstGeom>
          <a:noFill/>
          <a:ln/>
        </p:spPr>
        <p:txBody>
          <a:bodyPr wrap="square" lIns="0" tIns="0" rIns="0" bIns="0" rtlCol="0" anchor="ctr"/>
          <a:lstStyle/>
          <a:p>
            <a:pPr indent="0" marL="0">
              <a:buNone/>
            </a:pPr>
            <a:r>
              <a:rPr lang="en-US" sz="850" dirty="0">
                <a:solidFill>
                  <a:srgbClr val="263238"/>
                </a:solidFill>
                <a:latin typeface="Calibri" pitchFamily="34" charset="0"/>
                <a:ea typeface="Calibri" pitchFamily="34" charset="-122"/>
                <a:cs typeface="Calibri" pitchFamily="34" charset="-120"/>
              </a:rPr>
              <a:t>Germany &amp; Spain lead Europe. Portugal ran 100% renewable for 6 days straight in 2023.</a:t>
            </a:r>
            <a:endParaRPr lang="en-US" sz="850" dirty="0"/>
          </a:p>
        </p:txBody>
      </p:sp>
      <p:sp>
        <p:nvSpPr>
          <p:cNvPr id="18" name="Shape 15"/>
          <p:cNvSpPr/>
          <p:nvPr/>
        </p:nvSpPr>
        <p:spPr>
          <a:xfrm>
            <a:off x="5394960" y="3054096"/>
            <a:ext cx="3520440" cy="859536"/>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9" name="Shape 16"/>
          <p:cNvSpPr/>
          <p:nvPr/>
        </p:nvSpPr>
        <p:spPr>
          <a:xfrm>
            <a:off x="5394960" y="3054096"/>
            <a:ext cx="64008" cy="859536"/>
          </a:xfrm>
          <a:prstGeom prst="rect">
            <a:avLst/>
          </a:prstGeom>
          <a:solidFill>
            <a:srgbClr val="E65100"/>
          </a:solidFill>
          <a:ln/>
        </p:spPr>
      </p:sp>
      <p:sp>
        <p:nvSpPr>
          <p:cNvPr id="20" name="Shape 17"/>
          <p:cNvSpPr/>
          <p:nvPr/>
        </p:nvSpPr>
        <p:spPr>
          <a:xfrm>
            <a:off x="5394960" y="3054096"/>
            <a:ext cx="749808" cy="859536"/>
          </a:xfrm>
          <a:prstGeom prst="rect">
            <a:avLst/>
          </a:prstGeom>
          <a:solidFill>
            <a:srgbClr val="E65100">
              <a:alpha val="16000"/>
            </a:srgbClr>
          </a:solidFill>
          <a:ln/>
        </p:spPr>
      </p:sp>
      <p:sp>
        <p:nvSpPr>
          <p:cNvPr id="21" name="Text 18"/>
          <p:cNvSpPr/>
          <p:nvPr/>
        </p:nvSpPr>
        <p:spPr>
          <a:xfrm>
            <a:off x="5394960" y="3054096"/>
            <a:ext cx="749808" cy="859536"/>
          </a:xfrm>
          <a:prstGeom prst="rect">
            <a:avLst/>
          </a:prstGeom>
          <a:noFill/>
          <a:ln/>
        </p:spPr>
        <p:txBody>
          <a:bodyPr wrap="square" rtlCol="0" anchor="ctr"/>
          <a:lstStyle/>
          <a:p>
            <a:pPr algn="ctr" indent="0" marL="0">
              <a:buNone/>
            </a:pPr>
            <a:r>
              <a:rPr lang="en-US" sz="700" b="1" dirty="0">
                <a:solidFill>
                  <a:srgbClr val="E65100"/>
                </a:solidFill>
                <a:latin typeface="Arial" pitchFamily="34" charset="0"/>
                <a:ea typeface="Arial" pitchFamily="34" charset="-122"/>
                <a:cs typeface="Arial" pitchFamily="34" charset="-120"/>
              </a:rPr>
              <a:t>AFRICA</a:t>
            </a:r>
            <a:endParaRPr lang="en-US" sz="700" dirty="0"/>
          </a:p>
        </p:txBody>
      </p:sp>
      <p:sp>
        <p:nvSpPr>
          <p:cNvPr id="22" name="Text 19"/>
          <p:cNvSpPr/>
          <p:nvPr/>
        </p:nvSpPr>
        <p:spPr>
          <a:xfrm>
            <a:off x="6217920" y="3145536"/>
            <a:ext cx="2606040" cy="694944"/>
          </a:xfrm>
          <a:prstGeom prst="rect">
            <a:avLst/>
          </a:prstGeom>
          <a:noFill/>
          <a:ln/>
        </p:spPr>
        <p:txBody>
          <a:bodyPr wrap="square" lIns="0" tIns="0" rIns="0" bIns="0" rtlCol="0" anchor="ctr"/>
          <a:lstStyle/>
          <a:p>
            <a:pPr indent="0" marL="0">
              <a:buNone/>
            </a:pPr>
            <a:r>
              <a:rPr lang="en-US" sz="850" dirty="0">
                <a:solidFill>
                  <a:srgbClr val="263238"/>
                </a:solidFill>
                <a:latin typeface="Calibri" pitchFamily="34" charset="0"/>
                <a:ea typeface="Calibri" pitchFamily="34" charset="-122"/>
                <a:cs typeface="Calibri" pitchFamily="34" charset="-120"/>
              </a:rPr>
              <a:t>Egypt, Morocco &amp; South Africa are leaders. The Sahara alone could power all of Earth's electricity needs.</a:t>
            </a:r>
            <a:endParaRPr lang="en-US" sz="850" dirty="0"/>
          </a:p>
        </p:txBody>
      </p:sp>
      <p:sp>
        <p:nvSpPr>
          <p:cNvPr id="23" name="Shape 20"/>
          <p:cNvSpPr/>
          <p:nvPr/>
        </p:nvSpPr>
        <p:spPr>
          <a:xfrm>
            <a:off x="5394960" y="4023360"/>
            <a:ext cx="3520440" cy="859536"/>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24" name="Shape 21"/>
          <p:cNvSpPr/>
          <p:nvPr/>
        </p:nvSpPr>
        <p:spPr>
          <a:xfrm>
            <a:off x="5394960" y="4023360"/>
            <a:ext cx="64008" cy="859536"/>
          </a:xfrm>
          <a:prstGeom prst="rect">
            <a:avLst/>
          </a:prstGeom>
          <a:solidFill>
            <a:srgbClr val="2E7D32"/>
          </a:solidFill>
          <a:ln/>
        </p:spPr>
      </p:sp>
      <p:sp>
        <p:nvSpPr>
          <p:cNvPr id="25" name="Shape 22"/>
          <p:cNvSpPr/>
          <p:nvPr/>
        </p:nvSpPr>
        <p:spPr>
          <a:xfrm>
            <a:off x="5394960" y="4023360"/>
            <a:ext cx="749808" cy="859536"/>
          </a:xfrm>
          <a:prstGeom prst="rect">
            <a:avLst/>
          </a:prstGeom>
          <a:solidFill>
            <a:srgbClr val="2E7D32">
              <a:alpha val="16000"/>
            </a:srgbClr>
          </a:solidFill>
          <a:ln/>
        </p:spPr>
      </p:sp>
      <p:sp>
        <p:nvSpPr>
          <p:cNvPr id="26" name="Text 23"/>
          <p:cNvSpPr/>
          <p:nvPr/>
        </p:nvSpPr>
        <p:spPr>
          <a:xfrm>
            <a:off x="5394960" y="4023360"/>
            <a:ext cx="749808" cy="859536"/>
          </a:xfrm>
          <a:prstGeom prst="rect">
            <a:avLst/>
          </a:prstGeom>
          <a:noFill/>
          <a:ln/>
        </p:spPr>
        <p:txBody>
          <a:bodyPr wrap="square" rtlCol="0" anchor="ctr"/>
          <a:lstStyle/>
          <a:p>
            <a:pPr algn="ctr" indent="0" marL="0">
              <a:buNone/>
            </a:pPr>
            <a:r>
              <a:rPr lang="en-US" sz="700" b="1" dirty="0">
                <a:solidFill>
                  <a:srgbClr val="2E7D32"/>
                </a:solidFill>
                <a:latin typeface="Arial" pitchFamily="34" charset="0"/>
                <a:ea typeface="Arial" pitchFamily="34" charset="-122"/>
                <a:cs typeface="Arial" pitchFamily="34" charset="-120"/>
              </a:rPr>
              <a:t>AMERICAS</a:t>
            </a:r>
            <a:endParaRPr lang="en-US" sz="700" dirty="0"/>
          </a:p>
        </p:txBody>
      </p:sp>
      <p:sp>
        <p:nvSpPr>
          <p:cNvPr id="27" name="Text 24"/>
          <p:cNvSpPr/>
          <p:nvPr/>
        </p:nvSpPr>
        <p:spPr>
          <a:xfrm>
            <a:off x="6217920" y="4114800"/>
            <a:ext cx="2606040" cy="694944"/>
          </a:xfrm>
          <a:prstGeom prst="rect">
            <a:avLst/>
          </a:prstGeom>
          <a:noFill/>
          <a:ln/>
        </p:spPr>
        <p:txBody>
          <a:bodyPr wrap="square" lIns="0" tIns="0" rIns="0" bIns="0" rtlCol="0" anchor="ctr"/>
          <a:lstStyle/>
          <a:p>
            <a:pPr indent="0" marL="0">
              <a:buNone/>
            </a:pPr>
            <a:r>
              <a:rPr lang="en-US" sz="850" dirty="0">
                <a:solidFill>
                  <a:srgbClr val="263238"/>
                </a:solidFill>
                <a:latin typeface="Calibri" pitchFamily="34" charset="0"/>
                <a:ea typeface="Calibri" pitchFamily="34" charset="-122"/>
                <a:cs typeface="Calibri" pitchFamily="34" charset="-120"/>
              </a:rPr>
              <a:t>USA has 140+ GW. California leads. Brazil solar capacity growing 50% year-on-year since 2020.</a:t>
            </a:r>
            <a:endParaRPr lang="en-US" sz="850" dirty="0"/>
          </a:p>
        </p:txBody>
      </p:sp>
      <p:sp>
        <p:nvSpPr>
          <p:cNvPr id="28" name="Text 25"/>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11 / 16</a:t>
            </a:r>
            <a:endParaRPr lang="en-US" sz="850" dirty="0"/>
          </a:p>
        </p:txBody>
      </p:sp>
      <p:sp>
        <p:nvSpPr>
          <p:cNvPr id="200" name="labbg_0"/>
          <p:cNvSpPr>
            <a:spLocks noGrp="1"/>
          </p:cNvSpPr>
          <p:nvPr/>
        </p:nvSpPr>
        <p:spPr>
          <a:xfrm>
            <a:off x="320040" y="1050000"/>
            <a:ext cx="950000" cy="350000"/>
          </a:xfrm>
          <a:prstGeom prst="rect">
            <a:avLst/>
          </a:prstGeom>
          <a:solidFill>
            <a:srgbClr val="0D1B3E"/>
          </a:solidFill>
          <a:ln>
            <a:noFill/>
          </a:ln>
        </p:spPr>
        <p:txBody>
          <a:bodyPr/>
          <a:lstStyle/>
          <a:p/>
        </p:txBody>
      </p:sp>
      <p:sp>
        <p:nvSpPr>
          <p:cNvPr id="201" name="label_0"/>
          <p:cNvSpPr txBox="1">
            <a:spLocks noGrp="1"/>
          </p:cNvSpPr>
          <p:nvPr/>
        </p:nvSpPr>
        <p:spPr>
          <a:xfrm>
            <a:off x="350040" y="1050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China</a:t>
            </a:r>
          </a:p>
        </p:txBody>
      </p:sp>
      <p:sp>
        <p:nvSpPr>
          <p:cNvPr id="202" name="barbg_0"/>
          <p:cNvSpPr>
            <a:spLocks noGrp="1"/>
          </p:cNvSpPr>
          <p:nvPr/>
        </p:nvSpPr>
        <p:spPr>
          <a:xfrm>
            <a:off x="1290040" y="1050000"/>
            <a:ext cx="4150000" cy="350000"/>
          </a:xfrm>
          <a:prstGeom prst="rect">
            <a:avLst/>
          </a:prstGeom>
          <a:solidFill>
            <a:srgbClr val="1E2D5A"/>
          </a:solidFill>
          <a:ln>
            <a:noFill/>
          </a:ln>
        </p:spPr>
        <p:txBody>
          <a:bodyPr/>
          <a:lstStyle/>
          <a:p/>
        </p:txBody>
      </p:sp>
      <p:sp>
        <p:nvSpPr>
          <p:cNvPr id="203" name="bar_0"/>
          <p:cNvSpPr>
            <a:spLocks noGrp="1"/>
          </p:cNvSpPr>
          <p:nvPr/>
        </p:nvSpPr>
        <p:spPr>
          <a:xfrm>
            <a:off x="1290040" y="1050000"/>
            <a:ext cx="4150000" cy="350000"/>
          </a:xfrm>
          <a:prstGeom prst="rect">
            <a:avLst/>
          </a:prstGeom>
          <a:solidFill>
            <a:srgbClr val="FF6B35"/>
          </a:solidFill>
          <a:ln>
            <a:noFill/>
          </a:ln>
        </p:spPr>
        <p:txBody>
          <a:bodyPr/>
          <a:lstStyle/>
          <a:p/>
        </p:txBody>
      </p:sp>
      <p:sp>
        <p:nvSpPr>
          <p:cNvPr id="204" name="val_0"/>
          <p:cNvSpPr txBox="1">
            <a:spLocks noGrp="1"/>
          </p:cNvSpPr>
          <p:nvPr/>
        </p:nvSpPr>
        <p:spPr>
          <a:xfrm>
            <a:off x="5470040" y="1050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430 GW</a:t>
            </a:r>
          </a:p>
        </p:txBody>
      </p:sp>
      <p:sp>
        <p:nvSpPr>
          <p:cNvPr id="205" name="labbg_1"/>
          <p:cNvSpPr>
            <a:spLocks noGrp="1"/>
          </p:cNvSpPr>
          <p:nvPr/>
        </p:nvSpPr>
        <p:spPr>
          <a:xfrm>
            <a:off x="320040" y="1425000"/>
            <a:ext cx="950000" cy="350000"/>
          </a:xfrm>
          <a:prstGeom prst="rect">
            <a:avLst/>
          </a:prstGeom>
          <a:solidFill>
            <a:srgbClr val="0D1B3E"/>
          </a:solidFill>
          <a:ln>
            <a:noFill/>
          </a:ln>
        </p:spPr>
        <p:txBody>
          <a:bodyPr/>
          <a:lstStyle/>
          <a:p/>
        </p:txBody>
      </p:sp>
      <p:sp>
        <p:nvSpPr>
          <p:cNvPr id="206" name="label_1"/>
          <p:cNvSpPr txBox="1">
            <a:spLocks noGrp="1"/>
          </p:cNvSpPr>
          <p:nvPr/>
        </p:nvSpPr>
        <p:spPr>
          <a:xfrm>
            <a:off x="350040" y="1425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USA</a:t>
            </a:r>
          </a:p>
        </p:txBody>
      </p:sp>
      <p:sp>
        <p:nvSpPr>
          <p:cNvPr id="207" name="barbg_1"/>
          <p:cNvSpPr>
            <a:spLocks noGrp="1"/>
          </p:cNvSpPr>
          <p:nvPr/>
        </p:nvSpPr>
        <p:spPr>
          <a:xfrm>
            <a:off x="1290040" y="1425000"/>
            <a:ext cx="4150000" cy="350000"/>
          </a:xfrm>
          <a:prstGeom prst="rect">
            <a:avLst/>
          </a:prstGeom>
          <a:solidFill>
            <a:srgbClr val="1E2D5A"/>
          </a:solidFill>
          <a:ln>
            <a:noFill/>
          </a:ln>
        </p:spPr>
        <p:txBody>
          <a:bodyPr/>
          <a:lstStyle/>
          <a:p/>
        </p:txBody>
      </p:sp>
      <p:sp>
        <p:nvSpPr>
          <p:cNvPr id="208" name="bar_1"/>
          <p:cNvSpPr>
            <a:spLocks noGrp="1"/>
          </p:cNvSpPr>
          <p:nvPr/>
        </p:nvSpPr>
        <p:spPr>
          <a:xfrm>
            <a:off x="1290040" y="1425000"/>
            <a:ext cx="1360813" cy="350000"/>
          </a:xfrm>
          <a:prstGeom prst="rect">
            <a:avLst/>
          </a:prstGeom>
          <a:solidFill>
            <a:srgbClr val="E8A87C"/>
          </a:solidFill>
          <a:ln>
            <a:noFill/>
          </a:ln>
        </p:spPr>
        <p:txBody>
          <a:bodyPr/>
          <a:lstStyle/>
          <a:p/>
        </p:txBody>
      </p:sp>
      <p:sp>
        <p:nvSpPr>
          <p:cNvPr id="209" name="val_1"/>
          <p:cNvSpPr txBox="1">
            <a:spLocks noGrp="1"/>
          </p:cNvSpPr>
          <p:nvPr/>
        </p:nvSpPr>
        <p:spPr>
          <a:xfrm>
            <a:off x="2680853" y="1425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141 GW</a:t>
            </a:r>
          </a:p>
        </p:txBody>
      </p:sp>
      <p:sp>
        <p:nvSpPr>
          <p:cNvPr id="210" name="labbg_2"/>
          <p:cNvSpPr>
            <a:spLocks noGrp="1"/>
          </p:cNvSpPr>
          <p:nvPr/>
        </p:nvSpPr>
        <p:spPr>
          <a:xfrm>
            <a:off x="320040" y="1800000"/>
            <a:ext cx="950000" cy="350000"/>
          </a:xfrm>
          <a:prstGeom prst="rect">
            <a:avLst/>
          </a:prstGeom>
          <a:solidFill>
            <a:srgbClr val="0D1B3E"/>
          </a:solidFill>
          <a:ln>
            <a:noFill/>
          </a:ln>
        </p:spPr>
        <p:txBody>
          <a:bodyPr/>
          <a:lstStyle/>
          <a:p/>
        </p:txBody>
      </p:sp>
      <p:sp>
        <p:nvSpPr>
          <p:cNvPr id="211" name="label_2"/>
          <p:cNvSpPr txBox="1">
            <a:spLocks noGrp="1"/>
          </p:cNvSpPr>
          <p:nvPr/>
        </p:nvSpPr>
        <p:spPr>
          <a:xfrm>
            <a:off x="350040" y="1800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Japan</a:t>
            </a:r>
          </a:p>
        </p:txBody>
      </p:sp>
      <p:sp>
        <p:nvSpPr>
          <p:cNvPr id="212" name="barbg_2"/>
          <p:cNvSpPr>
            <a:spLocks noGrp="1"/>
          </p:cNvSpPr>
          <p:nvPr/>
        </p:nvSpPr>
        <p:spPr>
          <a:xfrm>
            <a:off x="1290040" y="1800000"/>
            <a:ext cx="4150000" cy="350000"/>
          </a:xfrm>
          <a:prstGeom prst="rect">
            <a:avLst/>
          </a:prstGeom>
          <a:solidFill>
            <a:srgbClr val="1E2D5A"/>
          </a:solidFill>
          <a:ln>
            <a:noFill/>
          </a:ln>
        </p:spPr>
        <p:txBody>
          <a:bodyPr/>
          <a:lstStyle/>
          <a:p/>
        </p:txBody>
      </p:sp>
      <p:sp>
        <p:nvSpPr>
          <p:cNvPr id="213" name="bar_2"/>
          <p:cNvSpPr>
            <a:spLocks noGrp="1"/>
          </p:cNvSpPr>
          <p:nvPr/>
        </p:nvSpPr>
        <p:spPr>
          <a:xfrm>
            <a:off x="1290040" y="1800000"/>
            <a:ext cx="839651" cy="350000"/>
          </a:xfrm>
          <a:prstGeom prst="rect">
            <a:avLst/>
          </a:prstGeom>
          <a:solidFill>
            <a:srgbClr val="A8D5BA"/>
          </a:solidFill>
          <a:ln>
            <a:noFill/>
          </a:ln>
        </p:spPr>
        <p:txBody>
          <a:bodyPr/>
          <a:lstStyle/>
          <a:p/>
        </p:txBody>
      </p:sp>
      <p:sp>
        <p:nvSpPr>
          <p:cNvPr id="214" name="val_2"/>
          <p:cNvSpPr txBox="1">
            <a:spLocks noGrp="1"/>
          </p:cNvSpPr>
          <p:nvPr/>
        </p:nvSpPr>
        <p:spPr>
          <a:xfrm>
            <a:off x="2159691" y="1800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87 GW</a:t>
            </a:r>
          </a:p>
        </p:txBody>
      </p:sp>
      <p:sp>
        <p:nvSpPr>
          <p:cNvPr id="215" name="labbg_3"/>
          <p:cNvSpPr>
            <a:spLocks noGrp="1"/>
          </p:cNvSpPr>
          <p:nvPr/>
        </p:nvSpPr>
        <p:spPr>
          <a:xfrm>
            <a:off x="320040" y="2175000"/>
            <a:ext cx="950000" cy="350000"/>
          </a:xfrm>
          <a:prstGeom prst="rect">
            <a:avLst/>
          </a:prstGeom>
          <a:solidFill>
            <a:srgbClr val="0D1B3E"/>
          </a:solidFill>
          <a:ln>
            <a:noFill/>
          </a:ln>
        </p:spPr>
        <p:txBody>
          <a:bodyPr/>
          <a:lstStyle/>
          <a:p/>
        </p:txBody>
      </p:sp>
      <p:sp>
        <p:nvSpPr>
          <p:cNvPr id="216" name="label_3"/>
          <p:cNvSpPr txBox="1">
            <a:spLocks noGrp="1"/>
          </p:cNvSpPr>
          <p:nvPr/>
        </p:nvSpPr>
        <p:spPr>
          <a:xfrm>
            <a:off x="350040" y="2175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Germany</a:t>
            </a:r>
          </a:p>
        </p:txBody>
      </p:sp>
      <p:sp>
        <p:nvSpPr>
          <p:cNvPr id="217" name="barbg_3"/>
          <p:cNvSpPr>
            <a:spLocks noGrp="1"/>
          </p:cNvSpPr>
          <p:nvPr/>
        </p:nvSpPr>
        <p:spPr>
          <a:xfrm>
            <a:off x="1290040" y="2175000"/>
            <a:ext cx="4150000" cy="350000"/>
          </a:xfrm>
          <a:prstGeom prst="rect">
            <a:avLst/>
          </a:prstGeom>
          <a:solidFill>
            <a:srgbClr val="1E2D5A"/>
          </a:solidFill>
          <a:ln>
            <a:noFill/>
          </a:ln>
        </p:spPr>
        <p:txBody>
          <a:bodyPr/>
          <a:lstStyle/>
          <a:p/>
        </p:txBody>
      </p:sp>
      <p:sp>
        <p:nvSpPr>
          <p:cNvPr id="218" name="bar_3"/>
          <p:cNvSpPr>
            <a:spLocks noGrp="1"/>
          </p:cNvSpPr>
          <p:nvPr/>
        </p:nvSpPr>
        <p:spPr>
          <a:xfrm>
            <a:off x="1290040" y="2175000"/>
            <a:ext cx="791395" cy="350000"/>
          </a:xfrm>
          <a:prstGeom prst="rect">
            <a:avLst/>
          </a:prstGeom>
          <a:solidFill>
            <a:srgbClr val="1B4F8A"/>
          </a:solidFill>
          <a:ln>
            <a:noFill/>
          </a:ln>
        </p:spPr>
        <p:txBody>
          <a:bodyPr/>
          <a:lstStyle/>
          <a:p/>
        </p:txBody>
      </p:sp>
      <p:sp>
        <p:nvSpPr>
          <p:cNvPr id="219" name="val_3"/>
          <p:cNvSpPr txBox="1">
            <a:spLocks noGrp="1"/>
          </p:cNvSpPr>
          <p:nvPr/>
        </p:nvSpPr>
        <p:spPr>
          <a:xfrm>
            <a:off x="2111435" y="2175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82 GW</a:t>
            </a:r>
          </a:p>
        </p:txBody>
      </p:sp>
      <p:sp>
        <p:nvSpPr>
          <p:cNvPr id="220" name="labbg_4"/>
          <p:cNvSpPr>
            <a:spLocks noGrp="1"/>
          </p:cNvSpPr>
          <p:nvPr/>
        </p:nvSpPr>
        <p:spPr>
          <a:xfrm>
            <a:off x="320040" y="2550000"/>
            <a:ext cx="950000" cy="350000"/>
          </a:xfrm>
          <a:prstGeom prst="rect">
            <a:avLst/>
          </a:prstGeom>
          <a:solidFill>
            <a:srgbClr val="0D1B3E"/>
          </a:solidFill>
          <a:ln>
            <a:noFill/>
          </a:ln>
        </p:spPr>
        <p:txBody>
          <a:bodyPr/>
          <a:lstStyle/>
          <a:p/>
        </p:txBody>
      </p:sp>
      <p:sp>
        <p:nvSpPr>
          <p:cNvPr id="221" name="label_4"/>
          <p:cNvSpPr txBox="1">
            <a:spLocks noGrp="1"/>
          </p:cNvSpPr>
          <p:nvPr/>
        </p:nvSpPr>
        <p:spPr>
          <a:xfrm>
            <a:off x="350040" y="2550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India</a:t>
            </a:r>
          </a:p>
        </p:txBody>
      </p:sp>
      <p:sp>
        <p:nvSpPr>
          <p:cNvPr id="222" name="barbg_4"/>
          <p:cNvSpPr>
            <a:spLocks noGrp="1"/>
          </p:cNvSpPr>
          <p:nvPr/>
        </p:nvSpPr>
        <p:spPr>
          <a:xfrm>
            <a:off x="1290040" y="2550000"/>
            <a:ext cx="4150000" cy="350000"/>
          </a:xfrm>
          <a:prstGeom prst="rect">
            <a:avLst/>
          </a:prstGeom>
          <a:solidFill>
            <a:srgbClr val="1E2D5A"/>
          </a:solidFill>
          <a:ln>
            <a:noFill/>
          </a:ln>
        </p:spPr>
        <p:txBody>
          <a:bodyPr/>
          <a:lstStyle/>
          <a:p/>
        </p:txBody>
      </p:sp>
      <p:sp>
        <p:nvSpPr>
          <p:cNvPr id="223" name="bar_4"/>
          <p:cNvSpPr>
            <a:spLocks noGrp="1"/>
          </p:cNvSpPr>
          <p:nvPr/>
        </p:nvSpPr>
        <p:spPr>
          <a:xfrm>
            <a:off x="1290040" y="2550000"/>
            <a:ext cx="704534" cy="350000"/>
          </a:xfrm>
          <a:prstGeom prst="rect">
            <a:avLst/>
          </a:prstGeom>
          <a:solidFill>
            <a:srgbClr val="2BAE66"/>
          </a:solidFill>
          <a:ln>
            <a:noFill/>
          </a:ln>
        </p:spPr>
        <p:txBody>
          <a:bodyPr/>
          <a:lstStyle/>
          <a:p/>
        </p:txBody>
      </p:sp>
      <p:sp>
        <p:nvSpPr>
          <p:cNvPr id="224" name="val_4"/>
          <p:cNvSpPr txBox="1">
            <a:spLocks noGrp="1"/>
          </p:cNvSpPr>
          <p:nvPr/>
        </p:nvSpPr>
        <p:spPr>
          <a:xfrm>
            <a:off x="2024574" y="2550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73 GW</a:t>
            </a:r>
          </a:p>
        </p:txBody>
      </p:sp>
      <p:sp>
        <p:nvSpPr>
          <p:cNvPr id="225" name="labbg_5"/>
          <p:cNvSpPr>
            <a:spLocks noGrp="1"/>
          </p:cNvSpPr>
          <p:nvPr/>
        </p:nvSpPr>
        <p:spPr>
          <a:xfrm>
            <a:off x="320040" y="2925000"/>
            <a:ext cx="950000" cy="350000"/>
          </a:xfrm>
          <a:prstGeom prst="rect">
            <a:avLst/>
          </a:prstGeom>
          <a:solidFill>
            <a:srgbClr val="0D1B3E"/>
          </a:solidFill>
          <a:ln>
            <a:noFill/>
          </a:ln>
        </p:spPr>
        <p:txBody>
          <a:bodyPr/>
          <a:lstStyle/>
          <a:p/>
        </p:txBody>
      </p:sp>
      <p:sp>
        <p:nvSpPr>
          <p:cNvPr id="226" name="label_5"/>
          <p:cNvSpPr txBox="1">
            <a:spLocks noGrp="1"/>
          </p:cNvSpPr>
          <p:nvPr/>
        </p:nvSpPr>
        <p:spPr>
          <a:xfrm>
            <a:off x="350040" y="2925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Australia</a:t>
            </a:r>
          </a:p>
        </p:txBody>
      </p:sp>
      <p:sp>
        <p:nvSpPr>
          <p:cNvPr id="227" name="barbg_5"/>
          <p:cNvSpPr>
            <a:spLocks noGrp="1"/>
          </p:cNvSpPr>
          <p:nvPr/>
        </p:nvSpPr>
        <p:spPr>
          <a:xfrm>
            <a:off x="1290040" y="2925000"/>
            <a:ext cx="4150000" cy="350000"/>
          </a:xfrm>
          <a:prstGeom prst="rect">
            <a:avLst/>
          </a:prstGeom>
          <a:solidFill>
            <a:srgbClr val="1E2D5A"/>
          </a:solidFill>
          <a:ln>
            <a:noFill/>
          </a:ln>
        </p:spPr>
        <p:txBody>
          <a:bodyPr/>
          <a:lstStyle/>
          <a:p/>
        </p:txBody>
      </p:sp>
      <p:sp>
        <p:nvSpPr>
          <p:cNvPr id="228" name="bar_5"/>
          <p:cNvSpPr>
            <a:spLocks noGrp="1"/>
          </p:cNvSpPr>
          <p:nvPr/>
        </p:nvSpPr>
        <p:spPr>
          <a:xfrm>
            <a:off x="1290040" y="2925000"/>
            <a:ext cx="357093" cy="350000"/>
          </a:xfrm>
          <a:prstGeom prst="rect">
            <a:avLst/>
          </a:prstGeom>
          <a:solidFill>
            <a:srgbClr val="5BA4CF"/>
          </a:solidFill>
          <a:ln>
            <a:noFill/>
          </a:ln>
        </p:spPr>
        <p:txBody>
          <a:bodyPr/>
          <a:lstStyle/>
          <a:p/>
        </p:txBody>
      </p:sp>
      <p:sp>
        <p:nvSpPr>
          <p:cNvPr id="229" name="val_5"/>
          <p:cNvSpPr txBox="1">
            <a:spLocks noGrp="1"/>
          </p:cNvSpPr>
          <p:nvPr/>
        </p:nvSpPr>
        <p:spPr>
          <a:xfrm>
            <a:off x="1677133" y="2925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37 GW</a:t>
            </a:r>
          </a:p>
        </p:txBody>
      </p:sp>
      <p:sp>
        <p:nvSpPr>
          <p:cNvPr id="230" name="labbg_6"/>
          <p:cNvSpPr>
            <a:spLocks noGrp="1"/>
          </p:cNvSpPr>
          <p:nvPr/>
        </p:nvSpPr>
        <p:spPr>
          <a:xfrm>
            <a:off x="320040" y="3300000"/>
            <a:ext cx="950000" cy="350000"/>
          </a:xfrm>
          <a:prstGeom prst="rect">
            <a:avLst/>
          </a:prstGeom>
          <a:solidFill>
            <a:srgbClr val="0D1B3E"/>
          </a:solidFill>
          <a:ln>
            <a:noFill/>
          </a:ln>
        </p:spPr>
        <p:txBody>
          <a:bodyPr/>
          <a:lstStyle/>
          <a:p/>
        </p:txBody>
      </p:sp>
      <p:sp>
        <p:nvSpPr>
          <p:cNvPr id="231" name="label_6"/>
          <p:cNvSpPr txBox="1">
            <a:spLocks noGrp="1"/>
          </p:cNvSpPr>
          <p:nvPr/>
        </p:nvSpPr>
        <p:spPr>
          <a:xfrm>
            <a:off x="350040" y="3300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Brazil</a:t>
            </a:r>
          </a:p>
        </p:txBody>
      </p:sp>
      <p:sp>
        <p:nvSpPr>
          <p:cNvPr id="232" name="barbg_6"/>
          <p:cNvSpPr>
            <a:spLocks noGrp="1"/>
          </p:cNvSpPr>
          <p:nvPr/>
        </p:nvSpPr>
        <p:spPr>
          <a:xfrm>
            <a:off x="1290040" y="3300000"/>
            <a:ext cx="4150000" cy="350000"/>
          </a:xfrm>
          <a:prstGeom prst="rect">
            <a:avLst/>
          </a:prstGeom>
          <a:solidFill>
            <a:srgbClr val="1E2D5A"/>
          </a:solidFill>
          <a:ln>
            <a:noFill/>
          </a:ln>
        </p:spPr>
        <p:txBody>
          <a:bodyPr/>
          <a:lstStyle/>
          <a:p/>
        </p:txBody>
      </p:sp>
      <p:sp>
        <p:nvSpPr>
          <p:cNvPr id="233" name="bar_6"/>
          <p:cNvSpPr>
            <a:spLocks noGrp="1"/>
          </p:cNvSpPr>
          <p:nvPr/>
        </p:nvSpPr>
        <p:spPr>
          <a:xfrm>
            <a:off x="1290040" y="3300000"/>
            <a:ext cx="328139" cy="350000"/>
          </a:xfrm>
          <a:prstGeom prst="rect">
            <a:avLst/>
          </a:prstGeom>
          <a:solidFill>
            <a:srgbClr val="88D498"/>
          </a:solidFill>
          <a:ln>
            <a:noFill/>
          </a:ln>
        </p:spPr>
        <p:txBody>
          <a:bodyPr/>
          <a:lstStyle/>
          <a:p/>
        </p:txBody>
      </p:sp>
      <p:sp>
        <p:nvSpPr>
          <p:cNvPr id="234" name="val_6"/>
          <p:cNvSpPr txBox="1">
            <a:spLocks noGrp="1"/>
          </p:cNvSpPr>
          <p:nvPr/>
        </p:nvSpPr>
        <p:spPr>
          <a:xfrm>
            <a:off x="1648179" y="3300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34 GW</a:t>
            </a:r>
          </a:p>
        </p:txBody>
      </p:sp>
      <p:sp>
        <p:nvSpPr>
          <p:cNvPr id="235" name="labbg_7"/>
          <p:cNvSpPr>
            <a:spLocks noGrp="1"/>
          </p:cNvSpPr>
          <p:nvPr/>
        </p:nvSpPr>
        <p:spPr>
          <a:xfrm>
            <a:off x="320040" y="3675000"/>
            <a:ext cx="950000" cy="350000"/>
          </a:xfrm>
          <a:prstGeom prst="rect">
            <a:avLst/>
          </a:prstGeom>
          <a:solidFill>
            <a:srgbClr val="0D1B3E"/>
          </a:solidFill>
          <a:ln>
            <a:noFill/>
          </a:ln>
        </p:spPr>
        <p:txBody>
          <a:bodyPr/>
          <a:lstStyle/>
          <a:p/>
        </p:txBody>
      </p:sp>
      <p:sp>
        <p:nvSpPr>
          <p:cNvPr id="236" name="label_7"/>
          <p:cNvSpPr txBox="1">
            <a:spLocks noGrp="1"/>
          </p:cNvSpPr>
          <p:nvPr/>
        </p:nvSpPr>
        <p:spPr>
          <a:xfrm>
            <a:off x="350040" y="3675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Italy</a:t>
            </a:r>
          </a:p>
        </p:txBody>
      </p:sp>
      <p:sp>
        <p:nvSpPr>
          <p:cNvPr id="237" name="barbg_7"/>
          <p:cNvSpPr>
            <a:spLocks noGrp="1"/>
          </p:cNvSpPr>
          <p:nvPr/>
        </p:nvSpPr>
        <p:spPr>
          <a:xfrm>
            <a:off x="1290040" y="3675000"/>
            <a:ext cx="4150000" cy="350000"/>
          </a:xfrm>
          <a:prstGeom prst="rect">
            <a:avLst/>
          </a:prstGeom>
          <a:solidFill>
            <a:srgbClr val="1E2D5A"/>
          </a:solidFill>
          <a:ln>
            <a:noFill/>
          </a:ln>
        </p:spPr>
        <p:txBody>
          <a:bodyPr/>
          <a:lstStyle/>
          <a:p/>
        </p:txBody>
      </p:sp>
      <p:sp>
        <p:nvSpPr>
          <p:cNvPr id="238" name="bar_7"/>
          <p:cNvSpPr>
            <a:spLocks noGrp="1"/>
          </p:cNvSpPr>
          <p:nvPr/>
        </p:nvSpPr>
        <p:spPr>
          <a:xfrm>
            <a:off x="1290040" y="3675000"/>
            <a:ext cx="299186" cy="350000"/>
          </a:xfrm>
          <a:prstGeom prst="rect">
            <a:avLst/>
          </a:prstGeom>
          <a:solidFill>
            <a:srgbClr val="E8A87C"/>
          </a:solidFill>
          <a:ln>
            <a:noFill/>
          </a:ln>
        </p:spPr>
        <p:txBody>
          <a:bodyPr/>
          <a:lstStyle/>
          <a:p/>
        </p:txBody>
      </p:sp>
      <p:sp>
        <p:nvSpPr>
          <p:cNvPr id="239" name="val_7"/>
          <p:cNvSpPr txBox="1">
            <a:spLocks noGrp="1"/>
          </p:cNvSpPr>
          <p:nvPr/>
        </p:nvSpPr>
        <p:spPr>
          <a:xfrm>
            <a:off x="1619226" y="3675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31 GW</a:t>
            </a:r>
          </a:p>
        </p:txBody>
      </p:sp>
      <p:sp>
        <p:nvSpPr>
          <p:cNvPr id="240" name="labbg_8"/>
          <p:cNvSpPr>
            <a:spLocks noGrp="1"/>
          </p:cNvSpPr>
          <p:nvPr/>
        </p:nvSpPr>
        <p:spPr>
          <a:xfrm>
            <a:off x="320040" y="4050000"/>
            <a:ext cx="950000" cy="350000"/>
          </a:xfrm>
          <a:prstGeom prst="rect">
            <a:avLst/>
          </a:prstGeom>
          <a:solidFill>
            <a:srgbClr val="0D1B3E"/>
          </a:solidFill>
          <a:ln>
            <a:noFill/>
          </a:ln>
        </p:spPr>
        <p:txBody>
          <a:bodyPr/>
          <a:lstStyle/>
          <a:p/>
        </p:txBody>
      </p:sp>
      <p:sp>
        <p:nvSpPr>
          <p:cNvPr id="241" name="label_8"/>
          <p:cNvSpPr txBox="1">
            <a:spLocks noGrp="1"/>
          </p:cNvSpPr>
          <p:nvPr/>
        </p:nvSpPr>
        <p:spPr>
          <a:xfrm>
            <a:off x="350040" y="4050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S. Korea</a:t>
            </a:r>
          </a:p>
        </p:txBody>
      </p:sp>
      <p:sp>
        <p:nvSpPr>
          <p:cNvPr id="242" name="barbg_8"/>
          <p:cNvSpPr>
            <a:spLocks noGrp="1"/>
          </p:cNvSpPr>
          <p:nvPr/>
        </p:nvSpPr>
        <p:spPr>
          <a:xfrm>
            <a:off x="1290040" y="4050000"/>
            <a:ext cx="4150000" cy="350000"/>
          </a:xfrm>
          <a:prstGeom prst="rect">
            <a:avLst/>
          </a:prstGeom>
          <a:solidFill>
            <a:srgbClr val="1E2D5A"/>
          </a:solidFill>
          <a:ln>
            <a:noFill/>
          </a:ln>
        </p:spPr>
        <p:txBody>
          <a:bodyPr/>
          <a:lstStyle/>
          <a:p/>
        </p:txBody>
      </p:sp>
      <p:sp>
        <p:nvSpPr>
          <p:cNvPr id="243" name="bar_8"/>
          <p:cNvSpPr>
            <a:spLocks noGrp="1"/>
          </p:cNvSpPr>
          <p:nvPr/>
        </p:nvSpPr>
        <p:spPr>
          <a:xfrm>
            <a:off x="1290040" y="4050000"/>
            <a:ext cx="250930" cy="350000"/>
          </a:xfrm>
          <a:prstGeom prst="rect">
            <a:avLst/>
          </a:prstGeom>
          <a:solidFill>
            <a:srgbClr val="FF8C42"/>
          </a:solidFill>
          <a:ln>
            <a:noFill/>
          </a:ln>
        </p:spPr>
        <p:txBody>
          <a:bodyPr/>
          <a:lstStyle/>
          <a:p/>
        </p:txBody>
      </p:sp>
      <p:sp>
        <p:nvSpPr>
          <p:cNvPr id="244" name="val_8"/>
          <p:cNvSpPr txBox="1">
            <a:spLocks noGrp="1"/>
          </p:cNvSpPr>
          <p:nvPr/>
        </p:nvSpPr>
        <p:spPr>
          <a:xfrm>
            <a:off x="1570970" y="4050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26 GW</a:t>
            </a:r>
          </a:p>
        </p:txBody>
      </p:sp>
      <p:sp>
        <p:nvSpPr>
          <p:cNvPr id="245" name="labbg_9"/>
          <p:cNvSpPr>
            <a:spLocks noGrp="1"/>
          </p:cNvSpPr>
          <p:nvPr/>
        </p:nvSpPr>
        <p:spPr>
          <a:xfrm>
            <a:off x="320040" y="4425000"/>
            <a:ext cx="950000" cy="350000"/>
          </a:xfrm>
          <a:prstGeom prst="rect">
            <a:avLst/>
          </a:prstGeom>
          <a:solidFill>
            <a:srgbClr val="0D1B3E"/>
          </a:solidFill>
          <a:ln>
            <a:noFill/>
          </a:ln>
        </p:spPr>
        <p:txBody>
          <a:bodyPr/>
          <a:lstStyle/>
          <a:p/>
        </p:txBody>
      </p:sp>
      <p:sp>
        <p:nvSpPr>
          <p:cNvPr id="246" name="label_9"/>
          <p:cNvSpPr txBox="1">
            <a:spLocks noGrp="1"/>
          </p:cNvSpPr>
          <p:nvPr/>
        </p:nvSpPr>
        <p:spPr>
          <a:xfrm>
            <a:off x="350040" y="4425000"/>
            <a:ext cx="920000" cy="350000"/>
          </a:xfrm>
          <a:prstGeom prst="rect">
            <a:avLst/>
          </a:prstGeom>
          <a:noFill/>
          <a:ln>
            <a:noFill/>
          </a:ln>
        </p:spPr>
        <p:txBody>
          <a:bodyPr wrap="square" lIns="36000" rIns="36000" tIns="0" bIns="0" anchor="ctr"/>
          <a:lstStyle/>
          <a:p>
            <a:pPr algn="l"/>
            <a:r>
              <a:rPr lang="en-US" sz="1000" b="1" dirty="0">
                <a:solidFill>
                  <a:srgbClr val="FFFFFF"/>
                </a:solidFill>
              </a:rPr>
              <a:t xml:space="preserve">Spain</a:t>
            </a:r>
          </a:p>
        </p:txBody>
      </p:sp>
      <p:sp>
        <p:nvSpPr>
          <p:cNvPr id="247" name="barbg_9"/>
          <p:cNvSpPr>
            <a:spLocks noGrp="1"/>
          </p:cNvSpPr>
          <p:nvPr/>
        </p:nvSpPr>
        <p:spPr>
          <a:xfrm>
            <a:off x="1290040" y="4425000"/>
            <a:ext cx="4150000" cy="350000"/>
          </a:xfrm>
          <a:prstGeom prst="rect">
            <a:avLst/>
          </a:prstGeom>
          <a:solidFill>
            <a:srgbClr val="1E2D5A"/>
          </a:solidFill>
          <a:ln>
            <a:noFill/>
          </a:ln>
        </p:spPr>
        <p:txBody>
          <a:bodyPr/>
          <a:lstStyle/>
          <a:p/>
        </p:txBody>
      </p:sp>
      <p:sp>
        <p:nvSpPr>
          <p:cNvPr id="248" name="bar_9"/>
          <p:cNvSpPr>
            <a:spLocks noGrp="1"/>
          </p:cNvSpPr>
          <p:nvPr/>
        </p:nvSpPr>
        <p:spPr>
          <a:xfrm>
            <a:off x="1290040" y="4425000"/>
            <a:ext cx="231627" cy="350000"/>
          </a:xfrm>
          <a:prstGeom prst="rect">
            <a:avLst/>
          </a:prstGeom>
          <a:solidFill>
            <a:srgbClr val="1B4F8A"/>
          </a:solidFill>
          <a:ln>
            <a:noFill/>
          </a:ln>
        </p:spPr>
        <p:txBody>
          <a:bodyPr/>
          <a:lstStyle/>
          <a:p/>
        </p:txBody>
      </p:sp>
      <p:sp>
        <p:nvSpPr>
          <p:cNvPr id="249" name="val_9"/>
          <p:cNvSpPr txBox="1">
            <a:spLocks noGrp="1"/>
          </p:cNvSpPr>
          <p:nvPr/>
        </p:nvSpPr>
        <p:spPr>
          <a:xfrm>
            <a:off x="1551667" y="4425000"/>
            <a:ext cx="500000" cy="350000"/>
          </a:xfrm>
          <a:prstGeom prst="rect">
            <a:avLst/>
          </a:prstGeom>
          <a:noFill/>
          <a:ln>
            <a:noFill/>
          </a:ln>
        </p:spPr>
        <p:txBody>
          <a:bodyPr wrap="square" lIns="36000" rIns="36000" tIns="0" bIns="0" anchor="ctr"/>
          <a:lstStyle/>
          <a:p>
            <a:pPr algn="l"/>
            <a:r>
              <a:rPr lang="en-US" sz="900" b="1" dirty="0">
                <a:solidFill>
                  <a:srgbClr val="FFD700"/>
                </a:solidFill>
              </a:rPr>
              <a:t xml:space="preserve">24 GW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F1E"/>
        </a:solidFill>
      </p:bgPr>
    </p:bg>
    <p:spTree>
      <p:nvGrpSpPr>
        <p:cNvPr id="1" name=""/>
        <p:cNvGrpSpPr/>
        <p:nvPr/>
      </p:nvGrpSpPr>
      <p:grpSpPr>
        <a:xfrm>
          <a:off x="0" y="0"/>
          <a:ext cx="0" cy="0"/>
          <a:chOff x="0" y="0"/>
          <a:chExt cx="0" cy="0"/>
        </a:xfrm>
      </p:grpSpPr>
      <p:sp>
        <p:nvSpPr>
          <p:cNvPr id="2" name="Shape 0"/>
          <p:cNvSpPr/>
          <p:nvPr/>
        </p:nvSpPr>
        <p:spPr>
          <a:xfrm>
            <a:off x="1097280" y="914400"/>
            <a:ext cx="36576" cy="36576"/>
          </a:xfrm>
          <a:prstGeom prst="ellipse">
            <a:avLst/>
          </a:prstGeom>
          <a:solidFill>
            <a:srgbClr val="FFFFFF">
              <a:alpha val="70000"/>
            </a:srgbClr>
          </a:solidFill>
          <a:ln/>
        </p:spPr>
      </p:sp>
      <p:sp>
        <p:nvSpPr>
          <p:cNvPr id="3" name="Shape 1"/>
          <p:cNvSpPr/>
          <p:nvPr/>
        </p:nvSpPr>
        <p:spPr>
          <a:xfrm>
            <a:off x="3108960" y="365760"/>
            <a:ext cx="36576" cy="36576"/>
          </a:xfrm>
          <a:prstGeom prst="ellipse">
            <a:avLst/>
          </a:prstGeom>
          <a:solidFill>
            <a:srgbClr val="FFFFFF">
              <a:alpha val="70000"/>
            </a:srgbClr>
          </a:solidFill>
          <a:ln/>
        </p:spPr>
      </p:sp>
      <p:sp>
        <p:nvSpPr>
          <p:cNvPr id="4" name="Shape 2"/>
          <p:cNvSpPr/>
          <p:nvPr/>
        </p:nvSpPr>
        <p:spPr>
          <a:xfrm>
            <a:off x="4572000" y="822960"/>
            <a:ext cx="36576" cy="36576"/>
          </a:xfrm>
          <a:prstGeom prst="ellipse">
            <a:avLst/>
          </a:prstGeom>
          <a:solidFill>
            <a:srgbClr val="FFFFFF">
              <a:alpha val="70000"/>
            </a:srgbClr>
          </a:solidFill>
          <a:ln/>
        </p:spPr>
      </p:sp>
      <p:sp>
        <p:nvSpPr>
          <p:cNvPr id="5" name="Shape 3"/>
          <p:cNvSpPr/>
          <p:nvPr/>
        </p:nvSpPr>
        <p:spPr>
          <a:xfrm>
            <a:off x="6583680" y="274320"/>
            <a:ext cx="36576" cy="36576"/>
          </a:xfrm>
          <a:prstGeom prst="ellipse">
            <a:avLst/>
          </a:prstGeom>
          <a:solidFill>
            <a:srgbClr val="FFFFFF">
              <a:alpha val="70000"/>
            </a:srgbClr>
          </a:solidFill>
          <a:ln/>
        </p:spPr>
      </p:sp>
      <p:sp>
        <p:nvSpPr>
          <p:cNvPr id="6" name="Shape 4"/>
          <p:cNvSpPr/>
          <p:nvPr/>
        </p:nvSpPr>
        <p:spPr>
          <a:xfrm>
            <a:off x="8046720" y="1005840"/>
            <a:ext cx="36576" cy="36576"/>
          </a:xfrm>
          <a:prstGeom prst="ellipse">
            <a:avLst/>
          </a:prstGeom>
          <a:solidFill>
            <a:srgbClr val="FFFFFF">
              <a:alpha val="70000"/>
            </a:srgbClr>
          </a:solidFill>
          <a:ln/>
        </p:spPr>
      </p:sp>
      <p:sp>
        <p:nvSpPr>
          <p:cNvPr id="7" name="Shape 5"/>
          <p:cNvSpPr/>
          <p:nvPr/>
        </p:nvSpPr>
        <p:spPr>
          <a:xfrm>
            <a:off x="8686800" y="548640"/>
            <a:ext cx="36576" cy="36576"/>
          </a:xfrm>
          <a:prstGeom prst="ellipse">
            <a:avLst/>
          </a:prstGeom>
          <a:solidFill>
            <a:srgbClr val="FFFFFF">
              <a:alpha val="70000"/>
            </a:srgbClr>
          </a:solidFill>
          <a:ln/>
        </p:spPr>
      </p:sp>
      <p:sp>
        <p:nvSpPr>
          <p:cNvPr id="8" name="Shape 6"/>
          <p:cNvSpPr/>
          <p:nvPr/>
        </p:nvSpPr>
        <p:spPr>
          <a:xfrm>
            <a:off x="457200" y="2286000"/>
            <a:ext cx="36576" cy="36576"/>
          </a:xfrm>
          <a:prstGeom prst="ellipse">
            <a:avLst/>
          </a:prstGeom>
          <a:solidFill>
            <a:srgbClr val="FFFFFF">
              <a:alpha val="70000"/>
            </a:srgbClr>
          </a:solidFill>
          <a:ln/>
        </p:spPr>
      </p:sp>
      <p:sp>
        <p:nvSpPr>
          <p:cNvPr id="9" name="Shape 7"/>
          <p:cNvSpPr/>
          <p:nvPr/>
        </p:nvSpPr>
        <p:spPr>
          <a:xfrm>
            <a:off x="1920240" y="3474720"/>
            <a:ext cx="36576" cy="36576"/>
          </a:xfrm>
          <a:prstGeom prst="ellipse">
            <a:avLst/>
          </a:prstGeom>
          <a:solidFill>
            <a:srgbClr val="FFFFFF">
              <a:alpha val="70000"/>
            </a:srgbClr>
          </a:solidFill>
          <a:ln/>
        </p:spPr>
      </p:sp>
      <p:sp>
        <p:nvSpPr>
          <p:cNvPr id="10" name="Shape 8"/>
          <p:cNvSpPr/>
          <p:nvPr/>
        </p:nvSpPr>
        <p:spPr>
          <a:xfrm>
            <a:off x="8412480" y="2743200"/>
            <a:ext cx="36576" cy="36576"/>
          </a:xfrm>
          <a:prstGeom prst="ellipse">
            <a:avLst/>
          </a:prstGeom>
          <a:solidFill>
            <a:srgbClr val="FFFFFF">
              <a:alpha val="70000"/>
            </a:srgbClr>
          </a:solidFill>
          <a:ln/>
        </p:spPr>
      </p:sp>
      <p:sp>
        <p:nvSpPr>
          <p:cNvPr id="11" name="Shape 9"/>
          <p:cNvSpPr/>
          <p:nvPr/>
        </p:nvSpPr>
        <p:spPr>
          <a:xfrm>
            <a:off x="4114800" y="4389120"/>
            <a:ext cx="36576" cy="36576"/>
          </a:xfrm>
          <a:prstGeom prst="ellipse">
            <a:avLst/>
          </a:prstGeom>
          <a:solidFill>
            <a:srgbClr val="FFFFFF">
              <a:alpha val="70000"/>
            </a:srgbClr>
          </a:solidFill>
          <a:ln/>
        </p:spPr>
      </p:sp>
      <p:sp>
        <p:nvSpPr>
          <p:cNvPr id="12" name="Shape 10"/>
          <p:cNvSpPr/>
          <p:nvPr/>
        </p:nvSpPr>
        <p:spPr>
          <a:xfrm>
            <a:off x="5760720" y="3840480"/>
            <a:ext cx="36576" cy="36576"/>
          </a:xfrm>
          <a:prstGeom prst="ellipse">
            <a:avLst/>
          </a:prstGeom>
          <a:solidFill>
            <a:srgbClr val="FFFFFF">
              <a:alpha val="70000"/>
            </a:srgbClr>
          </a:solidFill>
          <a:ln/>
        </p:spPr>
      </p:sp>
      <p:sp>
        <p:nvSpPr>
          <p:cNvPr id="13" name="Shape 11"/>
          <p:cNvSpPr/>
          <p:nvPr/>
        </p:nvSpPr>
        <p:spPr>
          <a:xfrm>
            <a:off x="1645920" y="2560320"/>
            <a:ext cx="36576" cy="36576"/>
          </a:xfrm>
          <a:prstGeom prst="ellipse">
            <a:avLst/>
          </a:prstGeom>
          <a:solidFill>
            <a:srgbClr val="FFFFFF">
              <a:alpha val="70000"/>
            </a:srgbClr>
          </a:solidFill>
          <a:ln/>
        </p:spPr>
      </p:sp>
      <p:sp>
        <p:nvSpPr>
          <p:cNvPr id="14" name="Shape 12"/>
          <p:cNvSpPr/>
          <p:nvPr/>
        </p:nvSpPr>
        <p:spPr>
          <a:xfrm>
            <a:off x="0" y="0"/>
            <a:ext cx="9144000" cy="685800"/>
          </a:xfrm>
          <a:prstGeom prst="rect">
            <a:avLst/>
          </a:prstGeom>
          <a:solidFill>
            <a:srgbClr val="4527A0"/>
          </a:solidFill>
          <a:ln/>
        </p:spPr>
      </p:sp>
      <p:sp>
        <p:nvSpPr>
          <p:cNvPr id="15" name="Shape 13"/>
          <p:cNvSpPr/>
          <p:nvPr/>
        </p:nvSpPr>
        <p:spPr>
          <a:xfrm>
            <a:off x="0" y="658368"/>
            <a:ext cx="9144000" cy="36576"/>
          </a:xfrm>
          <a:prstGeom prst="rect">
            <a:avLst/>
          </a:prstGeom>
          <a:solidFill>
            <a:srgbClr val="FFB300"/>
          </a:solidFill>
          <a:ln/>
        </p:spPr>
      </p:sp>
      <p:pic>
        <p:nvPicPr>
          <p:cNvPr id="16" name="Image 0" descr="preencoded.png"/>
          <p:cNvPicPr>
            <a:picLocks noChangeAspect="1"/>
          </p:cNvPicPr>
          <p:nvPr/>
        </p:nvPicPr>
        <p:blipFill>
          <a:blip r:embed="rId1"/>
          <a:stretch>
            <a:fillRect/>
          </a:stretch>
        </p:blipFill>
        <p:spPr>
          <a:xfrm>
            <a:off x="182880" y="91440"/>
            <a:ext cx="457200" cy="457200"/>
          </a:xfrm>
          <a:prstGeom prst="rect">
            <a:avLst/>
          </a:prstGeom>
        </p:spPr>
      </p:pic>
      <p:sp>
        <p:nvSpPr>
          <p:cNvPr id="17" name="Text 14"/>
          <p:cNvSpPr/>
          <p:nvPr/>
        </p:nvSpPr>
        <p:spPr>
          <a:xfrm>
            <a:off x="731520" y="73152"/>
            <a:ext cx="8229600" cy="548640"/>
          </a:xfrm>
          <a:prstGeom prst="rect">
            <a:avLst/>
          </a:prstGeom>
          <a:noFill/>
          <a:ln/>
        </p:spPr>
        <p:txBody>
          <a:bodyPr wrap="square" lIns="0" tIns="0" rIns="0" bIns="0" rtlCol="0" anchor="ctr"/>
          <a:lstStyle/>
          <a:p>
            <a:pPr indent="0" marL="0">
              <a:buNone/>
            </a:pPr>
            <a:r>
              <a:rPr lang="en-US" sz="2100" b="1" dirty="0">
                <a:solidFill>
                  <a:srgbClr val="FFFFFF"/>
                </a:solidFill>
                <a:latin typeface="Arial Black" pitchFamily="34" charset="0"/>
                <a:ea typeface="Arial Black" pitchFamily="34" charset="-122"/>
                <a:cs typeface="Arial Black" pitchFamily="34" charset="-120"/>
              </a:rPr>
              <a:t>SOLAR ENERGY &amp; SATELLITES — The Space Connection</a:t>
            </a:r>
            <a:endParaRPr lang="en-US" sz="2100" dirty="0"/>
          </a:p>
        </p:txBody>
      </p:sp>
      <p:sp>
        <p:nvSpPr>
          <p:cNvPr id="18" name="Shape 15"/>
          <p:cNvSpPr/>
          <p:nvPr/>
        </p:nvSpPr>
        <p:spPr>
          <a:xfrm>
            <a:off x="182880" y="1554480"/>
            <a:ext cx="1645920" cy="1645920"/>
          </a:xfrm>
          <a:prstGeom prst="ellipse">
            <a:avLst/>
          </a:prstGeom>
          <a:solidFill>
            <a:srgbClr val="FFB300">
              <a:alpha val="82000"/>
            </a:srgbClr>
          </a:solidFill>
          <a:ln/>
        </p:spPr>
      </p:sp>
      <p:sp>
        <p:nvSpPr>
          <p:cNvPr id="19" name="Text 16"/>
          <p:cNvSpPr/>
          <p:nvPr/>
        </p:nvSpPr>
        <p:spPr>
          <a:xfrm>
            <a:off x="182880" y="2103120"/>
            <a:ext cx="1645920" cy="457200"/>
          </a:xfrm>
          <a:prstGeom prst="rect">
            <a:avLst/>
          </a:prstGeom>
          <a:noFill/>
          <a:ln/>
        </p:spPr>
        <p:txBody>
          <a:bodyPr wrap="square" rtlCol="0" anchor="ctr"/>
          <a:lstStyle/>
          <a:p>
            <a:pPr algn="ctr" indent="0" marL="0">
              <a:buNone/>
            </a:pPr>
            <a:r>
              <a:rPr lang="en-US" sz="1800" b="1" dirty="0">
                <a:solidFill>
                  <a:srgbClr val="0A1628"/>
                </a:solidFill>
                <a:latin typeface="Arial Black" pitchFamily="34" charset="0"/>
                <a:ea typeface="Arial Black" pitchFamily="34" charset="-122"/>
                <a:cs typeface="Arial Black" pitchFamily="34" charset="-120"/>
              </a:rPr>
              <a:t>SUN</a:t>
            </a:r>
            <a:endParaRPr lang="en-US" sz="1800" dirty="0"/>
          </a:p>
        </p:txBody>
      </p:sp>
      <p:sp>
        <p:nvSpPr>
          <p:cNvPr id="20" name="Shape 17"/>
          <p:cNvSpPr/>
          <p:nvPr/>
        </p:nvSpPr>
        <p:spPr>
          <a:xfrm>
            <a:off x="1828800" y="2377440"/>
            <a:ext cx="914400" cy="0"/>
          </a:xfrm>
          <a:prstGeom prst="line">
            <a:avLst/>
          </a:prstGeom>
          <a:noFill/>
          <a:ln w="38100">
            <a:solidFill>
              <a:srgbClr val="FFB300"/>
            </a:solidFill>
            <a:prstDash val="dash"/>
          </a:ln>
        </p:spPr>
      </p:sp>
      <p:sp>
        <p:nvSpPr>
          <p:cNvPr id="21" name="Text 18"/>
          <p:cNvSpPr/>
          <p:nvPr/>
        </p:nvSpPr>
        <p:spPr>
          <a:xfrm>
            <a:off x="1737360" y="1993392"/>
            <a:ext cx="1097280" cy="347472"/>
          </a:xfrm>
          <a:prstGeom prst="rect">
            <a:avLst/>
          </a:prstGeom>
          <a:noFill/>
          <a:ln/>
        </p:spPr>
        <p:txBody>
          <a:bodyPr wrap="square" rtlCol="0" anchor="ctr"/>
          <a:lstStyle/>
          <a:p>
            <a:pPr algn="ctr" indent="0" marL="0">
              <a:buNone/>
            </a:pPr>
            <a:r>
              <a:rPr lang="en-US" sz="800" i="1" dirty="0">
                <a:solidFill>
                  <a:srgbClr val="FFD54F"/>
                </a:solidFill>
              </a:rPr>
              <a:t>Solar Radiation</a:t>
            </a:r>
            <a:endParaRPr lang="en-US" sz="800" dirty="0"/>
          </a:p>
        </p:txBody>
      </p:sp>
      <p:sp>
        <p:nvSpPr>
          <p:cNvPr id="22" name="Shape 19"/>
          <p:cNvSpPr/>
          <p:nvPr/>
        </p:nvSpPr>
        <p:spPr>
          <a:xfrm>
            <a:off x="2743200" y="1371600"/>
            <a:ext cx="1920240" cy="1920240"/>
          </a:xfrm>
          <a:prstGeom prst="rect">
            <a:avLst/>
          </a:prstGeom>
          <a:solidFill>
            <a:srgbClr val="152238"/>
          </a:solidFill>
          <a:ln/>
          <a:effectLst>
            <a:outerShdw sx="100000" sy="100000" kx="0" ky="0" algn="bl" rotWithShape="0" blurRad="101600" dist="38100" dir="8100000">
              <a:srgbClr val="000000">
                <a:alpha val="40000"/>
              </a:srgbClr>
            </a:outerShdw>
          </a:effectLst>
        </p:spPr>
      </p:sp>
      <p:pic>
        <p:nvPicPr>
          <p:cNvPr id="23" name="Image 1" descr="preencoded.png"/>
          <p:cNvPicPr>
            <a:picLocks noChangeAspect="1"/>
          </p:cNvPicPr>
          <p:nvPr/>
        </p:nvPicPr>
        <p:blipFill>
          <a:blip r:embed="rId2"/>
          <a:stretch>
            <a:fillRect/>
          </a:stretch>
        </p:blipFill>
        <p:spPr>
          <a:xfrm>
            <a:off x="3154680" y="1572768"/>
            <a:ext cx="1097280" cy="1097280"/>
          </a:xfrm>
          <a:prstGeom prst="rect">
            <a:avLst/>
          </a:prstGeom>
        </p:spPr>
      </p:pic>
      <p:sp>
        <p:nvSpPr>
          <p:cNvPr id="24" name="Text 20"/>
          <p:cNvSpPr/>
          <p:nvPr/>
        </p:nvSpPr>
        <p:spPr>
          <a:xfrm>
            <a:off x="2743200" y="2852928"/>
            <a:ext cx="1920240" cy="329184"/>
          </a:xfrm>
          <a:prstGeom prst="rect">
            <a:avLst/>
          </a:prstGeom>
          <a:noFill/>
          <a:ln/>
        </p:spPr>
        <p:txBody>
          <a:bodyPr wrap="square" rtlCol="0" anchor="ctr"/>
          <a:lstStyle/>
          <a:p>
            <a:pPr algn="ctr" indent="0" marL="0">
              <a:buNone/>
            </a:pPr>
            <a:r>
              <a:rPr lang="en-US" sz="900" b="1" dirty="0">
                <a:solidFill>
                  <a:srgbClr val="FFB300"/>
                </a:solidFill>
              </a:rPr>
              <a:t>SATELLITE</a:t>
            </a:r>
            <a:endParaRPr lang="en-US" sz="900" dirty="0"/>
          </a:p>
        </p:txBody>
      </p:sp>
      <p:sp>
        <p:nvSpPr>
          <p:cNvPr id="25" name="Shape 21"/>
          <p:cNvSpPr/>
          <p:nvPr/>
        </p:nvSpPr>
        <p:spPr>
          <a:xfrm>
            <a:off x="4663440" y="2377440"/>
            <a:ext cx="914400" cy="0"/>
          </a:xfrm>
          <a:prstGeom prst="line">
            <a:avLst/>
          </a:prstGeom>
          <a:noFill/>
          <a:ln w="38100">
            <a:solidFill>
              <a:srgbClr val="2196F3"/>
            </a:solidFill>
            <a:prstDash val="dash"/>
          </a:ln>
        </p:spPr>
      </p:sp>
      <p:sp>
        <p:nvSpPr>
          <p:cNvPr id="26" name="Text 22"/>
          <p:cNvSpPr/>
          <p:nvPr/>
        </p:nvSpPr>
        <p:spPr>
          <a:xfrm>
            <a:off x="4572000" y="1993392"/>
            <a:ext cx="1097280" cy="347472"/>
          </a:xfrm>
          <a:prstGeom prst="rect">
            <a:avLst/>
          </a:prstGeom>
          <a:noFill/>
          <a:ln/>
        </p:spPr>
        <p:txBody>
          <a:bodyPr wrap="square" rtlCol="0" anchor="ctr"/>
          <a:lstStyle/>
          <a:p>
            <a:pPr algn="ctr" indent="0" marL="0">
              <a:buNone/>
            </a:pPr>
            <a:r>
              <a:rPr lang="en-US" sz="800" i="1" dirty="0">
                <a:solidFill>
                  <a:srgbClr val="ECEFF1"/>
                </a:solidFill>
              </a:rPr>
              <a:t>Data &amp; Signals</a:t>
            </a:r>
            <a:endParaRPr lang="en-US" sz="800" dirty="0"/>
          </a:p>
        </p:txBody>
      </p:sp>
      <p:sp>
        <p:nvSpPr>
          <p:cNvPr id="27" name="Shape 23"/>
          <p:cNvSpPr/>
          <p:nvPr/>
        </p:nvSpPr>
        <p:spPr>
          <a:xfrm>
            <a:off x="5577840" y="1554480"/>
            <a:ext cx="1645920" cy="1645920"/>
          </a:xfrm>
          <a:prstGeom prst="ellipse">
            <a:avLst/>
          </a:prstGeom>
          <a:solidFill>
            <a:srgbClr val="1565C0">
              <a:alpha val="80000"/>
            </a:srgbClr>
          </a:solidFill>
          <a:ln/>
        </p:spPr>
      </p:sp>
      <p:sp>
        <p:nvSpPr>
          <p:cNvPr id="28" name="Text 24"/>
          <p:cNvSpPr/>
          <p:nvPr/>
        </p:nvSpPr>
        <p:spPr>
          <a:xfrm>
            <a:off x="5577840" y="2103120"/>
            <a:ext cx="1645920" cy="45720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EARTH</a:t>
            </a:r>
            <a:endParaRPr lang="en-US" sz="1800" dirty="0"/>
          </a:p>
        </p:txBody>
      </p:sp>
      <p:sp>
        <p:nvSpPr>
          <p:cNvPr id="29" name="Shape 25"/>
          <p:cNvSpPr/>
          <p:nvPr/>
        </p:nvSpPr>
        <p:spPr>
          <a:xfrm>
            <a:off x="7360920" y="804672"/>
            <a:ext cx="1627632"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30" name="Shape 26"/>
          <p:cNvSpPr/>
          <p:nvPr/>
        </p:nvSpPr>
        <p:spPr>
          <a:xfrm>
            <a:off x="7360920" y="804672"/>
            <a:ext cx="64008" cy="914400"/>
          </a:xfrm>
          <a:prstGeom prst="rect">
            <a:avLst/>
          </a:prstGeom>
          <a:solidFill>
            <a:srgbClr val="FFB300"/>
          </a:solidFill>
          <a:ln/>
        </p:spPr>
      </p:sp>
      <p:sp>
        <p:nvSpPr>
          <p:cNvPr id="31" name="Text 27"/>
          <p:cNvSpPr/>
          <p:nvPr/>
        </p:nvSpPr>
        <p:spPr>
          <a:xfrm>
            <a:off x="7498080" y="850392"/>
            <a:ext cx="1481328" cy="292608"/>
          </a:xfrm>
          <a:prstGeom prst="rect">
            <a:avLst/>
          </a:prstGeom>
          <a:noFill/>
          <a:ln/>
        </p:spPr>
        <p:txBody>
          <a:bodyPr wrap="square" lIns="0" tIns="0" rIns="0" bIns="0" rtlCol="0" anchor="ctr"/>
          <a:lstStyle/>
          <a:p>
            <a:pPr indent="0" marL="0">
              <a:buNone/>
            </a:pPr>
            <a:r>
              <a:rPr lang="en-US" sz="850" b="1" dirty="0">
                <a:solidFill>
                  <a:srgbClr val="FFB300"/>
                </a:solidFill>
                <a:latin typeface="Arial" pitchFamily="34" charset="0"/>
                <a:ea typeface="Arial" pitchFamily="34" charset="-122"/>
                <a:cs typeface="Arial" pitchFamily="34" charset="-120"/>
              </a:rPr>
              <a:t>Satellites Fully Solar-Powered</a:t>
            </a:r>
            <a:endParaRPr lang="en-US" sz="850" dirty="0"/>
          </a:p>
        </p:txBody>
      </p:sp>
      <p:sp>
        <p:nvSpPr>
          <p:cNvPr id="32" name="Text 28"/>
          <p:cNvSpPr/>
          <p:nvPr/>
        </p:nvSpPr>
        <p:spPr>
          <a:xfrm>
            <a:off x="7498080" y="1152144"/>
            <a:ext cx="1481328" cy="530352"/>
          </a:xfrm>
          <a:prstGeom prst="rect">
            <a:avLst/>
          </a:prstGeom>
          <a:noFill/>
          <a:ln/>
        </p:spPr>
        <p:txBody>
          <a:bodyPr wrap="square" lIns="0" tIns="0" rIns="0" bIns="0" rtlCol="0" anchor="ctr"/>
          <a:lstStyle/>
          <a:p>
            <a:pPr indent="0" marL="0">
              <a:buNone/>
            </a:pPr>
            <a:r>
              <a:rPr lang="en-US" sz="750" dirty="0">
                <a:solidFill>
                  <a:srgbClr val="ECEFF1"/>
                </a:solidFill>
                <a:latin typeface="Calibri" pitchFamily="34" charset="0"/>
                <a:ea typeface="Calibri" pitchFamily="34" charset="-122"/>
                <a:cs typeface="Calibri" pitchFamily="34" charset="-120"/>
              </a:rPr>
              <a:t>Since Vanguard 1 (1958), every satellite uses solar panels as its main power source. No other energy source works reliably in orbit long-term.</a:t>
            </a:r>
            <a:endParaRPr lang="en-US" sz="750" dirty="0"/>
          </a:p>
        </p:txBody>
      </p:sp>
      <p:sp>
        <p:nvSpPr>
          <p:cNvPr id="33" name="Shape 29"/>
          <p:cNvSpPr/>
          <p:nvPr/>
        </p:nvSpPr>
        <p:spPr>
          <a:xfrm>
            <a:off x="7360920" y="1828800"/>
            <a:ext cx="1627632"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34" name="Shape 30"/>
          <p:cNvSpPr/>
          <p:nvPr/>
        </p:nvSpPr>
        <p:spPr>
          <a:xfrm>
            <a:off x="7360920" y="1828800"/>
            <a:ext cx="64008" cy="914400"/>
          </a:xfrm>
          <a:prstGeom prst="rect">
            <a:avLst/>
          </a:prstGeom>
          <a:solidFill>
            <a:srgbClr val="FFB300"/>
          </a:solidFill>
          <a:ln/>
        </p:spPr>
      </p:sp>
      <p:sp>
        <p:nvSpPr>
          <p:cNvPr id="35" name="Text 31"/>
          <p:cNvSpPr/>
          <p:nvPr/>
        </p:nvSpPr>
        <p:spPr>
          <a:xfrm>
            <a:off x="7498080" y="1874520"/>
            <a:ext cx="1481328" cy="292608"/>
          </a:xfrm>
          <a:prstGeom prst="rect">
            <a:avLst/>
          </a:prstGeom>
          <a:noFill/>
          <a:ln/>
        </p:spPr>
        <p:txBody>
          <a:bodyPr wrap="square" lIns="0" tIns="0" rIns="0" bIns="0" rtlCol="0" anchor="ctr"/>
          <a:lstStyle/>
          <a:p>
            <a:pPr indent="0" marL="0">
              <a:buNone/>
            </a:pPr>
            <a:r>
              <a:rPr lang="en-US" sz="850" b="1" dirty="0">
                <a:solidFill>
                  <a:srgbClr val="FFB300"/>
                </a:solidFill>
                <a:latin typeface="Arial" pitchFamily="34" charset="0"/>
                <a:ea typeface="Arial" pitchFamily="34" charset="-122"/>
                <a:cs typeface="Arial" pitchFamily="34" charset="-120"/>
              </a:rPr>
              <a:t>ISS — 8 Solar Array Wings</a:t>
            </a:r>
            <a:endParaRPr lang="en-US" sz="850" dirty="0"/>
          </a:p>
        </p:txBody>
      </p:sp>
      <p:sp>
        <p:nvSpPr>
          <p:cNvPr id="36" name="Text 32"/>
          <p:cNvSpPr/>
          <p:nvPr/>
        </p:nvSpPr>
        <p:spPr>
          <a:xfrm>
            <a:off x="7498080" y="2176272"/>
            <a:ext cx="1481328" cy="530352"/>
          </a:xfrm>
          <a:prstGeom prst="rect">
            <a:avLst/>
          </a:prstGeom>
          <a:noFill/>
          <a:ln/>
        </p:spPr>
        <p:txBody>
          <a:bodyPr wrap="square" lIns="0" tIns="0" rIns="0" bIns="0" rtlCol="0" anchor="ctr"/>
          <a:lstStyle/>
          <a:p>
            <a:pPr indent="0" marL="0">
              <a:buNone/>
            </a:pPr>
            <a:r>
              <a:rPr lang="en-US" sz="750" dirty="0">
                <a:solidFill>
                  <a:srgbClr val="ECEFF1"/>
                </a:solidFill>
                <a:latin typeface="Calibri" pitchFamily="34" charset="0"/>
                <a:ea typeface="Calibri" pitchFamily="34" charset="-122"/>
                <a:cs typeface="Calibri" pitchFamily="34" charset="-120"/>
              </a:rPr>
              <a:t>The ISS solar wings cover 2,500 m² (an entire acre) and generate 84–120 kW — all the power for 6 crew members and hundreds of experiments.</a:t>
            </a:r>
            <a:endParaRPr lang="en-US" sz="750" dirty="0"/>
          </a:p>
        </p:txBody>
      </p:sp>
      <p:sp>
        <p:nvSpPr>
          <p:cNvPr id="37" name="Shape 33"/>
          <p:cNvSpPr/>
          <p:nvPr/>
        </p:nvSpPr>
        <p:spPr>
          <a:xfrm>
            <a:off x="7360920" y="2852928"/>
            <a:ext cx="1627632"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38" name="Shape 34"/>
          <p:cNvSpPr/>
          <p:nvPr/>
        </p:nvSpPr>
        <p:spPr>
          <a:xfrm>
            <a:off x="7360920" y="2852928"/>
            <a:ext cx="64008" cy="914400"/>
          </a:xfrm>
          <a:prstGeom prst="rect">
            <a:avLst/>
          </a:prstGeom>
          <a:solidFill>
            <a:srgbClr val="FFB300"/>
          </a:solidFill>
          <a:ln/>
        </p:spPr>
      </p:sp>
      <p:sp>
        <p:nvSpPr>
          <p:cNvPr id="39" name="Text 35"/>
          <p:cNvSpPr/>
          <p:nvPr/>
        </p:nvSpPr>
        <p:spPr>
          <a:xfrm>
            <a:off x="7498080" y="2898648"/>
            <a:ext cx="1481328" cy="292608"/>
          </a:xfrm>
          <a:prstGeom prst="rect">
            <a:avLst/>
          </a:prstGeom>
          <a:noFill/>
          <a:ln/>
        </p:spPr>
        <p:txBody>
          <a:bodyPr wrap="square" lIns="0" tIns="0" rIns="0" bIns="0" rtlCol="0" anchor="ctr"/>
          <a:lstStyle/>
          <a:p>
            <a:pPr indent="0" marL="0">
              <a:buNone/>
            </a:pPr>
            <a:r>
              <a:rPr lang="en-US" sz="850" b="1" dirty="0">
                <a:solidFill>
                  <a:srgbClr val="FFB300"/>
                </a:solidFill>
                <a:latin typeface="Arial" pitchFamily="34" charset="0"/>
                <a:ea typeface="Arial" pitchFamily="34" charset="-122"/>
                <a:cs typeface="Arial" pitchFamily="34" charset="-120"/>
              </a:rPr>
              <a:t>Solar Satellites Monitor Earth</a:t>
            </a:r>
            <a:endParaRPr lang="en-US" sz="850" dirty="0"/>
          </a:p>
        </p:txBody>
      </p:sp>
      <p:sp>
        <p:nvSpPr>
          <p:cNvPr id="40" name="Text 36"/>
          <p:cNvSpPr/>
          <p:nvPr/>
        </p:nvSpPr>
        <p:spPr>
          <a:xfrm>
            <a:off x="7498080" y="3200400"/>
            <a:ext cx="1481328" cy="530352"/>
          </a:xfrm>
          <a:prstGeom prst="rect">
            <a:avLst/>
          </a:prstGeom>
          <a:noFill/>
          <a:ln/>
        </p:spPr>
        <p:txBody>
          <a:bodyPr wrap="square" lIns="0" tIns="0" rIns="0" bIns="0" rtlCol="0" anchor="ctr"/>
          <a:lstStyle/>
          <a:p>
            <a:pPr indent="0" marL="0">
              <a:buNone/>
            </a:pPr>
            <a:r>
              <a:rPr lang="en-US" sz="750" dirty="0">
                <a:solidFill>
                  <a:srgbClr val="ECEFF1"/>
                </a:solidFill>
                <a:latin typeface="Calibri" pitchFamily="34" charset="0"/>
                <a:ea typeface="Calibri" pitchFamily="34" charset="-122"/>
                <a:cs typeface="Calibri" pitchFamily="34" charset="-120"/>
              </a:rPr>
              <a:t>Satellites like Sentinel, Landsat, and GOES use solar power to track climate change, wildfires, hurricanes, and measure the Sun's energy output.</a:t>
            </a:r>
            <a:endParaRPr lang="en-US" sz="750" dirty="0"/>
          </a:p>
        </p:txBody>
      </p:sp>
      <p:sp>
        <p:nvSpPr>
          <p:cNvPr id="41" name="Shape 37"/>
          <p:cNvSpPr/>
          <p:nvPr/>
        </p:nvSpPr>
        <p:spPr>
          <a:xfrm>
            <a:off x="7360920" y="3877056"/>
            <a:ext cx="1627632"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42" name="Shape 38"/>
          <p:cNvSpPr/>
          <p:nvPr/>
        </p:nvSpPr>
        <p:spPr>
          <a:xfrm>
            <a:off x="7360920" y="3877056"/>
            <a:ext cx="64008" cy="914400"/>
          </a:xfrm>
          <a:prstGeom prst="rect">
            <a:avLst/>
          </a:prstGeom>
          <a:solidFill>
            <a:srgbClr val="FFB300"/>
          </a:solidFill>
          <a:ln/>
        </p:spPr>
      </p:sp>
      <p:sp>
        <p:nvSpPr>
          <p:cNvPr id="43" name="Text 39"/>
          <p:cNvSpPr/>
          <p:nvPr/>
        </p:nvSpPr>
        <p:spPr>
          <a:xfrm>
            <a:off x="7498080" y="3922776"/>
            <a:ext cx="1481328" cy="292608"/>
          </a:xfrm>
          <a:prstGeom prst="rect">
            <a:avLst/>
          </a:prstGeom>
          <a:noFill/>
          <a:ln/>
        </p:spPr>
        <p:txBody>
          <a:bodyPr wrap="square" lIns="0" tIns="0" rIns="0" bIns="0" rtlCol="0" anchor="ctr"/>
          <a:lstStyle/>
          <a:p>
            <a:pPr indent="0" marL="0">
              <a:buNone/>
            </a:pPr>
            <a:r>
              <a:rPr lang="en-US" sz="850" b="1" dirty="0">
                <a:solidFill>
                  <a:srgbClr val="FFB300"/>
                </a:solidFill>
                <a:latin typeface="Arial" pitchFamily="34" charset="0"/>
                <a:ea typeface="Arial" pitchFamily="34" charset="-122"/>
                <a:cs typeface="Arial" pitchFamily="34" charset="-120"/>
              </a:rPr>
              <a:t>Space-Based Solar Power (Future)</a:t>
            </a:r>
            <a:endParaRPr lang="en-US" sz="850" dirty="0"/>
          </a:p>
        </p:txBody>
      </p:sp>
      <p:sp>
        <p:nvSpPr>
          <p:cNvPr id="44" name="Text 40"/>
          <p:cNvSpPr/>
          <p:nvPr/>
        </p:nvSpPr>
        <p:spPr>
          <a:xfrm>
            <a:off x="7498080" y="4224528"/>
            <a:ext cx="1481328" cy="530352"/>
          </a:xfrm>
          <a:prstGeom prst="rect">
            <a:avLst/>
          </a:prstGeom>
          <a:noFill/>
          <a:ln/>
        </p:spPr>
        <p:txBody>
          <a:bodyPr wrap="square" lIns="0" tIns="0" rIns="0" bIns="0" rtlCol="0" anchor="ctr"/>
          <a:lstStyle/>
          <a:p>
            <a:pPr indent="0" marL="0">
              <a:buNone/>
            </a:pPr>
            <a:r>
              <a:rPr lang="en-US" sz="750" dirty="0">
                <a:solidFill>
                  <a:srgbClr val="ECEFF1"/>
                </a:solidFill>
                <a:latin typeface="Calibri" pitchFamily="34" charset="0"/>
                <a:ea typeface="Calibri" pitchFamily="34" charset="-122"/>
                <a:cs typeface="Calibri" pitchFamily="34" charset="-120"/>
              </a:rPr>
              <a:t>Engineers plan orbiting solar stations that collect energy 24/7 and beam it to Earth as microwaves — solving solar intermittency permanently.</a:t>
            </a:r>
            <a:endParaRPr lang="en-US" sz="750" dirty="0"/>
          </a:p>
        </p:txBody>
      </p:sp>
      <p:sp>
        <p:nvSpPr>
          <p:cNvPr id="45" name="Shape 41"/>
          <p:cNvSpPr/>
          <p:nvPr/>
        </p:nvSpPr>
        <p:spPr>
          <a:xfrm>
            <a:off x="0" y="4069080"/>
            <a:ext cx="9144000" cy="1078992"/>
          </a:xfrm>
          <a:prstGeom prst="rect">
            <a:avLst/>
          </a:prstGeom>
          <a:solidFill>
            <a:srgbClr val="152238"/>
          </a:solidFill>
          <a:ln/>
        </p:spPr>
      </p:sp>
      <p:sp>
        <p:nvSpPr>
          <p:cNvPr id="46" name="Text 42"/>
          <p:cNvSpPr/>
          <p:nvPr/>
        </p:nvSpPr>
        <p:spPr>
          <a:xfrm>
            <a:off x="457200" y="4151376"/>
            <a:ext cx="2743200" cy="475488"/>
          </a:xfrm>
          <a:prstGeom prst="rect">
            <a:avLst/>
          </a:prstGeom>
          <a:noFill/>
          <a:ln/>
        </p:spPr>
        <p:txBody>
          <a:bodyPr wrap="square" rtlCol="0" anchor="ctr"/>
          <a:lstStyle/>
          <a:p>
            <a:pPr algn="ctr" indent="0" marL="0">
              <a:buNone/>
            </a:pPr>
            <a:r>
              <a:rPr lang="en-US" sz="2800" b="1" dirty="0">
                <a:solidFill>
                  <a:srgbClr val="FFB300"/>
                </a:solidFill>
                <a:latin typeface="Arial Black" pitchFamily="34" charset="0"/>
                <a:ea typeface="Arial Black" pitchFamily="34" charset="-122"/>
                <a:cs typeface="Arial Black" pitchFamily="34" charset="-120"/>
              </a:rPr>
              <a:t>1958</a:t>
            </a:r>
            <a:endParaRPr lang="en-US" sz="2800" dirty="0"/>
          </a:p>
        </p:txBody>
      </p:sp>
      <p:sp>
        <p:nvSpPr>
          <p:cNvPr id="47" name="Text 43"/>
          <p:cNvSpPr/>
          <p:nvPr/>
        </p:nvSpPr>
        <p:spPr>
          <a:xfrm>
            <a:off x="457200" y="4626864"/>
            <a:ext cx="2743200" cy="347472"/>
          </a:xfrm>
          <a:prstGeom prst="rect">
            <a:avLst/>
          </a:prstGeom>
          <a:noFill/>
          <a:ln/>
        </p:spPr>
        <p:txBody>
          <a:bodyPr wrap="square" rtlCol="0" anchor="ctr"/>
          <a:lstStyle/>
          <a:p>
            <a:pPr algn="ctr" indent="0" marL="0">
              <a:buNone/>
            </a:pPr>
            <a:r>
              <a:rPr lang="en-US" sz="950" dirty="0">
                <a:solidFill>
                  <a:srgbClr val="ECEFF1"/>
                </a:solidFill>
                <a:latin typeface="Calibri" pitchFamily="34" charset="0"/>
                <a:ea typeface="Calibri" pitchFamily="34" charset="-122"/>
                <a:cs typeface="Calibri" pitchFamily="34" charset="-120"/>
              </a:rPr>
              <a:t>First satellite powered by solar (Vanguard 1)</a:t>
            </a:r>
            <a:endParaRPr lang="en-US" sz="950" dirty="0"/>
          </a:p>
        </p:txBody>
      </p:sp>
      <p:sp>
        <p:nvSpPr>
          <p:cNvPr id="48" name="Text 44"/>
          <p:cNvSpPr/>
          <p:nvPr/>
        </p:nvSpPr>
        <p:spPr>
          <a:xfrm>
            <a:off x="3474720" y="4151376"/>
            <a:ext cx="2743200" cy="475488"/>
          </a:xfrm>
          <a:prstGeom prst="rect">
            <a:avLst/>
          </a:prstGeom>
          <a:noFill/>
          <a:ln/>
        </p:spPr>
        <p:txBody>
          <a:bodyPr wrap="square" rtlCol="0" anchor="ctr"/>
          <a:lstStyle/>
          <a:p>
            <a:pPr algn="ctr" indent="0" marL="0">
              <a:buNone/>
            </a:pPr>
            <a:r>
              <a:rPr lang="en-US" sz="2800" b="1" dirty="0">
                <a:solidFill>
                  <a:srgbClr val="FFB300"/>
                </a:solidFill>
                <a:latin typeface="Arial Black" pitchFamily="34" charset="0"/>
                <a:ea typeface="Arial Black" pitchFamily="34" charset="-122"/>
                <a:cs typeface="Arial Black" pitchFamily="34" charset="-120"/>
              </a:rPr>
              <a:t>84 kW</a:t>
            </a:r>
            <a:endParaRPr lang="en-US" sz="2800" dirty="0"/>
          </a:p>
        </p:txBody>
      </p:sp>
      <p:sp>
        <p:nvSpPr>
          <p:cNvPr id="49" name="Text 45"/>
          <p:cNvSpPr/>
          <p:nvPr/>
        </p:nvSpPr>
        <p:spPr>
          <a:xfrm>
            <a:off x="3474720" y="4626864"/>
            <a:ext cx="2743200" cy="347472"/>
          </a:xfrm>
          <a:prstGeom prst="rect">
            <a:avLst/>
          </a:prstGeom>
          <a:noFill/>
          <a:ln/>
        </p:spPr>
        <p:txBody>
          <a:bodyPr wrap="square" rtlCol="0" anchor="ctr"/>
          <a:lstStyle/>
          <a:p>
            <a:pPr algn="ctr" indent="0" marL="0">
              <a:buNone/>
            </a:pPr>
            <a:r>
              <a:rPr lang="en-US" sz="950" dirty="0">
                <a:solidFill>
                  <a:srgbClr val="ECEFF1"/>
                </a:solidFill>
                <a:latin typeface="Calibri" pitchFamily="34" charset="0"/>
                <a:ea typeface="Calibri" pitchFamily="34" charset="-122"/>
                <a:cs typeface="Calibri" pitchFamily="34" charset="-120"/>
              </a:rPr>
              <a:t>Electricity generated by ISS solar wings</a:t>
            </a:r>
            <a:endParaRPr lang="en-US" sz="950" dirty="0"/>
          </a:p>
        </p:txBody>
      </p:sp>
      <p:sp>
        <p:nvSpPr>
          <p:cNvPr id="50" name="Text 46"/>
          <p:cNvSpPr/>
          <p:nvPr/>
        </p:nvSpPr>
        <p:spPr>
          <a:xfrm>
            <a:off x="6492240" y="4151376"/>
            <a:ext cx="2743200" cy="475488"/>
          </a:xfrm>
          <a:prstGeom prst="rect">
            <a:avLst/>
          </a:prstGeom>
          <a:noFill/>
          <a:ln/>
        </p:spPr>
        <p:txBody>
          <a:bodyPr wrap="square" rtlCol="0" anchor="ctr"/>
          <a:lstStyle/>
          <a:p>
            <a:pPr algn="ctr" indent="0" marL="0">
              <a:buNone/>
            </a:pPr>
            <a:r>
              <a:rPr lang="en-US" sz="2800" b="1" dirty="0">
                <a:solidFill>
                  <a:srgbClr val="FFB300"/>
                </a:solidFill>
                <a:latin typeface="Arial Black" pitchFamily="34" charset="0"/>
                <a:ea typeface="Arial Black" pitchFamily="34" charset="-122"/>
                <a:cs typeface="Arial Black" pitchFamily="34" charset="-120"/>
              </a:rPr>
              <a:t>40%</a:t>
            </a:r>
            <a:endParaRPr lang="en-US" sz="2800" dirty="0"/>
          </a:p>
        </p:txBody>
      </p:sp>
      <p:sp>
        <p:nvSpPr>
          <p:cNvPr id="51" name="Text 47"/>
          <p:cNvSpPr/>
          <p:nvPr/>
        </p:nvSpPr>
        <p:spPr>
          <a:xfrm>
            <a:off x="6492240" y="4626864"/>
            <a:ext cx="2743200" cy="347472"/>
          </a:xfrm>
          <a:prstGeom prst="rect">
            <a:avLst/>
          </a:prstGeom>
          <a:noFill/>
          <a:ln/>
        </p:spPr>
        <p:txBody>
          <a:bodyPr wrap="square" rtlCol="0" anchor="ctr"/>
          <a:lstStyle/>
          <a:p>
            <a:pPr algn="ctr" indent="0" marL="0">
              <a:buNone/>
            </a:pPr>
            <a:r>
              <a:rPr lang="en-US" sz="950" dirty="0">
                <a:solidFill>
                  <a:srgbClr val="ECEFF1"/>
                </a:solidFill>
                <a:latin typeface="Calibri" pitchFamily="34" charset="0"/>
                <a:ea typeface="Calibri" pitchFamily="34" charset="-122"/>
                <a:cs typeface="Calibri" pitchFamily="34" charset="-120"/>
              </a:rPr>
              <a:t>Solar cell efficiency achieved in space (multi-junction)</a:t>
            </a:r>
            <a:endParaRPr lang="en-US" sz="950" dirty="0"/>
          </a:p>
        </p:txBody>
      </p:sp>
      <p:sp>
        <p:nvSpPr>
          <p:cNvPr id="52" name="Text 48"/>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12 / 16</a:t>
            </a:r>
            <a:endParaRPr lang="en-US" sz="850" dirty="0"/>
          </a:p>
        </p:txBody>
      </p:sp>
      <p:pic>
        <p:nvPicPr>
          <p:cNvPr id="200" name="SatelliteOrbit" descr="Solar-powered satellite in Earth orbit"/>
          <p:cNvPicPr>
            <a:picLocks noChangeAspect="1"/>
          </p:cNvPicPr>
          <p:nvPr/>
        </p:nvPicPr>
        <p:blipFill>
          <a:blip r:embed="rId5"/>
          <a:stretch>
            <a:fillRect/>
          </a:stretch>
        </p:blipFill>
        <p:spPr>
          <a:xfrm>
            <a:off x="200000" y="900000"/>
            <a:ext cx="2600000" cy="1700000"/>
          </a:xfrm>
          <a:prstGeom prst="rect">
            <a:avLst/>
          </a:prstGeom>
        </p:spPr>
      </p:pic>
      <p:sp>
        <p:nvSpPr>
          <p:cNvPr id="201" name="Caption12"/>
          <p:cNvSpPr/>
          <p:nvPr/>
        </p:nvSpPr>
        <p:spPr>
          <a:xfrm>
            <a:off x="200000" y="2625000"/>
            <a:ext cx="2600000" cy="228600"/>
          </a:xfrm>
          <a:prstGeom prst="rect">
            <a:avLst/>
          </a:prstGeom>
          <a:noFill/>
          <a:ln/>
        </p:spPr>
        <p:txBody>
          <a:bodyPr wrap="square" lIns="0" tIns="0" rIns="0" bIns="0" rtlCol="0" anchor="ctr"/>
          <a:lstStyle/>
          <a:p>
            <a:pPr algn="ctr">
              <a:buNone/>
            </a:pPr>
            <a:r>
              <a:rPr lang="en-US" sz="700" i="1" dirty="0">
                <a:solidFill>
                  <a:srgbClr val="90A4AE"/>
                </a:solidFill>
              </a:rPr>
              <a:t>Solar-powered satellite in Earth orbit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F1E"/>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4527A0"/>
          </a:solidFill>
          <a:ln/>
        </p:spPr>
      </p:sp>
      <p:sp>
        <p:nvSpPr>
          <p:cNvPr id="3" name="Shape 1"/>
          <p:cNvSpPr/>
          <p:nvPr/>
        </p:nvSpPr>
        <p:spPr>
          <a:xfrm>
            <a:off x="0" y="658368"/>
            <a:ext cx="9144000" cy="36576"/>
          </a:xfrm>
          <a:prstGeom prst="rect">
            <a:avLst/>
          </a:prstGeom>
          <a:solidFill>
            <a:srgbClr val="FFB3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100" b="1" dirty="0">
                <a:solidFill>
                  <a:srgbClr val="FFFFFF"/>
                </a:solidFill>
                <a:latin typeface="Arial Black" pitchFamily="34" charset="0"/>
                <a:ea typeface="Arial Black" pitchFamily="34" charset="-122"/>
                <a:cs typeface="Arial Black" pitchFamily="34" charset="-120"/>
              </a:rPr>
              <a:t>HOW SOLAR PANELS POWER SATELLITES — Technical Deep Dive</a:t>
            </a:r>
            <a:endParaRPr lang="en-US" sz="2100" dirty="0"/>
          </a:p>
        </p:txBody>
      </p:sp>
      <p:sp>
        <p:nvSpPr>
          <p:cNvPr id="5" name="Shape 3"/>
          <p:cNvSpPr/>
          <p:nvPr/>
        </p:nvSpPr>
        <p:spPr>
          <a:xfrm>
            <a:off x="320040" y="822960"/>
            <a:ext cx="4023360" cy="2651760"/>
          </a:xfrm>
          <a:prstGeom prst="rect">
            <a:avLst/>
          </a:prstGeom>
          <a:solidFill>
            <a:srgbClr val="060F1E"/>
          </a:solidFill>
          <a:ln/>
        </p:spPr>
      </p:sp>
      <p:sp>
        <p:nvSpPr>
          <p:cNvPr id="6" name="Shape 4"/>
          <p:cNvSpPr/>
          <p:nvPr/>
        </p:nvSpPr>
        <p:spPr>
          <a:xfrm>
            <a:off x="914400" y="1097280"/>
            <a:ext cx="36576" cy="36576"/>
          </a:xfrm>
          <a:prstGeom prst="ellipse">
            <a:avLst/>
          </a:prstGeom>
          <a:solidFill>
            <a:srgbClr val="FFFFFF"/>
          </a:solidFill>
          <a:ln/>
        </p:spPr>
      </p:sp>
      <p:sp>
        <p:nvSpPr>
          <p:cNvPr id="7" name="Shape 5"/>
          <p:cNvSpPr/>
          <p:nvPr/>
        </p:nvSpPr>
        <p:spPr>
          <a:xfrm>
            <a:off x="2286000" y="914400"/>
            <a:ext cx="36576" cy="36576"/>
          </a:xfrm>
          <a:prstGeom prst="ellipse">
            <a:avLst/>
          </a:prstGeom>
          <a:solidFill>
            <a:srgbClr val="FFFFFF"/>
          </a:solidFill>
          <a:ln/>
        </p:spPr>
      </p:sp>
      <p:sp>
        <p:nvSpPr>
          <p:cNvPr id="8" name="Shape 6"/>
          <p:cNvSpPr/>
          <p:nvPr/>
        </p:nvSpPr>
        <p:spPr>
          <a:xfrm>
            <a:off x="3474720" y="1371600"/>
            <a:ext cx="36576" cy="36576"/>
          </a:xfrm>
          <a:prstGeom prst="ellipse">
            <a:avLst/>
          </a:prstGeom>
          <a:solidFill>
            <a:srgbClr val="FFFFFF"/>
          </a:solidFill>
          <a:ln/>
        </p:spPr>
      </p:sp>
      <p:sp>
        <p:nvSpPr>
          <p:cNvPr id="9" name="Shape 7"/>
          <p:cNvSpPr/>
          <p:nvPr/>
        </p:nvSpPr>
        <p:spPr>
          <a:xfrm>
            <a:off x="731520" y="2194560"/>
            <a:ext cx="36576" cy="36576"/>
          </a:xfrm>
          <a:prstGeom prst="ellipse">
            <a:avLst/>
          </a:prstGeom>
          <a:solidFill>
            <a:srgbClr val="FFFFFF"/>
          </a:solidFill>
          <a:ln/>
        </p:spPr>
      </p:sp>
      <p:sp>
        <p:nvSpPr>
          <p:cNvPr id="10" name="Shape 8"/>
          <p:cNvSpPr/>
          <p:nvPr/>
        </p:nvSpPr>
        <p:spPr>
          <a:xfrm>
            <a:off x="1828800" y="2560320"/>
            <a:ext cx="36576" cy="36576"/>
          </a:xfrm>
          <a:prstGeom prst="ellipse">
            <a:avLst/>
          </a:prstGeom>
          <a:solidFill>
            <a:srgbClr val="FFFFFF"/>
          </a:solidFill>
          <a:ln/>
        </p:spPr>
      </p:sp>
      <p:sp>
        <p:nvSpPr>
          <p:cNvPr id="11" name="Shape 9"/>
          <p:cNvSpPr/>
          <p:nvPr/>
        </p:nvSpPr>
        <p:spPr>
          <a:xfrm>
            <a:off x="3200400" y="2286000"/>
            <a:ext cx="36576" cy="36576"/>
          </a:xfrm>
          <a:prstGeom prst="ellipse">
            <a:avLst/>
          </a:prstGeom>
          <a:solidFill>
            <a:srgbClr val="FFFFFF"/>
          </a:solidFill>
          <a:ln/>
        </p:spPr>
      </p:sp>
      <p:sp>
        <p:nvSpPr>
          <p:cNvPr id="12" name="Shape 10"/>
          <p:cNvSpPr/>
          <p:nvPr/>
        </p:nvSpPr>
        <p:spPr>
          <a:xfrm>
            <a:off x="3840480" y="1645920"/>
            <a:ext cx="36576" cy="36576"/>
          </a:xfrm>
          <a:prstGeom prst="ellipse">
            <a:avLst/>
          </a:prstGeom>
          <a:solidFill>
            <a:srgbClr val="FFFFFF"/>
          </a:solidFill>
          <a:ln/>
        </p:spPr>
      </p:sp>
      <p:sp>
        <p:nvSpPr>
          <p:cNvPr id="13" name="Shape 11"/>
          <p:cNvSpPr/>
          <p:nvPr/>
        </p:nvSpPr>
        <p:spPr>
          <a:xfrm>
            <a:off x="1280160" y="1783080"/>
            <a:ext cx="1463040" cy="320040"/>
          </a:xfrm>
          <a:prstGeom prst="rect">
            <a:avLst/>
          </a:prstGeom>
          <a:solidFill>
            <a:srgbClr val="ECEFF1"/>
          </a:solidFill>
          <a:ln/>
        </p:spPr>
      </p:sp>
      <p:sp>
        <p:nvSpPr>
          <p:cNvPr id="14" name="Shape 12"/>
          <p:cNvSpPr/>
          <p:nvPr/>
        </p:nvSpPr>
        <p:spPr>
          <a:xfrm>
            <a:off x="457200" y="1719072"/>
            <a:ext cx="731520" cy="164592"/>
          </a:xfrm>
          <a:prstGeom prst="rect">
            <a:avLst/>
          </a:prstGeom>
          <a:solidFill>
            <a:srgbClr val="FF8F00"/>
          </a:solidFill>
          <a:ln/>
        </p:spPr>
      </p:sp>
      <p:sp>
        <p:nvSpPr>
          <p:cNvPr id="15" name="Shape 13"/>
          <p:cNvSpPr/>
          <p:nvPr/>
        </p:nvSpPr>
        <p:spPr>
          <a:xfrm>
            <a:off x="457200" y="1938528"/>
            <a:ext cx="731520" cy="164592"/>
          </a:xfrm>
          <a:prstGeom prst="rect">
            <a:avLst/>
          </a:prstGeom>
          <a:solidFill>
            <a:srgbClr val="FF8F00"/>
          </a:solidFill>
          <a:ln/>
        </p:spPr>
      </p:sp>
      <p:sp>
        <p:nvSpPr>
          <p:cNvPr id="16" name="Shape 14"/>
          <p:cNvSpPr/>
          <p:nvPr/>
        </p:nvSpPr>
        <p:spPr>
          <a:xfrm>
            <a:off x="2834640" y="1719072"/>
            <a:ext cx="731520" cy="164592"/>
          </a:xfrm>
          <a:prstGeom prst="rect">
            <a:avLst/>
          </a:prstGeom>
          <a:solidFill>
            <a:srgbClr val="FF8F00"/>
          </a:solidFill>
          <a:ln/>
        </p:spPr>
      </p:sp>
      <p:sp>
        <p:nvSpPr>
          <p:cNvPr id="17" name="Shape 15"/>
          <p:cNvSpPr/>
          <p:nvPr/>
        </p:nvSpPr>
        <p:spPr>
          <a:xfrm>
            <a:off x="2834640" y="1938528"/>
            <a:ext cx="731520" cy="164592"/>
          </a:xfrm>
          <a:prstGeom prst="rect">
            <a:avLst/>
          </a:prstGeom>
          <a:solidFill>
            <a:srgbClr val="FF8F00"/>
          </a:solidFill>
          <a:ln/>
        </p:spPr>
      </p:sp>
      <p:sp>
        <p:nvSpPr>
          <p:cNvPr id="18" name="Shape 16"/>
          <p:cNvSpPr/>
          <p:nvPr/>
        </p:nvSpPr>
        <p:spPr>
          <a:xfrm>
            <a:off x="457200" y="1901952"/>
            <a:ext cx="3108960" cy="54864"/>
          </a:xfrm>
          <a:prstGeom prst="rect">
            <a:avLst/>
          </a:prstGeom>
          <a:solidFill>
            <a:srgbClr val="607D8B"/>
          </a:solidFill>
          <a:ln/>
        </p:spPr>
      </p:sp>
      <p:sp>
        <p:nvSpPr>
          <p:cNvPr id="19" name="Shape 17"/>
          <p:cNvSpPr/>
          <p:nvPr/>
        </p:nvSpPr>
        <p:spPr>
          <a:xfrm>
            <a:off x="1874520" y="1627632"/>
            <a:ext cx="411480" cy="594360"/>
          </a:xfrm>
          <a:prstGeom prst="ellipse">
            <a:avLst/>
          </a:prstGeom>
          <a:solidFill>
            <a:srgbClr val="607D8B"/>
          </a:solidFill>
          <a:ln/>
        </p:spPr>
      </p:sp>
      <p:sp>
        <p:nvSpPr>
          <p:cNvPr id="20" name="Shape 18"/>
          <p:cNvSpPr/>
          <p:nvPr/>
        </p:nvSpPr>
        <p:spPr>
          <a:xfrm>
            <a:off x="320040" y="3127248"/>
            <a:ext cx="4023360" cy="402336"/>
          </a:xfrm>
          <a:prstGeom prst="rect">
            <a:avLst/>
          </a:prstGeom>
          <a:solidFill>
            <a:srgbClr val="4527A0">
              <a:alpha val="80000"/>
            </a:srgbClr>
          </a:solidFill>
          <a:ln/>
        </p:spPr>
      </p:sp>
      <p:sp>
        <p:nvSpPr>
          <p:cNvPr id="21" name="Text 19"/>
          <p:cNvSpPr/>
          <p:nvPr/>
        </p:nvSpPr>
        <p:spPr>
          <a:xfrm>
            <a:off x="320040" y="3127248"/>
            <a:ext cx="4023360" cy="402336"/>
          </a:xfrm>
          <a:prstGeom prst="rect">
            <a:avLst/>
          </a:prstGeom>
          <a:noFill/>
          <a:ln/>
        </p:spPr>
        <p:txBody>
          <a:bodyPr wrap="square" rtlCol="0" anchor="ctr"/>
          <a:lstStyle/>
          <a:p>
            <a:pPr algn="ctr" indent="0" marL="0">
              <a:buNone/>
            </a:pPr>
            <a:r>
              <a:rPr lang="en-US" sz="750" i="1" dirty="0">
                <a:solidFill>
                  <a:srgbClr val="FFFFFF"/>
                </a:solidFill>
              </a:rPr>
              <a:t>International Space Station — 8 solar wings, 2,500 m², generating 84–120 kW of power</a:t>
            </a:r>
            <a:endParaRPr lang="en-US" sz="750" dirty="0"/>
          </a:p>
        </p:txBody>
      </p:sp>
      <p:sp>
        <p:nvSpPr>
          <p:cNvPr id="22" name="Shape 20"/>
          <p:cNvSpPr/>
          <p:nvPr/>
        </p:nvSpPr>
        <p:spPr>
          <a:xfrm>
            <a:off x="4572000" y="822960"/>
            <a:ext cx="4251960"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23" name="Shape 21"/>
          <p:cNvSpPr/>
          <p:nvPr/>
        </p:nvSpPr>
        <p:spPr>
          <a:xfrm>
            <a:off x="4572000" y="822960"/>
            <a:ext cx="64008" cy="914400"/>
          </a:xfrm>
          <a:prstGeom prst="rect">
            <a:avLst/>
          </a:prstGeom>
          <a:solidFill>
            <a:srgbClr val="FFB300"/>
          </a:solidFill>
          <a:ln/>
        </p:spPr>
      </p:sp>
      <p:sp>
        <p:nvSpPr>
          <p:cNvPr id="24" name="Shape 22"/>
          <p:cNvSpPr/>
          <p:nvPr/>
        </p:nvSpPr>
        <p:spPr>
          <a:xfrm>
            <a:off x="4745736" y="1033272"/>
            <a:ext cx="493776" cy="493776"/>
          </a:xfrm>
          <a:prstGeom prst="ellipse">
            <a:avLst/>
          </a:prstGeom>
          <a:solidFill>
            <a:srgbClr val="4527A0"/>
          </a:solidFill>
          <a:ln/>
        </p:spPr>
      </p:sp>
      <p:pic>
        <p:nvPicPr>
          <p:cNvPr id="25" name="Image 0" descr="preencoded.png"/>
          <p:cNvPicPr>
            <a:picLocks noChangeAspect="1"/>
          </p:cNvPicPr>
          <p:nvPr/>
        </p:nvPicPr>
        <p:blipFill>
          <a:blip r:embed="rId1"/>
          <a:stretch>
            <a:fillRect/>
          </a:stretch>
        </p:blipFill>
        <p:spPr>
          <a:xfrm>
            <a:off x="4832147" y="1119683"/>
            <a:ext cx="320954" cy="320954"/>
          </a:xfrm>
          <a:prstGeom prst="rect">
            <a:avLst/>
          </a:prstGeom>
        </p:spPr>
      </p:pic>
      <p:sp>
        <p:nvSpPr>
          <p:cNvPr id="26" name="Text 23"/>
          <p:cNvSpPr/>
          <p:nvPr/>
        </p:nvSpPr>
        <p:spPr>
          <a:xfrm>
            <a:off x="5340096" y="896112"/>
            <a:ext cx="3337560" cy="274320"/>
          </a:xfrm>
          <a:prstGeom prst="rect">
            <a:avLst/>
          </a:prstGeom>
          <a:noFill/>
          <a:ln/>
        </p:spPr>
        <p:txBody>
          <a:bodyPr wrap="square" lIns="0" tIns="0" rIns="0" bIns="0" rtlCol="0" anchor="ctr"/>
          <a:lstStyle/>
          <a:p>
            <a:pPr indent="0" marL="0">
              <a:buNone/>
            </a:pPr>
            <a:r>
              <a:rPr lang="en-US" sz="1100" b="1" dirty="0">
                <a:solidFill>
                  <a:srgbClr val="FFB300"/>
                </a:solidFill>
                <a:latin typeface="Arial" pitchFamily="34" charset="0"/>
                <a:ea typeface="Arial" pitchFamily="34" charset="-122"/>
                <a:cs typeface="Arial" pitchFamily="34" charset="-120"/>
              </a:rPr>
              <a:t>Why Solar in Space?</a:t>
            </a:r>
            <a:endParaRPr lang="en-US" sz="1100" dirty="0"/>
          </a:p>
        </p:txBody>
      </p:sp>
      <p:sp>
        <p:nvSpPr>
          <p:cNvPr id="27" name="Text 24"/>
          <p:cNvSpPr/>
          <p:nvPr/>
        </p:nvSpPr>
        <p:spPr>
          <a:xfrm>
            <a:off x="5340096" y="1188720"/>
            <a:ext cx="3337560" cy="502920"/>
          </a:xfrm>
          <a:prstGeom prst="rect">
            <a:avLst/>
          </a:prstGeom>
          <a:noFill/>
          <a:ln/>
        </p:spPr>
        <p:txBody>
          <a:bodyPr wrap="square" lIns="0" tIns="0" rIns="0" bIns="0" rtlCol="0" anchor="ctr"/>
          <a:lstStyle/>
          <a:p>
            <a:pPr indent="0" marL="0">
              <a:buNone/>
            </a:pPr>
            <a:r>
              <a:rPr lang="en-US" sz="850" dirty="0">
                <a:solidFill>
                  <a:srgbClr val="ECEFF1"/>
                </a:solidFill>
                <a:latin typeface="Calibri" pitchFamily="34" charset="0"/>
                <a:ea typeface="Calibri" pitchFamily="34" charset="-122"/>
                <a:cs typeface="Calibri" pitchFamily="34" charset="-120"/>
              </a:rPr>
              <a:t>In orbit, the Sun shines 24/7 with no atmosphere reducing its intensity. Solar panels collect far more energy per m² than on Earth's surface — and fuel is impossible to resupply.</a:t>
            </a:r>
            <a:endParaRPr lang="en-US" sz="850" dirty="0"/>
          </a:p>
        </p:txBody>
      </p:sp>
      <p:sp>
        <p:nvSpPr>
          <p:cNvPr id="28" name="Shape 25"/>
          <p:cNvSpPr/>
          <p:nvPr/>
        </p:nvSpPr>
        <p:spPr>
          <a:xfrm>
            <a:off x="4572000" y="1847088"/>
            <a:ext cx="4251960"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29" name="Shape 26"/>
          <p:cNvSpPr/>
          <p:nvPr/>
        </p:nvSpPr>
        <p:spPr>
          <a:xfrm>
            <a:off x="4572000" y="1847088"/>
            <a:ext cx="64008" cy="914400"/>
          </a:xfrm>
          <a:prstGeom prst="rect">
            <a:avLst/>
          </a:prstGeom>
          <a:solidFill>
            <a:srgbClr val="FFB300"/>
          </a:solidFill>
          <a:ln/>
        </p:spPr>
      </p:sp>
      <p:sp>
        <p:nvSpPr>
          <p:cNvPr id="30" name="Shape 27"/>
          <p:cNvSpPr/>
          <p:nvPr/>
        </p:nvSpPr>
        <p:spPr>
          <a:xfrm>
            <a:off x="4745736" y="2057400"/>
            <a:ext cx="493776" cy="493776"/>
          </a:xfrm>
          <a:prstGeom prst="ellipse">
            <a:avLst/>
          </a:prstGeom>
          <a:solidFill>
            <a:srgbClr val="4527A0"/>
          </a:solidFill>
          <a:ln/>
        </p:spPr>
      </p:sp>
      <p:pic>
        <p:nvPicPr>
          <p:cNvPr id="31" name="Image 1" descr="preencoded.png"/>
          <p:cNvPicPr>
            <a:picLocks noChangeAspect="1"/>
          </p:cNvPicPr>
          <p:nvPr/>
        </p:nvPicPr>
        <p:blipFill>
          <a:blip r:embed="rId2"/>
          <a:stretch>
            <a:fillRect/>
          </a:stretch>
        </p:blipFill>
        <p:spPr>
          <a:xfrm>
            <a:off x="4832147" y="2143811"/>
            <a:ext cx="320954" cy="320954"/>
          </a:xfrm>
          <a:prstGeom prst="rect">
            <a:avLst/>
          </a:prstGeom>
        </p:spPr>
      </p:pic>
      <p:sp>
        <p:nvSpPr>
          <p:cNvPr id="32" name="Text 28"/>
          <p:cNvSpPr/>
          <p:nvPr/>
        </p:nvSpPr>
        <p:spPr>
          <a:xfrm>
            <a:off x="5340096" y="1920240"/>
            <a:ext cx="3337560" cy="274320"/>
          </a:xfrm>
          <a:prstGeom prst="rect">
            <a:avLst/>
          </a:prstGeom>
          <a:noFill/>
          <a:ln/>
        </p:spPr>
        <p:txBody>
          <a:bodyPr wrap="square" lIns="0" tIns="0" rIns="0" bIns="0" rtlCol="0" anchor="ctr"/>
          <a:lstStyle/>
          <a:p>
            <a:pPr indent="0" marL="0">
              <a:buNone/>
            </a:pPr>
            <a:r>
              <a:rPr lang="en-US" sz="1100" b="1" dirty="0">
                <a:solidFill>
                  <a:srgbClr val="FFB300"/>
                </a:solidFill>
                <a:latin typeface="Arial" pitchFamily="34" charset="0"/>
                <a:ea typeface="Arial" pitchFamily="34" charset="-122"/>
                <a:cs typeface="Arial" pitchFamily="34" charset="-120"/>
              </a:rPr>
              <a:t>Multi-Junction Solar Cells</a:t>
            </a:r>
            <a:endParaRPr lang="en-US" sz="1100" dirty="0"/>
          </a:p>
        </p:txBody>
      </p:sp>
      <p:sp>
        <p:nvSpPr>
          <p:cNvPr id="33" name="Text 29"/>
          <p:cNvSpPr/>
          <p:nvPr/>
        </p:nvSpPr>
        <p:spPr>
          <a:xfrm>
            <a:off x="5340096" y="2212848"/>
            <a:ext cx="3337560" cy="502920"/>
          </a:xfrm>
          <a:prstGeom prst="rect">
            <a:avLst/>
          </a:prstGeom>
          <a:noFill/>
          <a:ln/>
        </p:spPr>
        <p:txBody>
          <a:bodyPr wrap="square" lIns="0" tIns="0" rIns="0" bIns="0" rtlCol="0" anchor="ctr"/>
          <a:lstStyle/>
          <a:p>
            <a:pPr indent="0" marL="0">
              <a:buNone/>
            </a:pPr>
            <a:r>
              <a:rPr lang="en-US" sz="850" dirty="0">
                <a:solidFill>
                  <a:srgbClr val="ECEFF1"/>
                </a:solidFill>
                <a:latin typeface="Calibri" pitchFamily="34" charset="0"/>
                <a:ea typeface="Calibri" pitchFamily="34" charset="-122"/>
                <a:cs typeface="Calibri" pitchFamily="34" charset="-120"/>
              </a:rPr>
              <a:t>Satellites use gallium arsenide multi-junction cells achieving 30–40% efficiency, compared to 15–22% for Earth panels. They work in extreme cold (−150°C) and heat (+120°C).</a:t>
            </a:r>
            <a:endParaRPr lang="en-US" sz="850" dirty="0"/>
          </a:p>
        </p:txBody>
      </p:sp>
      <p:sp>
        <p:nvSpPr>
          <p:cNvPr id="34" name="Shape 30"/>
          <p:cNvSpPr/>
          <p:nvPr/>
        </p:nvSpPr>
        <p:spPr>
          <a:xfrm>
            <a:off x="4572000" y="2871216"/>
            <a:ext cx="4251960"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35" name="Shape 31"/>
          <p:cNvSpPr/>
          <p:nvPr/>
        </p:nvSpPr>
        <p:spPr>
          <a:xfrm>
            <a:off x="4572000" y="2871216"/>
            <a:ext cx="64008" cy="914400"/>
          </a:xfrm>
          <a:prstGeom prst="rect">
            <a:avLst/>
          </a:prstGeom>
          <a:solidFill>
            <a:srgbClr val="FFB300"/>
          </a:solidFill>
          <a:ln/>
        </p:spPr>
      </p:sp>
      <p:sp>
        <p:nvSpPr>
          <p:cNvPr id="36" name="Shape 32"/>
          <p:cNvSpPr/>
          <p:nvPr/>
        </p:nvSpPr>
        <p:spPr>
          <a:xfrm>
            <a:off x="4745736" y="3081528"/>
            <a:ext cx="493776" cy="493776"/>
          </a:xfrm>
          <a:prstGeom prst="ellipse">
            <a:avLst/>
          </a:prstGeom>
          <a:solidFill>
            <a:srgbClr val="4527A0"/>
          </a:solidFill>
          <a:ln/>
        </p:spPr>
      </p:sp>
      <p:pic>
        <p:nvPicPr>
          <p:cNvPr id="37" name="Image 2" descr="preencoded.png"/>
          <p:cNvPicPr>
            <a:picLocks noChangeAspect="1"/>
          </p:cNvPicPr>
          <p:nvPr/>
        </p:nvPicPr>
        <p:blipFill>
          <a:blip r:embed="rId3"/>
          <a:stretch>
            <a:fillRect/>
          </a:stretch>
        </p:blipFill>
        <p:spPr>
          <a:xfrm>
            <a:off x="4832147" y="3167939"/>
            <a:ext cx="320954" cy="320954"/>
          </a:xfrm>
          <a:prstGeom prst="rect">
            <a:avLst/>
          </a:prstGeom>
        </p:spPr>
      </p:pic>
      <p:sp>
        <p:nvSpPr>
          <p:cNvPr id="38" name="Text 33"/>
          <p:cNvSpPr/>
          <p:nvPr/>
        </p:nvSpPr>
        <p:spPr>
          <a:xfrm>
            <a:off x="5340096" y="2944368"/>
            <a:ext cx="3337560" cy="274320"/>
          </a:xfrm>
          <a:prstGeom prst="rect">
            <a:avLst/>
          </a:prstGeom>
          <a:noFill/>
          <a:ln/>
        </p:spPr>
        <p:txBody>
          <a:bodyPr wrap="square" lIns="0" tIns="0" rIns="0" bIns="0" rtlCol="0" anchor="ctr"/>
          <a:lstStyle/>
          <a:p>
            <a:pPr indent="0" marL="0">
              <a:buNone/>
            </a:pPr>
            <a:r>
              <a:rPr lang="en-US" sz="1100" b="1" dirty="0">
                <a:solidFill>
                  <a:srgbClr val="FFB300"/>
                </a:solidFill>
                <a:latin typeface="Arial" pitchFamily="34" charset="0"/>
                <a:ea typeface="Arial" pitchFamily="34" charset="-122"/>
                <a:cs typeface="Arial" pitchFamily="34" charset="-120"/>
              </a:rPr>
              <a:t>Communication Satellites</a:t>
            </a:r>
            <a:endParaRPr lang="en-US" sz="1100" dirty="0"/>
          </a:p>
        </p:txBody>
      </p:sp>
      <p:sp>
        <p:nvSpPr>
          <p:cNvPr id="39" name="Text 34"/>
          <p:cNvSpPr/>
          <p:nvPr/>
        </p:nvSpPr>
        <p:spPr>
          <a:xfrm>
            <a:off x="5340096" y="3236976"/>
            <a:ext cx="3337560" cy="502920"/>
          </a:xfrm>
          <a:prstGeom prst="rect">
            <a:avLst/>
          </a:prstGeom>
          <a:noFill/>
          <a:ln/>
        </p:spPr>
        <p:txBody>
          <a:bodyPr wrap="square" lIns="0" tIns="0" rIns="0" bIns="0" rtlCol="0" anchor="ctr"/>
          <a:lstStyle/>
          <a:p>
            <a:pPr indent="0" marL="0">
              <a:buNone/>
            </a:pPr>
            <a:r>
              <a:rPr lang="en-US" sz="850" dirty="0">
                <a:solidFill>
                  <a:srgbClr val="ECEFF1"/>
                </a:solidFill>
                <a:latin typeface="Calibri" pitchFamily="34" charset="0"/>
                <a:ea typeface="Calibri" pitchFamily="34" charset="-122"/>
                <a:cs typeface="Calibri" pitchFamily="34" charset="-120"/>
              </a:rPr>
              <a:t>Every GPS, TV broadcast, weather, and internet satellite (Starlink, Intelsat, DirecTV) runs purely on solar power. Without solar panels, global communications networks collapse.</a:t>
            </a:r>
            <a:endParaRPr lang="en-US" sz="850" dirty="0"/>
          </a:p>
        </p:txBody>
      </p:sp>
      <p:sp>
        <p:nvSpPr>
          <p:cNvPr id="40" name="Shape 35"/>
          <p:cNvSpPr/>
          <p:nvPr/>
        </p:nvSpPr>
        <p:spPr>
          <a:xfrm>
            <a:off x="4572000" y="3895344"/>
            <a:ext cx="4251960" cy="914400"/>
          </a:xfrm>
          <a:prstGeom prst="rect">
            <a:avLst/>
          </a:prstGeom>
          <a:solidFill>
            <a:srgbClr val="152238"/>
          </a:solidFill>
          <a:ln/>
          <a:effectLst>
            <a:outerShdw sx="100000" sy="100000" kx="0" ky="0" algn="bl" rotWithShape="0" blurRad="63500" dist="25400" dir="8100000">
              <a:srgbClr val="000000">
                <a:alpha val="30000"/>
              </a:srgbClr>
            </a:outerShdw>
          </a:effectLst>
        </p:spPr>
      </p:sp>
      <p:sp>
        <p:nvSpPr>
          <p:cNvPr id="41" name="Shape 36"/>
          <p:cNvSpPr/>
          <p:nvPr/>
        </p:nvSpPr>
        <p:spPr>
          <a:xfrm>
            <a:off x="4572000" y="3895344"/>
            <a:ext cx="64008" cy="914400"/>
          </a:xfrm>
          <a:prstGeom prst="rect">
            <a:avLst/>
          </a:prstGeom>
          <a:solidFill>
            <a:srgbClr val="FFB300"/>
          </a:solidFill>
          <a:ln/>
        </p:spPr>
      </p:sp>
      <p:sp>
        <p:nvSpPr>
          <p:cNvPr id="42" name="Shape 37"/>
          <p:cNvSpPr/>
          <p:nvPr/>
        </p:nvSpPr>
        <p:spPr>
          <a:xfrm>
            <a:off x="4745736" y="4105656"/>
            <a:ext cx="493776" cy="493776"/>
          </a:xfrm>
          <a:prstGeom prst="ellipse">
            <a:avLst/>
          </a:prstGeom>
          <a:solidFill>
            <a:srgbClr val="4527A0"/>
          </a:solidFill>
          <a:ln/>
        </p:spPr>
      </p:sp>
      <p:pic>
        <p:nvPicPr>
          <p:cNvPr id="43" name="Image 3" descr="preencoded.png"/>
          <p:cNvPicPr>
            <a:picLocks noChangeAspect="1"/>
          </p:cNvPicPr>
          <p:nvPr/>
        </p:nvPicPr>
        <p:blipFill>
          <a:blip r:embed="rId4"/>
          <a:stretch>
            <a:fillRect/>
          </a:stretch>
        </p:blipFill>
        <p:spPr>
          <a:xfrm>
            <a:off x="4832147" y="4192067"/>
            <a:ext cx="320954" cy="320954"/>
          </a:xfrm>
          <a:prstGeom prst="rect">
            <a:avLst/>
          </a:prstGeom>
        </p:spPr>
      </p:pic>
      <p:sp>
        <p:nvSpPr>
          <p:cNvPr id="44" name="Text 38"/>
          <p:cNvSpPr/>
          <p:nvPr/>
        </p:nvSpPr>
        <p:spPr>
          <a:xfrm>
            <a:off x="5340096" y="3968496"/>
            <a:ext cx="3337560" cy="274320"/>
          </a:xfrm>
          <a:prstGeom prst="rect">
            <a:avLst/>
          </a:prstGeom>
          <a:noFill/>
          <a:ln/>
        </p:spPr>
        <p:txBody>
          <a:bodyPr wrap="square" lIns="0" tIns="0" rIns="0" bIns="0" rtlCol="0" anchor="ctr"/>
          <a:lstStyle/>
          <a:p>
            <a:pPr indent="0" marL="0">
              <a:buNone/>
            </a:pPr>
            <a:r>
              <a:rPr lang="en-US" sz="1100" b="1" dirty="0">
                <a:solidFill>
                  <a:srgbClr val="FFB300"/>
                </a:solidFill>
                <a:latin typeface="Arial" pitchFamily="34" charset="0"/>
                <a:ea typeface="Arial" pitchFamily="34" charset="-122"/>
                <a:cs typeface="Arial" pitchFamily="34" charset="-120"/>
              </a:rPr>
              <a:t>Solar Irradiance Data</a:t>
            </a:r>
            <a:endParaRPr lang="en-US" sz="1100" dirty="0"/>
          </a:p>
        </p:txBody>
      </p:sp>
      <p:sp>
        <p:nvSpPr>
          <p:cNvPr id="45" name="Text 39"/>
          <p:cNvSpPr/>
          <p:nvPr/>
        </p:nvSpPr>
        <p:spPr>
          <a:xfrm>
            <a:off x="5340096" y="4261104"/>
            <a:ext cx="3337560" cy="502920"/>
          </a:xfrm>
          <a:prstGeom prst="rect">
            <a:avLst/>
          </a:prstGeom>
          <a:noFill/>
          <a:ln/>
        </p:spPr>
        <p:txBody>
          <a:bodyPr wrap="square" lIns="0" tIns="0" rIns="0" bIns="0" rtlCol="0" anchor="ctr"/>
          <a:lstStyle/>
          <a:p>
            <a:pPr indent="0" marL="0">
              <a:buNone/>
            </a:pPr>
            <a:r>
              <a:rPr lang="en-US" sz="850" dirty="0">
                <a:solidFill>
                  <a:srgbClr val="ECEFF1"/>
                </a:solidFill>
                <a:latin typeface="Calibri" pitchFamily="34" charset="0"/>
                <a:ea typeface="Calibri" pitchFamily="34" charset="-122"/>
                <a:cs typeface="Calibri" pitchFamily="34" charset="-120"/>
              </a:rPr>
              <a:t>SORCE, DSCOVR &amp; Sentinel satellites measure the Sun's energy output and send real-time data back to Earth — used to model climate change and predict solar storms.</a:t>
            </a:r>
            <a:endParaRPr lang="en-US" sz="850" dirty="0"/>
          </a:p>
        </p:txBody>
      </p:sp>
      <p:sp>
        <p:nvSpPr>
          <p:cNvPr id="46" name="Shape 40"/>
          <p:cNvSpPr/>
          <p:nvPr/>
        </p:nvSpPr>
        <p:spPr>
          <a:xfrm>
            <a:off x="0" y="4617720"/>
            <a:ext cx="9144000" cy="493776"/>
          </a:xfrm>
          <a:prstGeom prst="rect">
            <a:avLst/>
          </a:prstGeom>
          <a:solidFill>
            <a:srgbClr val="FFB300"/>
          </a:solidFill>
          <a:ln/>
        </p:spPr>
      </p:sp>
      <p:sp>
        <p:nvSpPr>
          <p:cNvPr id="47" name="Text 41"/>
          <p:cNvSpPr/>
          <p:nvPr/>
        </p:nvSpPr>
        <p:spPr>
          <a:xfrm>
            <a:off x="274320" y="4645152"/>
            <a:ext cx="8595360" cy="420624"/>
          </a:xfrm>
          <a:prstGeom prst="rect">
            <a:avLst/>
          </a:prstGeom>
          <a:noFill/>
          <a:ln/>
        </p:spPr>
        <p:txBody>
          <a:bodyPr wrap="square" rtlCol="0" anchor="ctr"/>
          <a:lstStyle/>
          <a:p>
            <a:pPr indent="0" marL="0">
              <a:buNone/>
            </a:pPr>
            <a:r>
              <a:rPr lang="en-US" sz="1000" i="1" dirty="0">
                <a:solidFill>
                  <a:srgbClr val="0A1628"/>
                </a:solidFill>
                <a:latin typeface="Calibri" pitchFamily="34" charset="0"/>
                <a:ea typeface="Calibri" pitchFamily="34" charset="-122"/>
                <a:cs typeface="Calibri" pitchFamily="34" charset="-120"/>
              </a:rPr>
              <a:t>KEY INSIGHT: Solar panels were first proven reliable in space before they became common on Earth — satellites were the original solar technology testbed.</a:t>
            </a:r>
            <a:endParaRPr lang="en-US" sz="1000" dirty="0"/>
          </a:p>
        </p:txBody>
      </p:sp>
      <p:sp>
        <p:nvSpPr>
          <p:cNvPr id="48" name="Text 42"/>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13 / 16</a:t>
            </a:r>
            <a:endParaRPr lang="en-US" sz="850" dirty="0"/>
          </a:p>
        </p:txBody>
      </p:sp>
      <p:pic>
        <p:nvPicPr>
          <p:cNvPr id="200" name="ISSSolar" descr="International Space Station — 8 solar wings generating 84-120 kW"/>
          <p:cNvPicPr>
            <a:picLocks noChangeAspect="1"/>
          </p:cNvPicPr>
          <p:nvPr/>
        </p:nvPicPr>
        <p:blipFill>
          <a:blip r:embed="rId7"/>
          <a:stretch>
            <a:fillRect/>
          </a:stretch>
        </p:blipFill>
        <p:spPr>
          <a:xfrm>
            <a:off x="200000" y="900000"/>
            <a:ext cx="2600000" cy="1700000"/>
          </a:xfrm>
          <a:prstGeom prst="rect">
            <a:avLst/>
          </a:prstGeom>
        </p:spPr>
      </p:pic>
      <p:sp>
        <p:nvSpPr>
          <p:cNvPr id="201" name="Caption13"/>
          <p:cNvSpPr/>
          <p:nvPr/>
        </p:nvSpPr>
        <p:spPr>
          <a:xfrm>
            <a:off x="200000" y="2625000"/>
            <a:ext cx="2600000" cy="228600"/>
          </a:xfrm>
          <a:prstGeom prst="rect">
            <a:avLst/>
          </a:prstGeom>
          <a:noFill/>
          <a:ln/>
        </p:spPr>
        <p:txBody>
          <a:bodyPr wrap="square" lIns="0" tIns="0" rIns="0" bIns="0" rtlCol="0" anchor="ctr"/>
          <a:lstStyle/>
          <a:p>
            <a:pPr algn="ctr">
              <a:buNone/>
            </a:pPr>
            <a:r>
              <a:rPr lang="en-US" sz="700" i="1" dirty="0">
                <a:solidFill>
                  <a:srgbClr val="90A4AE"/>
                </a:solidFill>
              </a:rPr>
              <a:t>International Space Station — 8 solar wings generating 84-120 kW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KEY STATISTICS — Solar Energy by the Numbers</a:t>
            </a:r>
            <a:endParaRPr lang="en-US" sz="2200" dirty="0"/>
          </a:p>
        </p:txBody>
      </p:sp>
      <p:sp>
        <p:nvSpPr>
          <p:cNvPr id="5" name="Shape 3"/>
          <p:cNvSpPr/>
          <p:nvPr/>
        </p:nvSpPr>
        <p:spPr>
          <a:xfrm>
            <a:off x="274320" y="804672"/>
            <a:ext cx="1993392" cy="1463040"/>
          </a:xfrm>
          <a:prstGeom prst="rect">
            <a:avLst/>
          </a:prstGeom>
          <a:solidFill>
            <a:srgbClr val="FF8F00"/>
          </a:solidFill>
          <a:ln/>
          <a:effectLst>
            <a:outerShdw sx="100000" sy="100000" kx="0" ky="0" algn="bl" rotWithShape="0" blurRad="76200" dist="25400" dir="8100000">
              <a:srgbClr val="000000">
                <a:alpha val="15000"/>
              </a:srgbClr>
            </a:outerShdw>
          </a:effectLst>
        </p:spPr>
      </p:sp>
      <p:sp>
        <p:nvSpPr>
          <p:cNvPr id="6" name="Text 4"/>
          <p:cNvSpPr/>
          <p:nvPr/>
        </p:nvSpPr>
        <p:spPr>
          <a:xfrm>
            <a:off x="274320" y="877824"/>
            <a:ext cx="1993392" cy="731520"/>
          </a:xfrm>
          <a:prstGeom prst="rect">
            <a:avLst/>
          </a:prstGeom>
          <a:noFill/>
          <a:ln/>
        </p:spPr>
        <p:txBody>
          <a:bodyPr wrap="square"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1.2 TW</a:t>
            </a:r>
            <a:endParaRPr lang="en-US" sz="3400" dirty="0"/>
          </a:p>
        </p:txBody>
      </p:sp>
      <p:sp>
        <p:nvSpPr>
          <p:cNvPr id="7" name="Text 5"/>
          <p:cNvSpPr/>
          <p:nvPr/>
        </p:nvSpPr>
        <p:spPr>
          <a:xfrm>
            <a:off x="274320" y="1600200"/>
            <a:ext cx="1993392"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Total global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capacity installed</a:t>
            </a:r>
            <a:endParaRPr lang="en-US" sz="900" dirty="0"/>
          </a:p>
        </p:txBody>
      </p:sp>
      <p:sp>
        <p:nvSpPr>
          <p:cNvPr id="8" name="Shape 6"/>
          <p:cNvSpPr/>
          <p:nvPr/>
        </p:nvSpPr>
        <p:spPr>
          <a:xfrm>
            <a:off x="2450592" y="804672"/>
            <a:ext cx="1993392" cy="1463040"/>
          </a:xfrm>
          <a:prstGeom prst="rect">
            <a:avLst/>
          </a:prstGeom>
          <a:solidFill>
            <a:srgbClr val="E65100"/>
          </a:solidFill>
          <a:ln/>
          <a:effectLst>
            <a:outerShdw sx="100000" sy="100000" kx="0" ky="0" algn="bl" rotWithShape="0" blurRad="76200" dist="25400" dir="8100000">
              <a:srgbClr val="000000">
                <a:alpha val="15000"/>
              </a:srgbClr>
            </a:outerShdw>
          </a:effectLst>
        </p:spPr>
      </p:sp>
      <p:sp>
        <p:nvSpPr>
          <p:cNvPr id="9" name="Text 7"/>
          <p:cNvSpPr/>
          <p:nvPr/>
        </p:nvSpPr>
        <p:spPr>
          <a:xfrm>
            <a:off x="2450592" y="877824"/>
            <a:ext cx="1993392" cy="731520"/>
          </a:xfrm>
          <a:prstGeom prst="rect">
            <a:avLst/>
          </a:prstGeom>
          <a:noFill/>
          <a:ln/>
        </p:spPr>
        <p:txBody>
          <a:bodyPr wrap="square"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90%</a:t>
            </a:r>
            <a:endParaRPr lang="en-US" sz="3400" dirty="0"/>
          </a:p>
        </p:txBody>
      </p:sp>
      <p:sp>
        <p:nvSpPr>
          <p:cNvPr id="10" name="Text 8"/>
          <p:cNvSpPr/>
          <p:nvPr/>
        </p:nvSpPr>
        <p:spPr>
          <a:xfrm>
            <a:off x="2450592" y="1600200"/>
            <a:ext cx="1993392"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Cost drop</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2010 to 2024</a:t>
            </a:r>
            <a:endParaRPr lang="en-US" sz="900" dirty="0"/>
          </a:p>
        </p:txBody>
      </p:sp>
      <p:sp>
        <p:nvSpPr>
          <p:cNvPr id="11" name="Shape 9"/>
          <p:cNvSpPr/>
          <p:nvPr/>
        </p:nvSpPr>
        <p:spPr>
          <a:xfrm>
            <a:off x="4626864" y="804672"/>
            <a:ext cx="1993392" cy="1463040"/>
          </a:xfrm>
          <a:prstGeom prst="rect">
            <a:avLst/>
          </a:prstGeom>
          <a:solidFill>
            <a:srgbClr val="2E7D32"/>
          </a:solidFill>
          <a:ln/>
          <a:effectLst>
            <a:outerShdw sx="100000" sy="100000" kx="0" ky="0" algn="bl" rotWithShape="0" blurRad="76200" dist="25400" dir="8100000">
              <a:srgbClr val="000000">
                <a:alpha val="15000"/>
              </a:srgbClr>
            </a:outerShdw>
          </a:effectLst>
        </p:spPr>
      </p:sp>
      <p:sp>
        <p:nvSpPr>
          <p:cNvPr id="12" name="Text 10"/>
          <p:cNvSpPr/>
          <p:nvPr/>
        </p:nvSpPr>
        <p:spPr>
          <a:xfrm>
            <a:off x="4626864" y="877824"/>
            <a:ext cx="1993392" cy="731520"/>
          </a:xfrm>
          <a:prstGeom prst="rect">
            <a:avLst/>
          </a:prstGeom>
          <a:noFill/>
          <a:ln/>
        </p:spPr>
        <p:txBody>
          <a:bodyPr wrap="square"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4M+</a:t>
            </a:r>
            <a:endParaRPr lang="en-US" sz="3400" dirty="0"/>
          </a:p>
        </p:txBody>
      </p:sp>
      <p:sp>
        <p:nvSpPr>
          <p:cNvPr id="13" name="Text 11"/>
          <p:cNvSpPr/>
          <p:nvPr/>
        </p:nvSpPr>
        <p:spPr>
          <a:xfrm>
            <a:off x="4626864" y="1600200"/>
            <a:ext cx="1993392"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Jobs created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globally</a:t>
            </a:r>
            <a:endParaRPr lang="en-US" sz="900" dirty="0"/>
          </a:p>
        </p:txBody>
      </p:sp>
      <p:sp>
        <p:nvSpPr>
          <p:cNvPr id="14" name="Shape 12"/>
          <p:cNvSpPr/>
          <p:nvPr/>
        </p:nvSpPr>
        <p:spPr>
          <a:xfrm>
            <a:off x="6803136" y="804672"/>
            <a:ext cx="1993392" cy="1463040"/>
          </a:xfrm>
          <a:prstGeom prst="rect">
            <a:avLst/>
          </a:prstGeom>
          <a:solidFill>
            <a:srgbClr val="1565C0"/>
          </a:solidFill>
          <a:ln/>
          <a:effectLst>
            <a:outerShdw sx="100000" sy="100000" kx="0" ky="0" algn="bl" rotWithShape="0" blurRad="76200" dist="25400" dir="8100000">
              <a:srgbClr val="000000">
                <a:alpha val="15000"/>
              </a:srgbClr>
            </a:outerShdw>
          </a:effectLst>
        </p:spPr>
      </p:sp>
      <p:sp>
        <p:nvSpPr>
          <p:cNvPr id="15" name="Text 13"/>
          <p:cNvSpPr/>
          <p:nvPr/>
        </p:nvSpPr>
        <p:spPr>
          <a:xfrm>
            <a:off x="6803136" y="877824"/>
            <a:ext cx="1993392" cy="731520"/>
          </a:xfrm>
          <a:prstGeom prst="rect">
            <a:avLst/>
          </a:prstGeom>
          <a:noFill/>
          <a:ln/>
        </p:spPr>
        <p:txBody>
          <a:bodyPr wrap="square"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3%</a:t>
            </a:r>
            <a:endParaRPr lang="en-US" sz="3400" dirty="0"/>
          </a:p>
        </p:txBody>
      </p:sp>
      <p:sp>
        <p:nvSpPr>
          <p:cNvPr id="16" name="Text 14"/>
          <p:cNvSpPr/>
          <p:nvPr/>
        </p:nvSpPr>
        <p:spPr>
          <a:xfrm>
            <a:off x="6803136" y="1600200"/>
            <a:ext cx="1993392"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Share of global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electricity today</a:t>
            </a:r>
            <a:endParaRPr lang="en-US" sz="900" dirty="0"/>
          </a:p>
        </p:txBody>
      </p:sp>
      <p:sp>
        <p:nvSpPr>
          <p:cNvPr id="17" name="Text 15"/>
          <p:cNvSpPr/>
          <p:nvPr/>
        </p:nvSpPr>
        <p:spPr>
          <a:xfrm>
            <a:off x="320040" y="2395728"/>
            <a:ext cx="4937760" cy="274320"/>
          </a:xfrm>
          <a:prstGeom prst="rect">
            <a:avLst/>
          </a:prstGeom>
          <a:noFill/>
          <a:ln/>
        </p:spPr>
        <p:txBody>
          <a:bodyPr wrap="square" rtlCol="0" anchor="ctr"/>
          <a:lstStyle/>
          <a:p>
            <a:pPr indent="0" marL="0">
              <a:buNone/>
            </a:pPr>
            <a:r>
              <a:rPr lang="en-US" sz="1100" b="1" dirty="0">
                <a:solidFill>
                  <a:srgbClr val="0A1628"/>
                </a:solidFill>
                <a:latin typeface="Arial" pitchFamily="34" charset="0"/>
                <a:ea typeface="Arial" pitchFamily="34" charset="-122"/>
                <a:cs typeface="Arial" pitchFamily="34" charset="-120"/>
              </a:rPr>
              <a:t>Global Solar Capacity Growth 2015–2024 (GW)</a:t>
            </a:r>
            <a:endParaRPr lang="en-US" sz="1100" dirty="0"/>
          </a:p>
        </p:txBody>
      </p:sp>
      <p:sp>
        <p:nvSpPr>
          <p:cNvPr id="19" name="Text 16"/>
          <p:cNvSpPr/>
          <p:nvPr/>
        </p:nvSpPr>
        <p:spPr>
          <a:xfrm>
            <a:off x="5486400" y="2395728"/>
            <a:ext cx="3429000" cy="274320"/>
          </a:xfrm>
          <a:prstGeom prst="rect">
            <a:avLst/>
          </a:prstGeom>
          <a:noFill/>
          <a:ln/>
        </p:spPr>
        <p:txBody>
          <a:bodyPr wrap="square" rtlCol="0" anchor="ctr"/>
          <a:lstStyle/>
          <a:p>
            <a:pPr indent="0" marL="0">
              <a:buNone/>
            </a:pPr>
            <a:r>
              <a:rPr lang="en-US" sz="1100" b="1" dirty="0">
                <a:solidFill>
                  <a:srgbClr val="0A1628"/>
                </a:solidFill>
                <a:latin typeface="Arial" pitchFamily="34" charset="0"/>
                <a:ea typeface="Arial" pitchFamily="34" charset="-122"/>
                <a:cs typeface="Arial" pitchFamily="34" charset="-120"/>
              </a:rPr>
              <a:t>Global Electricity Mix (2024)</a:t>
            </a:r>
            <a:endParaRPr lang="en-US" sz="1100" dirty="0"/>
          </a:p>
        </p:txBody>
      </p:sp>
      <p:sp>
        <p:nvSpPr>
          <p:cNvPr id="21" name="Text 17"/>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14 / 16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sp>
      <p:sp>
        <p:nvSpPr>
          <p:cNvPr id="3" name="Shape 1"/>
          <p:cNvSpPr/>
          <p:nvPr/>
        </p:nvSpPr>
        <p:spPr>
          <a:xfrm>
            <a:off x="0" y="658368"/>
            <a:ext cx="9144000" cy="36576"/>
          </a:xfrm>
          <a:prstGeom prst="rect">
            <a:avLst/>
          </a:prstGeom>
          <a:solidFill>
            <a:srgbClr val="FF8F00"/>
          </a:solidFill>
          <a:ln/>
        </p:spPr>
      </p:sp>
      <p:sp>
        <p:nvSpPr>
          <p:cNvPr id="4" name="Text 2"/>
          <p:cNvSpPr/>
          <p:nvPr/>
        </p:nvSpPr>
        <p:spPr>
          <a:xfrm>
            <a:off x="365760" y="73152"/>
            <a:ext cx="8412480" cy="548640"/>
          </a:xfrm>
          <a:prstGeom prst="rect">
            <a:avLst/>
          </a:prstGeom>
          <a:noFill/>
          <a:ln/>
        </p:spPr>
        <p:txBody>
          <a:bodyPr wrap="square" lIns="0" tIns="0" rIns="0" bIns="0" rtlCol="0" anchor="ctr"/>
          <a:lstStyle/>
          <a:p>
            <a:pPr indent="0" marL="0">
              <a:buNone/>
            </a:pPr>
            <a:r>
              <a:rPr lang="en-US" sz="2200" b="1" dirty="0">
                <a:solidFill>
                  <a:srgbClr val="FFB300"/>
                </a:solidFill>
                <a:latin typeface="Arial Black" pitchFamily="34" charset="0"/>
                <a:ea typeface="Arial Black" pitchFamily="34" charset="-122"/>
                <a:cs typeface="Arial Black" pitchFamily="34" charset="-120"/>
              </a:rPr>
              <a:t>THE FUTURE OF SOLAR ENERGY</a:t>
            </a:r>
            <a:endParaRPr lang="en-US" sz="2200" dirty="0"/>
          </a:p>
        </p:txBody>
      </p:sp>
      <p:sp>
        <p:nvSpPr>
          <p:cNvPr id="5" name="Shape 3"/>
          <p:cNvSpPr/>
          <p:nvPr/>
        </p:nvSpPr>
        <p:spPr>
          <a:xfrm>
            <a:off x="274320" y="804672"/>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274320" y="804672"/>
            <a:ext cx="2697480" cy="457200"/>
          </a:xfrm>
          <a:prstGeom prst="rect">
            <a:avLst/>
          </a:prstGeom>
          <a:solidFill>
            <a:srgbClr val="FF8F00"/>
          </a:solidFill>
          <a:ln/>
        </p:spPr>
      </p:sp>
      <p:pic>
        <p:nvPicPr>
          <p:cNvPr id="7" name="Image 0" descr="preencoded.png"/>
          <p:cNvPicPr>
            <a:picLocks noChangeAspect="1"/>
          </p:cNvPicPr>
          <p:nvPr/>
        </p:nvPicPr>
        <p:blipFill>
          <a:blip r:embed="rId1"/>
          <a:stretch>
            <a:fillRect/>
          </a:stretch>
        </p:blipFill>
        <p:spPr>
          <a:xfrm>
            <a:off x="384048" y="868680"/>
            <a:ext cx="329184" cy="329184"/>
          </a:xfrm>
          <a:prstGeom prst="rect">
            <a:avLst/>
          </a:prstGeom>
        </p:spPr>
      </p:pic>
      <p:sp>
        <p:nvSpPr>
          <p:cNvPr id="8" name="Text 5"/>
          <p:cNvSpPr/>
          <p:nvPr/>
        </p:nvSpPr>
        <p:spPr>
          <a:xfrm>
            <a:off x="777240" y="868680"/>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Perovskite Solar Cells</a:t>
            </a:r>
            <a:endParaRPr lang="en-US" sz="1050" dirty="0"/>
          </a:p>
        </p:txBody>
      </p:sp>
      <p:sp>
        <p:nvSpPr>
          <p:cNvPr id="9" name="Text 6"/>
          <p:cNvSpPr/>
          <p:nvPr/>
        </p:nvSpPr>
        <p:spPr>
          <a:xfrm>
            <a:off x="384048" y="1325880"/>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Next-gen material with 33%+ efficiency potential at a fraction of silicon's cost. Expected commercial rollout by 2028–2030.</a:t>
            </a:r>
            <a:endParaRPr lang="en-US" sz="950" dirty="0"/>
          </a:p>
        </p:txBody>
      </p:sp>
      <p:sp>
        <p:nvSpPr>
          <p:cNvPr id="10" name="Shape 7"/>
          <p:cNvSpPr/>
          <p:nvPr/>
        </p:nvSpPr>
        <p:spPr>
          <a:xfrm>
            <a:off x="3182112" y="804672"/>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3182112" y="804672"/>
            <a:ext cx="2697480" cy="457200"/>
          </a:xfrm>
          <a:prstGeom prst="rect">
            <a:avLst/>
          </a:prstGeom>
          <a:solidFill>
            <a:srgbClr val="4527A0"/>
          </a:solidFill>
          <a:ln/>
        </p:spPr>
      </p:sp>
      <p:pic>
        <p:nvPicPr>
          <p:cNvPr id="12" name="Image 1" descr="preencoded.png"/>
          <p:cNvPicPr>
            <a:picLocks noChangeAspect="1"/>
          </p:cNvPicPr>
          <p:nvPr/>
        </p:nvPicPr>
        <p:blipFill>
          <a:blip r:embed="rId2"/>
          <a:stretch>
            <a:fillRect/>
          </a:stretch>
        </p:blipFill>
        <p:spPr>
          <a:xfrm>
            <a:off x="3291840" y="868680"/>
            <a:ext cx="329184" cy="329184"/>
          </a:xfrm>
          <a:prstGeom prst="rect">
            <a:avLst/>
          </a:prstGeom>
        </p:spPr>
      </p:pic>
      <p:sp>
        <p:nvSpPr>
          <p:cNvPr id="13" name="Text 9"/>
          <p:cNvSpPr/>
          <p:nvPr/>
        </p:nvSpPr>
        <p:spPr>
          <a:xfrm>
            <a:off x="3685032" y="868680"/>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Space-Based Solar Power</a:t>
            </a:r>
            <a:endParaRPr lang="en-US" sz="1050" dirty="0"/>
          </a:p>
        </p:txBody>
      </p:sp>
      <p:sp>
        <p:nvSpPr>
          <p:cNvPr id="14" name="Text 10"/>
          <p:cNvSpPr/>
          <p:nvPr/>
        </p:nvSpPr>
        <p:spPr>
          <a:xfrm>
            <a:off x="3291840" y="1325880"/>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Giant orbiting solar arrays beam microwave energy to Earth 24/7 — no clouds, no night, no interruption. Prototypes planned by 2035.</a:t>
            </a:r>
            <a:endParaRPr lang="en-US" sz="950" dirty="0"/>
          </a:p>
        </p:txBody>
      </p:sp>
      <p:sp>
        <p:nvSpPr>
          <p:cNvPr id="15" name="Shape 11"/>
          <p:cNvSpPr/>
          <p:nvPr/>
        </p:nvSpPr>
        <p:spPr>
          <a:xfrm>
            <a:off x="6089904" y="804672"/>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6089904" y="804672"/>
            <a:ext cx="2697480" cy="457200"/>
          </a:xfrm>
          <a:prstGeom prst="rect">
            <a:avLst/>
          </a:prstGeom>
          <a:solidFill>
            <a:srgbClr val="1565C0"/>
          </a:solidFill>
          <a:ln/>
        </p:spPr>
      </p:sp>
      <p:pic>
        <p:nvPicPr>
          <p:cNvPr id="17" name="Image 2" descr="preencoded.png"/>
          <p:cNvPicPr>
            <a:picLocks noChangeAspect="1"/>
          </p:cNvPicPr>
          <p:nvPr/>
        </p:nvPicPr>
        <p:blipFill>
          <a:blip r:embed="rId3"/>
          <a:stretch>
            <a:fillRect/>
          </a:stretch>
        </p:blipFill>
        <p:spPr>
          <a:xfrm>
            <a:off x="6199632" y="868680"/>
            <a:ext cx="329184" cy="329184"/>
          </a:xfrm>
          <a:prstGeom prst="rect">
            <a:avLst/>
          </a:prstGeom>
        </p:spPr>
      </p:pic>
      <p:sp>
        <p:nvSpPr>
          <p:cNvPr id="18" name="Text 13"/>
          <p:cNvSpPr/>
          <p:nvPr/>
        </p:nvSpPr>
        <p:spPr>
          <a:xfrm>
            <a:off x="6592824" y="868680"/>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Solid-State Solar Batteries</a:t>
            </a:r>
            <a:endParaRPr lang="en-US" sz="1050" dirty="0"/>
          </a:p>
        </p:txBody>
      </p:sp>
      <p:sp>
        <p:nvSpPr>
          <p:cNvPr id="19" name="Text 14"/>
          <p:cNvSpPr/>
          <p:nvPr/>
        </p:nvSpPr>
        <p:spPr>
          <a:xfrm>
            <a:off x="6199632" y="1325880"/>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New battery chemistries will store solar power cheaply for days or weeks — finally eliminating the intermittency problem for good.</a:t>
            </a:r>
            <a:endParaRPr lang="en-US" sz="950" dirty="0"/>
          </a:p>
        </p:txBody>
      </p:sp>
      <p:sp>
        <p:nvSpPr>
          <p:cNvPr id="20" name="Shape 15"/>
          <p:cNvSpPr/>
          <p:nvPr/>
        </p:nvSpPr>
        <p:spPr>
          <a:xfrm>
            <a:off x="274320" y="283464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274320" y="2834640"/>
            <a:ext cx="2697480" cy="457200"/>
          </a:xfrm>
          <a:prstGeom prst="rect">
            <a:avLst/>
          </a:prstGeom>
          <a:solidFill>
            <a:srgbClr val="004D40"/>
          </a:solidFill>
          <a:ln/>
        </p:spPr>
      </p:sp>
      <p:pic>
        <p:nvPicPr>
          <p:cNvPr id="22" name="Image 3" descr="preencoded.png"/>
          <p:cNvPicPr>
            <a:picLocks noChangeAspect="1"/>
          </p:cNvPicPr>
          <p:nvPr/>
        </p:nvPicPr>
        <p:blipFill>
          <a:blip r:embed="rId4"/>
          <a:stretch>
            <a:fillRect/>
          </a:stretch>
        </p:blipFill>
        <p:spPr>
          <a:xfrm>
            <a:off x="384048" y="2898648"/>
            <a:ext cx="329184" cy="329184"/>
          </a:xfrm>
          <a:prstGeom prst="rect">
            <a:avLst/>
          </a:prstGeom>
        </p:spPr>
      </p:pic>
      <p:sp>
        <p:nvSpPr>
          <p:cNvPr id="23" name="Text 17"/>
          <p:cNvSpPr/>
          <p:nvPr/>
        </p:nvSpPr>
        <p:spPr>
          <a:xfrm>
            <a:off x="777240" y="2898648"/>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Floating Solar (Floatovoltaics)</a:t>
            </a:r>
            <a:endParaRPr lang="en-US" sz="1050" dirty="0"/>
          </a:p>
        </p:txBody>
      </p:sp>
      <p:sp>
        <p:nvSpPr>
          <p:cNvPr id="24" name="Text 18"/>
          <p:cNvSpPr/>
          <p:nvPr/>
        </p:nvSpPr>
        <p:spPr>
          <a:xfrm>
            <a:off x="384048" y="3355848"/>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Panels on reservoirs and lakes reduce land use, lower water evaporation, and produce power in dense cities — growing 25% per year.</a:t>
            </a:r>
            <a:endParaRPr lang="en-US" sz="950" dirty="0"/>
          </a:p>
        </p:txBody>
      </p:sp>
      <p:sp>
        <p:nvSpPr>
          <p:cNvPr id="25" name="Shape 19"/>
          <p:cNvSpPr/>
          <p:nvPr/>
        </p:nvSpPr>
        <p:spPr>
          <a:xfrm>
            <a:off x="3182112" y="283464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0"/>
          <p:cNvSpPr/>
          <p:nvPr/>
        </p:nvSpPr>
        <p:spPr>
          <a:xfrm>
            <a:off x="3182112" y="2834640"/>
            <a:ext cx="2697480" cy="457200"/>
          </a:xfrm>
          <a:prstGeom prst="rect">
            <a:avLst/>
          </a:prstGeom>
          <a:solidFill>
            <a:srgbClr val="2E7D32"/>
          </a:solidFill>
          <a:ln/>
        </p:spPr>
      </p:sp>
      <p:pic>
        <p:nvPicPr>
          <p:cNvPr id="27" name="Image 4" descr="preencoded.png"/>
          <p:cNvPicPr>
            <a:picLocks noChangeAspect="1"/>
          </p:cNvPicPr>
          <p:nvPr/>
        </p:nvPicPr>
        <p:blipFill>
          <a:blip r:embed="rId5"/>
          <a:stretch>
            <a:fillRect/>
          </a:stretch>
        </p:blipFill>
        <p:spPr>
          <a:xfrm>
            <a:off x="3291840" y="2898648"/>
            <a:ext cx="329184" cy="329184"/>
          </a:xfrm>
          <a:prstGeom prst="rect">
            <a:avLst/>
          </a:prstGeom>
        </p:spPr>
      </p:pic>
      <p:sp>
        <p:nvSpPr>
          <p:cNvPr id="28" name="Text 21"/>
          <p:cNvSpPr/>
          <p:nvPr/>
        </p:nvSpPr>
        <p:spPr>
          <a:xfrm>
            <a:off x="3685032" y="2898648"/>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Solar + EV Smart Homes</a:t>
            </a:r>
            <a:endParaRPr lang="en-US" sz="1050" dirty="0"/>
          </a:p>
        </p:txBody>
      </p:sp>
      <p:sp>
        <p:nvSpPr>
          <p:cNvPr id="29" name="Text 22"/>
          <p:cNvSpPr/>
          <p:nvPr/>
        </p:nvSpPr>
        <p:spPr>
          <a:xfrm>
            <a:off x="3291840" y="3355848"/>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Solar roof + home battery + EV creates a self-sufficient home microgrid. Owners sell surplus energy back to the grid automatically.</a:t>
            </a:r>
            <a:endParaRPr lang="en-US" sz="950" dirty="0"/>
          </a:p>
        </p:txBody>
      </p:sp>
      <p:sp>
        <p:nvSpPr>
          <p:cNvPr id="30" name="Shape 23"/>
          <p:cNvSpPr/>
          <p:nvPr/>
        </p:nvSpPr>
        <p:spPr>
          <a:xfrm>
            <a:off x="6089904" y="2834640"/>
            <a:ext cx="2697480" cy="1883664"/>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4"/>
          <p:cNvSpPr/>
          <p:nvPr/>
        </p:nvSpPr>
        <p:spPr>
          <a:xfrm>
            <a:off x="6089904" y="2834640"/>
            <a:ext cx="2697480" cy="457200"/>
          </a:xfrm>
          <a:prstGeom prst="rect">
            <a:avLst/>
          </a:prstGeom>
          <a:solidFill>
            <a:srgbClr val="E65100"/>
          </a:solidFill>
          <a:ln/>
        </p:spPr>
      </p:sp>
      <p:pic>
        <p:nvPicPr>
          <p:cNvPr id="32" name="Image 5" descr="preencoded.png"/>
          <p:cNvPicPr>
            <a:picLocks noChangeAspect="1"/>
          </p:cNvPicPr>
          <p:nvPr/>
        </p:nvPicPr>
        <p:blipFill>
          <a:blip r:embed="rId6"/>
          <a:stretch>
            <a:fillRect/>
          </a:stretch>
        </p:blipFill>
        <p:spPr>
          <a:xfrm>
            <a:off x="6199632" y="2898648"/>
            <a:ext cx="329184" cy="329184"/>
          </a:xfrm>
          <a:prstGeom prst="rect">
            <a:avLst/>
          </a:prstGeom>
        </p:spPr>
      </p:pic>
      <p:sp>
        <p:nvSpPr>
          <p:cNvPr id="33" name="Text 25"/>
          <p:cNvSpPr/>
          <p:nvPr/>
        </p:nvSpPr>
        <p:spPr>
          <a:xfrm>
            <a:off x="6592824" y="2898648"/>
            <a:ext cx="2093976"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25% of Global Power by 2050</a:t>
            </a:r>
            <a:endParaRPr lang="en-US" sz="1050" dirty="0"/>
          </a:p>
        </p:txBody>
      </p:sp>
      <p:sp>
        <p:nvSpPr>
          <p:cNvPr id="34" name="Text 26"/>
          <p:cNvSpPr/>
          <p:nvPr/>
        </p:nvSpPr>
        <p:spPr>
          <a:xfrm>
            <a:off x="6199632" y="3355848"/>
            <a:ext cx="2487168" cy="12618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The IEA projects solar providing 20–25% of global electricity by 2050. Combined with wind, renewables can reach 90% of global supply.</a:t>
            </a:r>
            <a:endParaRPr lang="en-US" sz="950" dirty="0"/>
          </a:p>
        </p:txBody>
      </p:sp>
      <p:sp>
        <p:nvSpPr>
          <p:cNvPr id="35" name="Text 27"/>
          <p:cNvSpPr/>
          <p:nvPr/>
        </p:nvSpPr>
        <p:spPr>
          <a:xfrm>
            <a:off x="8046720" y="4864608"/>
            <a:ext cx="914400" cy="201168"/>
          </a:xfrm>
          <a:prstGeom prst="rect">
            <a:avLst/>
          </a:prstGeom>
          <a:noFill/>
          <a:ln/>
        </p:spPr>
        <p:txBody>
          <a:bodyPr wrap="square" rtlCol="0" anchor="ctr"/>
          <a:lstStyle/>
          <a:p>
            <a:pPr algn="r" indent="0" marL="0">
              <a:buNone/>
            </a:pPr>
            <a:r>
              <a:rPr lang="en-US" sz="850" dirty="0">
                <a:solidFill>
                  <a:srgbClr val="607D8B"/>
                </a:solidFill>
              </a:rPr>
              <a:t>15 / 16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669280" y="-1828800"/>
            <a:ext cx="6400800" cy="6400800"/>
          </a:xfrm>
          <a:prstGeom prst="ellipse">
            <a:avLst/>
          </a:prstGeom>
          <a:solidFill>
            <a:srgbClr val="FF8F00">
              <a:alpha val="12000"/>
            </a:srgbClr>
          </a:solidFill>
          <a:ln/>
        </p:spPr>
      </p:sp>
      <p:sp>
        <p:nvSpPr>
          <p:cNvPr id="3" name="Shape 1"/>
          <p:cNvSpPr/>
          <p:nvPr/>
        </p:nvSpPr>
        <p:spPr>
          <a:xfrm>
            <a:off x="6400800" y="-1097280"/>
            <a:ext cx="4754880" cy="4754880"/>
          </a:xfrm>
          <a:prstGeom prst="ellipse">
            <a:avLst/>
          </a:prstGeom>
          <a:solidFill>
            <a:srgbClr val="FFB300">
              <a:alpha val="20000"/>
            </a:srgbClr>
          </a:solidFill>
          <a:ln/>
        </p:spPr>
      </p:sp>
      <p:sp>
        <p:nvSpPr>
          <p:cNvPr id="4" name="Shape 2"/>
          <p:cNvSpPr/>
          <p:nvPr/>
        </p:nvSpPr>
        <p:spPr>
          <a:xfrm>
            <a:off x="0" y="0"/>
            <a:ext cx="128016" cy="5143500"/>
          </a:xfrm>
          <a:prstGeom prst="rect">
            <a:avLst/>
          </a:prstGeom>
          <a:solidFill>
            <a:srgbClr val="FFB300"/>
          </a:solidFill>
          <a:ln/>
        </p:spPr>
      </p:sp>
      <p:sp>
        <p:nvSpPr>
          <p:cNvPr id="5" name="Text 3"/>
          <p:cNvSpPr/>
          <p:nvPr/>
        </p:nvSpPr>
        <p:spPr>
          <a:xfrm>
            <a:off x="411480" y="320040"/>
            <a:ext cx="8412480" cy="685800"/>
          </a:xfrm>
          <a:prstGeom prst="rect">
            <a:avLst/>
          </a:prstGeom>
          <a:noFill/>
          <a:ln/>
        </p:spPr>
        <p:txBody>
          <a:bodyPr wrap="square" rtlCol="0" anchor="ctr"/>
          <a:lstStyle/>
          <a:p>
            <a:pPr indent="0" marL="0">
              <a:buNone/>
            </a:pPr>
            <a:r>
              <a:rPr lang="en-US" sz="3600" b="1" dirty="0">
                <a:solidFill>
                  <a:srgbClr val="FFB300"/>
                </a:solidFill>
                <a:latin typeface="Arial Black" pitchFamily="34" charset="0"/>
                <a:ea typeface="Arial Black" pitchFamily="34" charset="-122"/>
                <a:cs typeface="Arial Black" pitchFamily="34" charset="-120"/>
              </a:rPr>
              <a:t>CONCLUSION &amp; KEY TAKEAWAYS</a:t>
            </a:r>
            <a:endParaRPr lang="en-US" sz="3600" dirty="0"/>
          </a:p>
        </p:txBody>
      </p:sp>
      <p:sp>
        <p:nvSpPr>
          <p:cNvPr id="6" name="Text 4"/>
          <p:cNvSpPr/>
          <p:nvPr/>
        </p:nvSpPr>
        <p:spPr>
          <a:xfrm>
            <a:off x="411480" y="1051560"/>
            <a:ext cx="8229600" cy="475488"/>
          </a:xfrm>
          <a:prstGeom prst="rect">
            <a:avLst/>
          </a:prstGeom>
          <a:noFill/>
          <a:ln/>
        </p:spPr>
        <p:txBody>
          <a:bodyPr wrap="square" rtlCol="0" anchor="ctr"/>
          <a:lstStyle/>
          <a:p>
            <a:pPr indent="0" marL="0">
              <a:buNone/>
            </a:pPr>
            <a:r>
              <a:rPr lang="en-US" sz="1400" i="1" dirty="0">
                <a:solidFill>
                  <a:srgbClr val="FFD54F"/>
                </a:solidFill>
                <a:latin typeface="Calibri" pitchFamily="34" charset="0"/>
                <a:ea typeface="Calibri" pitchFamily="34" charset="-122"/>
                <a:cs typeface="Calibri" pitchFamily="34" charset="-120"/>
              </a:rPr>
              <a:t>Solar energy is not just a technology — it is the foundation of a sustainable future for all of humanity.</a:t>
            </a:r>
            <a:endParaRPr lang="en-US" sz="1400" dirty="0"/>
          </a:p>
        </p:txBody>
      </p:sp>
      <p:sp>
        <p:nvSpPr>
          <p:cNvPr id="7" name="Shape 5"/>
          <p:cNvSpPr/>
          <p:nvPr/>
        </p:nvSpPr>
        <p:spPr>
          <a:xfrm>
            <a:off x="411480" y="1664208"/>
            <a:ext cx="5200000" cy="502920"/>
          </a:xfrm>
          <a:prstGeom prst="rect">
            <a:avLst/>
          </a:prstGeom>
          <a:solidFill>
            <a:srgbClr val="152238"/>
          </a:solidFill>
          <a:ln/>
        </p:spPr>
      </p:sp>
      <p:sp>
        <p:nvSpPr>
          <p:cNvPr id="8" name="Shape 6"/>
          <p:cNvSpPr/>
          <p:nvPr/>
        </p:nvSpPr>
        <p:spPr>
          <a:xfrm>
            <a:off x="411480" y="1664208"/>
            <a:ext cx="64008" cy="502920"/>
          </a:xfrm>
          <a:prstGeom prst="rect">
            <a:avLst/>
          </a:prstGeom>
          <a:solidFill>
            <a:srgbClr val="FFB300"/>
          </a:solidFill>
          <a:ln/>
        </p:spPr>
      </p:sp>
      <p:sp>
        <p:nvSpPr>
          <p:cNvPr id="9" name="Text 7"/>
          <p:cNvSpPr/>
          <p:nvPr/>
        </p:nvSpPr>
        <p:spPr>
          <a:xfrm>
            <a:off x="594360" y="1664208"/>
            <a:ext cx="5200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Solar is the world's fastest-growing, cheapest electricity source — costs have fallen 90% in just one decade.</a:t>
            </a:r>
            <a:endParaRPr lang="en-US" sz="1100" dirty="0"/>
          </a:p>
        </p:txBody>
      </p:sp>
      <p:sp>
        <p:nvSpPr>
          <p:cNvPr id="10" name="Shape 8"/>
          <p:cNvSpPr/>
          <p:nvPr/>
        </p:nvSpPr>
        <p:spPr>
          <a:xfrm>
            <a:off x="411480" y="2231136"/>
            <a:ext cx="5200000" cy="502920"/>
          </a:xfrm>
          <a:prstGeom prst="rect">
            <a:avLst/>
          </a:prstGeom>
          <a:solidFill>
            <a:srgbClr val="0A1628"/>
          </a:solidFill>
          <a:ln/>
        </p:spPr>
      </p:sp>
      <p:sp>
        <p:nvSpPr>
          <p:cNvPr id="11" name="Shape 9"/>
          <p:cNvSpPr/>
          <p:nvPr/>
        </p:nvSpPr>
        <p:spPr>
          <a:xfrm>
            <a:off x="411480" y="2231136"/>
            <a:ext cx="64008" cy="502920"/>
          </a:xfrm>
          <a:prstGeom prst="rect">
            <a:avLst/>
          </a:prstGeom>
          <a:solidFill>
            <a:srgbClr val="FFB300"/>
          </a:solidFill>
          <a:ln/>
        </p:spPr>
      </p:sp>
      <p:sp>
        <p:nvSpPr>
          <p:cNvPr id="12" name="Text 10"/>
          <p:cNvSpPr/>
          <p:nvPr/>
        </p:nvSpPr>
        <p:spPr>
          <a:xfrm>
            <a:off x="594360" y="2231136"/>
            <a:ext cx="5200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It powers everything from remote African villages to the International Space Station in orbit.</a:t>
            </a:r>
            <a:endParaRPr lang="en-US" sz="1100" dirty="0"/>
          </a:p>
        </p:txBody>
      </p:sp>
      <p:sp>
        <p:nvSpPr>
          <p:cNvPr id="13" name="Shape 11"/>
          <p:cNvSpPr/>
          <p:nvPr/>
        </p:nvSpPr>
        <p:spPr>
          <a:xfrm>
            <a:off x="411480" y="2798064"/>
            <a:ext cx="5200000" cy="502920"/>
          </a:xfrm>
          <a:prstGeom prst="rect">
            <a:avLst/>
          </a:prstGeom>
          <a:solidFill>
            <a:srgbClr val="152238"/>
          </a:solidFill>
          <a:ln/>
        </p:spPr>
      </p:sp>
      <p:sp>
        <p:nvSpPr>
          <p:cNvPr id="14" name="Shape 12"/>
          <p:cNvSpPr/>
          <p:nvPr/>
        </p:nvSpPr>
        <p:spPr>
          <a:xfrm>
            <a:off x="411480" y="2798064"/>
            <a:ext cx="64008" cy="502920"/>
          </a:xfrm>
          <a:prstGeom prst="rect">
            <a:avLst/>
          </a:prstGeom>
          <a:solidFill>
            <a:srgbClr val="FFB300"/>
          </a:solidFill>
          <a:ln/>
        </p:spPr>
      </p:sp>
      <p:sp>
        <p:nvSpPr>
          <p:cNvPr id="15" name="Text 13"/>
          <p:cNvSpPr/>
          <p:nvPr/>
        </p:nvSpPr>
        <p:spPr>
          <a:xfrm>
            <a:off x="594360" y="2798064"/>
            <a:ext cx="5200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Every satellite and spacecraft runs on solar — satellites were the original proof that solar works reliably.</a:t>
            </a:r>
            <a:endParaRPr lang="en-US" sz="1100" dirty="0"/>
          </a:p>
        </p:txBody>
      </p:sp>
      <p:sp>
        <p:nvSpPr>
          <p:cNvPr id="16" name="Shape 14"/>
          <p:cNvSpPr/>
          <p:nvPr/>
        </p:nvSpPr>
        <p:spPr>
          <a:xfrm>
            <a:off x="411480" y="3364992"/>
            <a:ext cx="5200000" cy="502920"/>
          </a:xfrm>
          <a:prstGeom prst="rect">
            <a:avLst/>
          </a:prstGeom>
          <a:solidFill>
            <a:srgbClr val="0A1628"/>
          </a:solidFill>
          <a:ln/>
        </p:spPr>
      </p:sp>
      <p:sp>
        <p:nvSpPr>
          <p:cNvPr id="17" name="Shape 15"/>
          <p:cNvSpPr/>
          <p:nvPr/>
        </p:nvSpPr>
        <p:spPr>
          <a:xfrm>
            <a:off x="411480" y="3364992"/>
            <a:ext cx="64008" cy="502920"/>
          </a:xfrm>
          <a:prstGeom prst="rect">
            <a:avLst/>
          </a:prstGeom>
          <a:solidFill>
            <a:srgbClr val="FFB300"/>
          </a:solidFill>
          <a:ln/>
        </p:spPr>
      </p:sp>
      <p:sp>
        <p:nvSpPr>
          <p:cNvPr id="18" name="Text 16"/>
          <p:cNvSpPr/>
          <p:nvPr/>
        </p:nvSpPr>
        <p:spPr>
          <a:xfrm>
            <a:off x="594360" y="3364992"/>
            <a:ext cx="5200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Challenges like intermittency and storage are being rapidly solved through next-gen batteries and technology.</a:t>
            </a:r>
            <a:endParaRPr lang="en-US" sz="1100" dirty="0"/>
          </a:p>
        </p:txBody>
      </p:sp>
      <p:sp>
        <p:nvSpPr>
          <p:cNvPr id="19" name="Shape 17"/>
          <p:cNvSpPr/>
          <p:nvPr/>
        </p:nvSpPr>
        <p:spPr>
          <a:xfrm>
            <a:off x="411480" y="3931920"/>
            <a:ext cx="5200000" cy="502920"/>
          </a:xfrm>
          <a:prstGeom prst="rect">
            <a:avLst/>
          </a:prstGeom>
          <a:solidFill>
            <a:srgbClr val="152238"/>
          </a:solidFill>
          <a:ln/>
        </p:spPr>
      </p:sp>
      <p:sp>
        <p:nvSpPr>
          <p:cNvPr id="20" name="Shape 18"/>
          <p:cNvSpPr/>
          <p:nvPr/>
        </p:nvSpPr>
        <p:spPr>
          <a:xfrm>
            <a:off x="411480" y="3931920"/>
            <a:ext cx="64008" cy="502920"/>
          </a:xfrm>
          <a:prstGeom prst="rect">
            <a:avLst/>
          </a:prstGeom>
          <a:solidFill>
            <a:srgbClr val="FFB300"/>
          </a:solidFill>
          <a:ln/>
        </p:spPr>
      </p:sp>
      <p:sp>
        <p:nvSpPr>
          <p:cNvPr id="21" name="Text 19"/>
          <p:cNvSpPr/>
          <p:nvPr/>
        </p:nvSpPr>
        <p:spPr>
          <a:xfrm>
            <a:off x="594360" y="3931920"/>
            <a:ext cx="5200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future: perovskite cells, space-based solar farms, and smart microgrids will make solar dominant by 2050.</a:t>
            </a:r>
            <a:endParaRPr lang="en-US" sz="1100" dirty="0"/>
          </a:p>
        </p:txBody>
      </p:sp>
      <p:sp>
        <p:nvSpPr>
          <p:cNvPr id="22" name="Shape 20"/>
          <p:cNvSpPr/>
          <p:nvPr/>
        </p:nvSpPr>
        <p:spPr>
          <a:xfrm>
            <a:off x="411480" y="4617720"/>
            <a:ext cx="8229600" cy="438912"/>
          </a:xfrm>
          <a:prstGeom prst="rect">
            <a:avLst/>
          </a:prstGeom>
          <a:solidFill>
            <a:srgbClr val="FFB300"/>
          </a:solidFill>
          <a:ln/>
        </p:spPr>
      </p:sp>
      <p:sp>
        <p:nvSpPr>
          <p:cNvPr id="23" name="Text 21"/>
          <p:cNvSpPr/>
          <p:nvPr/>
        </p:nvSpPr>
        <p:spPr>
          <a:xfrm>
            <a:off x="411480" y="4617720"/>
            <a:ext cx="8229600" cy="438912"/>
          </a:xfrm>
          <a:prstGeom prst="rect">
            <a:avLst/>
          </a:prstGeom>
          <a:noFill/>
          <a:ln/>
        </p:spPr>
        <p:txBody>
          <a:bodyPr wrap="square" rtlCol="0" anchor="ctr"/>
          <a:lstStyle/>
          <a:p>
            <a:pPr algn="ctr" indent="0" marL="0">
              <a:buNone/>
            </a:pPr>
            <a:r>
              <a:rPr lang="en-US" sz="1350" b="1" dirty="0">
                <a:solidFill>
                  <a:srgbClr val="0A1628"/>
                </a:solidFill>
                <a:latin typeface="Arial Black" pitchFamily="34" charset="0"/>
                <a:ea typeface="Arial Black" pitchFamily="34" charset="-122"/>
                <a:cs typeface="Arial Black" pitchFamily="34" charset="-120"/>
              </a:rPr>
              <a:t>THANK YOU  •  Questions Welcome  •  The Sun Never Runs Out</a:t>
            </a:r>
            <a:endParaRPr lang="en-US" sz="1350" dirty="0"/>
          </a:p>
        </p:txBody>
      </p:sp>
      <p:pic>
        <p:nvPicPr>
          <p:cNvPr id="200" name="SpaceSolarPower" descr="Space-based solar power beaming microwave energy to Earth"/>
          <p:cNvPicPr>
            <a:picLocks noChangeAspect="1"/>
          </p:cNvPicPr>
          <p:nvPr/>
        </p:nvPicPr>
        <p:blipFill>
          <a:blip r:embed="rId3"/>
          <a:stretch>
            <a:fillRect/>
          </a:stretch>
        </p:blipFill>
        <p:spPr>
          <a:xfrm>
            <a:off x="5800000" y="1200000"/>
            <a:ext cx="3100000" cy="1900000"/>
          </a:xfrm>
          <a:prstGeom prst="rect">
            <a:avLst/>
          </a:prstGeom>
        </p:spPr>
      </p:pic>
      <p:sp>
        <p:nvSpPr>
          <p:cNvPr id="201" name="Caption16"/>
          <p:cNvSpPr/>
          <p:nvPr/>
        </p:nvSpPr>
        <p:spPr>
          <a:xfrm>
            <a:off x="5800000" y="3120000"/>
            <a:ext cx="3100000" cy="228600"/>
          </a:xfrm>
          <a:prstGeom prst="rect">
            <a:avLst/>
          </a:prstGeom>
          <a:noFill/>
          <a:ln/>
        </p:spPr>
        <p:txBody>
          <a:bodyPr wrap="square" lIns="0" tIns="0" rIns="0" bIns="0" rtlCol="0" anchor="ctr"/>
          <a:lstStyle/>
          <a:p>
            <a:pPr algn="ctr">
              <a:buNone/>
            </a:pPr>
            <a:r>
              <a:rPr lang="en-US" sz="700" i="1" dirty="0">
                <a:solidFill>
                  <a:srgbClr val="90A4AE"/>
                </a:solidFill>
              </a:rPr>
              <a:t>Space-based solar power beaming microwave energy to Earth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 Visual Gallery">
    <p:bg>
      <p:bgPr>
        <a:solidFill>
          <a:srgbClr val="0A1628"/>
        </a:solidFill>
      </p:bgPr>
    </p:bg>
    <p:spTree>
      <p:nvGrpSpPr>
        <p:cNvPr id="1" name=""/>
        <p:cNvGrpSpPr/>
        <p:nvPr/>
      </p:nvGrpSpPr>
      <p:grpSpPr>
        <a:xfrm>
          <a:off x="0" y="0"/>
          <a:ext cx="0" cy="0"/>
          <a:chOff x="0" y="0"/>
          <a:chExt cx="0" cy="0"/>
        </a:xfrm>
      </p:grpSpPr>
      <p:sp>
        <p:nvSpPr>
          <p:cNvPr id="2" name="TitleBar"/>
          <p:cNvSpPr/>
          <p:nvPr/>
        </p:nvSpPr>
        <p:spPr>
          <a:xfrm>
            <a:off x="0" y="0"/>
            <a:ext cx="9144000" cy="590000"/>
          </a:xfrm>
          <a:prstGeom prst="rect">
            <a:avLst/>
          </a:prstGeom>
          <a:solidFill>
            <a:srgbClr val="0A1628"/>
          </a:solidFill>
          <a:ln/>
        </p:spPr>
      </p:sp>
      <p:sp>
        <p:nvSpPr>
          <p:cNvPr id="3" name="AccentLine"/>
          <p:cNvSpPr/>
          <p:nvPr/>
        </p:nvSpPr>
        <p:spPr>
          <a:xfrm>
            <a:off x="0" y="572000"/>
            <a:ext cx="9144000" cy="36000"/>
          </a:xfrm>
          <a:prstGeom prst="rect">
            <a:avLst/>
          </a:prstGeom>
          <a:solidFill>
            <a:srgbClr val="FF8F00"/>
          </a:solidFill>
          <a:ln/>
        </p:spPr>
      </p:sp>
      <p:sp>
        <p:nvSpPr>
          <p:cNvPr id="4" name="TitleText"/>
          <p:cNvSpPr/>
          <p:nvPr/>
        </p:nvSpPr>
        <p:spPr>
          <a:xfrm>
            <a:off x="300000" y="60000"/>
            <a:ext cx="8544000" cy="480000"/>
          </a:xfrm>
          <a:prstGeom prst="rect">
            <a:avLst/>
          </a:prstGeom>
          <a:noFill/>
          <a:ln/>
        </p:spPr>
        <p:txBody>
          <a:bodyPr wrap="square" lIns="0" tIns="0" rIns="0" bIns="0" rtlCol="0" anchor="ctr"/>
          <a:lstStyle/>
          <a:p>
            <a:pPr>
              <a:buNone/>
            </a:pPr>
            <a:r>
              <a:rPr lang="en-US" sz="2400" b="1" dirty="0">
                <a:solidFill>
                  <a:srgbClr val="FFB300"/>
                </a:solidFill>
                <a:latin typeface="Arial Black" pitchFamily="34" charset="0"/>
              </a:rPr>
              <a:t>VISUAL GALLERY — Solar Energy &amp; Satellites Explained</a:t>
            </a:r>
          </a:p>
        </p:txBody>
      </p:sp>
      <p:pic>
        <p:nvPicPr>
          <p:cNvPr id="50" name="Photo0" descr="1. Utility-Scale Solar Farm"/>
          <p:cNvPicPr>
            <a:picLocks noChangeAspect="1"/>
          </p:cNvPicPr>
          <p:nvPr/>
        </p:nvPicPr>
        <p:blipFill>
          <a:blip r:embed="rId1"/>
          <a:stretch>
            <a:fillRect/>
          </a:stretch>
        </p:blipFill>
        <p:spPr>
          <a:xfrm>
            <a:off x="200000" y="635000"/>
            <a:ext cx="2848000" cy="1380000"/>
          </a:xfrm>
          <a:prstGeom prst="rect">
            <a:avLst/>
          </a:prstGeom>
        </p:spPr>
      </p:pic>
      <p:pic>
        <p:nvPicPr>
          <p:cNvPr id="53" name="Photo1" descr="2. Communication Satellite"/>
          <p:cNvPicPr>
            <a:picLocks noChangeAspect="1"/>
          </p:cNvPicPr>
          <p:nvPr/>
        </p:nvPicPr>
        <p:blipFill>
          <a:blip r:embed="rId2"/>
          <a:stretch>
            <a:fillRect/>
          </a:stretch>
        </p:blipFill>
        <p:spPr>
          <a:xfrm>
            <a:off x="3148000" y="635000"/>
            <a:ext cx="2848000" cy="1380000"/>
          </a:xfrm>
          <a:prstGeom prst="rect">
            <a:avLst/>
          </a:prstGeom>
        </p:spPr>
      </p:pic>
      <p:pic>
        <p:nvPicPr>
          <p:cNvPr id="56" name="Photo2" descr="3. International Space Station"/>
          <p:cNvPicPr>
            <a:picLocks noChangeAspect="1"/>
          </p:cNvPicPr>
          <p:nvPr/>
        </p:nvPicPr>
        <p:blipFill>
          <a:blip r:embed="rId3"/>
          <a:stretch>
            <a:fillRect/>
          </a:stretch>
        </p:blipFill>
        <p:spPr>
          <a:xfrm>
            <a:off x="6096000" y="635000"/>
            <a:ext cx="2848000" cy="1380000"/>
          </a:xfrm>
          <a:prstGeom prst="rect">
            <a:avLst/>
          </a:prstGeom>
        </p:spPr>
      </p:pic>
      <p:pic>
        <p:nvPicPr>
          <p:cNvPr id="59" name="Photo3" descr="4. Space-Based Solar Power (SBSP)"/>
          <p:cNvPicPr>
            <a:picLocks noChangeAspect="1"/>
          </p:cNvPicPr>
          <p:nvPr/>
        </p:nvPicPr>
        <p:blipFill>
          <a:blip r:embed="rId4"/>
          <a:stretch>
            <a:fillRect/>
          </a:stretch>
        </p:blipFill>
        <p:spPr>
          <a:xfrm>
            <a:off x="200000" y="2728000"/>
            <a:ext cx="2848000" cy="1380000"/>
          </a:xfrm>
          <a:prstGeom prst="rect">
            <a:avLst/>
          </a:prstGeom>
        </p:spPr>
      </p:pic>
      <p:pic>
        <p:nvPicPr>
          <p:cNvPr id="62" name="Photo4" descr="5. Residential Rooftop Solar"/>
          <p:cNvPicPr>
            <a:picLocks noChangeAspect="1"/>
          </p:cNvPicPr>
          <p:nvPr/>
        </p:nvPicPr>
        <p:blipFill>
          <a:blip r:embed="rId5"/>
          <a:stretch>
            <a:fillRect/>
          </a:stretch>
        </p:blipFill>
        <p:spPr>
          <a:xfrm>
            <a:off x="3148000" y="2728000"/>
            <a:ext cx="2848000" cy="1380000"/>
          </a:xfrm>
          <a:prstGeom prst="rect">
            <a:avLst/>
          </a:prstGeom>
        </p:spPr>
      </p:pic>
      <p:pic>
        <p:nvPicPr>
          <p:cNvPr id="65" name="Photo5" descr="6. Solar–Satellite–Earth Link"/>
          <p:cNvPicPr>
            <a:picLocks noChangeAspect="1"/>
          </p:cNvPicPr>
          <p:nvPr/>
        </p:nvPicPr>
        <p:blipFill>
          <a:blip r:embed="rId6"/>
          <a:stretch>
            <a:fillRect/>
          </a:stretch>
        </p:blipFill>
        <p:spPr>
          <a:xfrm>
            <a:off x="6096000" y="2728000"/>
            <a:ext cx="2848000" cy="1380000"/>
          </a:xfrm>
          <a:prstGeom prst="rect">
            <a:avLst/>
          </a:prstGeom>
        </p:spPr>
      </p:pic>
      <p:sp>
        <p:nvSpPr>
          <p:cNvPr id="51" name="Badge0"/>
          <p:cNvSpPr/>
          <p:nvPr/>
        </p:nvSpPr>
        <p:spPr>
          <a:xfrm>
            <a:off x="200000" y="640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1. Utility-Scale Solar Farm</a:t>
            </a:r>
          </a:p>
        </p:txBody>
      </p:sp>
      <p:sp>
        <p:nvSpPr>
          <p:cNvPr id="52" name="Desc0"/>
          <p:cNvSpPr/>
          <p:nvPr/>
        </p:nvSpPr>
        <p:spPr>
          <a:xfrm>
            <a:off x="200000" y="2023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Thousands of PV panels covering desert land. Each farm generates 500–2,000+ MW — enough for millions of homes. Bhadla (India) is the world's largest at 2,245 MW.</a:t>
            </a:r>
          </a:p>
        </p:txBody>
      </p:sp>
      <p:sp>
        <p:nvSpPr>
          <p:cNvPr id="54" name="Badge1"/>
          <p:cNvSpPr/>
          <p:nvPr/>
        </p:nvSpPr>
        <p:spPr>
          <a:xfrm>
            <a:off x="3148000" y="640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2. Communication Satellite</a:t>
            </a:r>
          </a:p>
        </p:txBody>
      </p:sp>
      <p:sp>
        <p:nvSpPr>
          <p:cNvPr id="55" name="Desc1"/>
          <p:cNvSpPr/>
          <p:nvPr/>
        </p:nvSpPr>
        <p:spPr>
          <a:xfrm>
            <a:off x="3148000" y="2023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Every GPS, TV, weather &amp; internet satellite runs entirely on solar wings. In geostationary orbit (36,000 km), panels receive unfiltered sunlight 24/7.</a:t>
            </a:r>
          </a:p>
        </p:txBody>
      </p:sp>
      <p:sp>
        <p:nvSpPr>
          <p:cNvPr id="57" name="Badge2"/>
          <p:cNvSpPr/>
          <p:nvPr/>
        </p:nvSpPr>
        <p:spPr>
          <a:xfrm>
            <a:off x="6096000" y="640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3. International Space Station</a:t>
            </a:r>
          </a:p>
        </p:txBody>
      </p:sp>
      <p:sp>
        <p:nvSpPr>
          <p:cNvPr id="58" name="Desc2"/>
          <p:cNvSpPr/>
          <p:nvPr/>
        </p:nvSpPr>
        <p:spPr>
          <a:xfrm>
            <a:off x="6096000" y="2023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The ISS has 8 giant solar array wings spanning 2,500 m² — one full acre. They generate 84–120 kW powering all experiments, life support &amp; crew systems.</a:t>
            </a:r>
          </a:p>
        </p:txBody>
      </p:sp>
      <p:sp>
        <p:nvSpPr>
          <p:cNvPr id="60" name="Badge3"/>
          <p:cNvSpPr/>
          <p:nvPr/>
        </p:nvSpPr>
        <p:spPr>
          <a:xfrm>
            <a:off x="200000" y="2733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4. Space-Based Solar Power (SBSP)</a:t>
            </a:r>
          </a:p>
        </p:txBody>
      </p:sp>
      <p:sp>
        <p:nvSpPr>
          <p:cNvPr id="61" name="Desc3"/>
          <p:cNvSpPr/>
          <p:nvPr/>
        </p:nvSpPr>
        <p:spPr>
          <a:xfrm>
            <a:off x="200000" y="4116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Future concept: giant orbiting solar arrays collect energy 24/7 and beam it to Earth as microwaves. No clouds, no night — clean baseload power globally.</a:t>
            </a:r>
          </a:p>
        </p:txBody>
      </p:sp>
      <p:sp>
        <p:nvSpPr>
          <p:cNvPr id="63" name="Badge4"/>
          <p:cNvSpPr/>
          <p:nvPr/>
        </p:nvSpPr>
        <p:spPr>
          <a:xfrm>
            <a:off x="3148000" y="2733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5. Residential Rooftop Solar</a:t>
            </a:r>
          </a:p>
        </p:txBody>
      </p:sp>
      <p:sp>
        <p:nvSpPr>
          <p:cNvPr id="64" name="Desc4"/>
          <p:cNvSpPr/>
          <p:nvPr/>
        </p:nvSpPr>
        <p:spPr>
          <a:xfrm>
            <a:off x="3148000" y="4116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A 5–15 kW rooftop system covers 50–90% of a home's electricity. Combined with a home battery, owners achieve full energy independence from the grid.</a:t>
            </a:r>
          </a:p>
        </p:txBody>
      </p:sp>
      <p:sp>
        <p:nvSpPr>
          <p:cNvPr id="66" name="Badge5"/>
          <p:cNvSpPr/>
          <p:nvPr/>
        </p:nvSpPr>
        <p:spPr>
          <a:xfrm>
            <a:off x="6096000" y="2733000"/>
            <a:ext cx="2848000" cy="200000"/>
          </a:xfrm>
          <a:prstGeom prst="rect">
            <a:avLst/>
          </a:prstGeom>
          <a:solidFill>
            <a:srgbClr val="0A1628">
              <a:alpha val="85000"/>
            </a:srgbClr>
          </a:solidFill>
          <a:ln/>
        </p:spPr>
        <p:txBody>
          <a:bodyPr wrap="square" lIns="60000" tIns="30000" rIns="60000" bIns="30000" rtlCol="0" anchor="ctr"/>
          <a:lstStyle/>
          <a:p>
            <a:pPr>
              <a:buNone/>
            </a:pPr>
            <a:r>
              <a:rPr lang="en-US" sz="1100" b="1" dirty="0">
                <a:solidFill>
                  <a:srgbClr val="FFB300"/>
                </a:solidFill>
                <a:latin typeface="Arial Black" pitchFamily="34" charset="0"/>
              </a:rPr>
              <a:t>6. Solar–Satellite–Earth Link</a:t>
            </a:r>
          </a:p>
        </p:txBody>
      </p:sp>
      <p:sp>
        <p:nvSpPr>
          <p:cNvPr id="67" name="Desc5"/>
          <p:cNvSpPr/>
          <p:nvPr/>
        </p:nvSpPr>
        <p:spPr>
          <a:xfrm>
            <a:off x="6096000" y="4116000"/>
            <a:ext cx="2848000" cy="660000"/>
          </a:xfrm>
          <a:prstGeom prst="rect">
            <a:avLst/>
          </a:prstGeom>
          <a:solidFill>
            <a:srgbClr val="F0F4F8"/>
          </a:solidFill>
          <a:ln>
            <a:solidFill>
              <a:srgbClr val="CBD5E0"/>
            </a:solidFill>
          </a:ln>
        </p:spPr>
        <p:txBody>
          <a:bodyPr wrap="square" lIns="80000" tIns="55000" rIns="80000" bIns="55000" rtlCol="0" anchor="t"/>
          <a:lstStyle/>
          <a:p>
            <a:pPr>
              <a:buNone/>
            </a:pPr>
            <a:r>
              <a:rPr lang="en-US" sz="1000" dirty="0">
                <a:solidFill>
                  <a:srgbClr val="1A202C"/>
                </a:solidFill>
                <a:latin typeface="Calibri" pitchFamily="34" charset="0"/>
              </a:rPr>
              <a:t>Solar radiation hits satellite panels → powers onboard systems → beams data &amp; signals to Earth. Future SBSP will also beam power directly to ground receivers.</a:t>
            </a:r>
          </a:p>
        </p:txBody>
      </p:sp>
      <p:sp>
        <p:nvSpPr>
          <p:cNvPr id="49" name="Footer"/>
          <p:cNvSpPr/>
          <p:nvPr/>
        </p:nvSpPr>
        <p:spPr>
          <a:xfrm>
            <a:off x="0" y="5000000"/>
            <a:ext cx="9144000" cy="220000"/>
          </a:xfrm>
          <a:prstGeom prst="rect">
            <a:avLst/>
          </a:prstGeom>
          <a:solidFill>
            <a:srgbClr val="050E1E"/>
          </a:solidFill>
          <a:ln/>
        </p:spPr>
        <p:txBody>
          <a:bodyPr wrap="square" lIns="180000" tIns="0" rIns="0" bIns="0" rtlCol="0" anchor="ctr"/>
          <a:lstStyle/>
          <a:p>
            <a:pPr>
              <a:buNone/>
            </a:pPr>
            <a:r>
              <a:rPr lang="en-US" sz="850" dirty="0">
                <a:solidFill>
                  <a:srgbClr val="607D8B"/>
                </a:solidFill>
              </a:rPr>
              <a:t>17 / 17  •  From rooftop panels to orbiting stations — solar power connects Earth and Space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Introduction</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1_introduction.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has been humanity's companion since ancient times. The Sun delivers 173,000 terawatts of energy continuously to Earth — far exceeding all human energy needs combined. From primitive fire pits aligned with the sun to today's gigawatt-scale power plants, our relationship with solar power has evolved dramatically. In 1839, Edmond Becquerel first observed that light could generate electric current — a discovery that would change civilization. By 1954, Bell Labs created the first practical silicon solar cell. Today, solar is the world's fastest-growing energy source with over 1.2 terawatts installed globally — enough to power entire continents.</a:t>
            </a:r>
          </a:p>
        </p:txBody>
      </p:sp>
      <p:sp>
        <p:nvSpPr>
          <p:cNvPr id="9" name="Rectangle 8"/>
          <p:cNvSpPr/>
          <p:nvPr/>
        </p:nvSpPr>
        <p:spPr>
          <a:xfrm>
            <a:off x="0" y="4654867"/>
            <a:ext cx="9144000" cy="488632"/>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Introduction — Illustrated Overview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50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Definition &amp; Science</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2_definition.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is radiant light and heat emitted by the Sun, captured and converted into electrical or thermal energy. The photovoltaic (PV) effect occurs when photons from sunlight strike semiconductor silicon atoms and dislodge electrons, creating electric current. Each silicon solar cell generates about 0.5 volts; thousands are wired together to form panels generating hundreds of watts. Sunlight travels 150 million kilometers in just 8 minutes to reach Earth. Every hour, the Sun delivers more energy to Earth's surface than humanity uses in an entire year — making solar the most abundant energy resource on the planet. Modern multi-junction cells used in satellites achieve efficiencies exceeding 40%.</a:t>
            </a:r>
          </a:p>
        </p:txBody>
      </p:sp>
      <p:sp>
        <p:nvSpPr>
          <p:cNvPr id="9" name="Rectangle 8"/>
          <p:cNvSpPr/>
          <p:nvPr/>
        </p:nvSpPr>
        <p:spPr>
          <a:xfrm>
            <a:off x="0" y="4654867"/>
            <a:ext cx="9144000" cy="488632"/>
          </a:xfrm>
          <a:prstGeom prst="rect">
            <a:avLst/>
          </a:prstGeom>
          <a:solidFill>
            <a:srgbClr val="14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Definition &amp; Science — Illustrated Overview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Types of Technology</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3_type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technology comes in four major forms, each suited to different applications and scales. Photovoltaic (PV) panels are the most widespread — silicon cells convert sunlight directly into electricity at 15–23% efficiency commercially, and are used on rooftops, farms, and satellites. Concentrated Solar Power (CSP) uses mirrors or lenses to focus sunlight, generating heat that drives steam turbines at utility scale — and can store thermal energy for night-time generation. Solar Thermal systems heat water directly for residential and commercial use, common in Mediterranean, Indian, and Chinese markets. Building-Integrated PV (BIPV) embeds solar cells into roof tiles and architectural glass, with Tesla Solar Roof being the most recognized commercial example, making solar generation invisible within buildings.</a:t>
            </a:r>
          </a:p>
        </p:txBody>
      </p:sp>
      <p:sp>
        <p:nvSpPr>
          <p:cNvPr id="9" name="Rectangle 8"/>
          <p:cNvSpPr/>
          <p:nvPr/>
        </p:nvSpPr>
        <p:spPr>
          <a:xfrm>
            <a:off x="0" y="4654867"/>
            <a:ext cx="9144000" cy="488632"/>
          </a:xfrm>
          <a:prstGeom prst="rect">
            <a:avLst/>
          </a:prstGeom>
          <a:solidFill>
            <a:srgbClr val="143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Types of Technology — Illustrated Overview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3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Advantages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4_advantage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offers transformative advantages making it the centerpiece of the global energy transition. It produces zero greenhouse gas emissions during operation, making it among the cleanest energy sources available. Once installed, sunlight is completely free — enabling homeowners to cut electricity bills by 50–90% and sell surplus energy back through net metering. Nations with abundant sunshine can achieve true energy independence, reducing costly fossil fuel imports. Solar panels have no moving parts, require minimal maintenance, and last 25–30 years. The industry now employs over 4 million people globally in installation, manufacturing, engineering, and research. Solar is infinitely scalable — from a single solar lantern lighting a rural home in Africa to a 2,000 MW national power station connecting millions of households.</a:t>
            </a:r>
          </a:p>
        </p:txBody>
      </p:sp>
      <p:sp>
        <p:nvSpPr>
          <p:cNvPr id="9" name="Rectangle 8"/>
          <p:cNvSpPr/>
          <p:nvPr/>
        </p:nvSpPr>
        <p:spPr>
          <a:xfrm>
            <a:off x="0" y="4654867"/>
            <a:ext cx="9144000" cy="488632"/>
          </a:xfrm>
          <a:prstGeom prst="rect">
            <a:avLst/>
          </a:prstGeom>
          <a:solidFill>
            <a:srgbClr val="0A7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Advantages — Illustrated Overview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323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Disadvantages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5_disadvantage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Despite its promise, solar energy faces real challenges for widespread adoption. Solar generates power only when the sun shines — nights and cloudy weather require battery storage or backup grid connections, creating intermittency issues that complicate grid management. Upfront residential system costs of $10,000–$30,000 remain a significant barrier, despite prices dropping 90% over the past decade. Utility-scale solar farms require 5–10 square miles per gigawatt, competing with agricultural land and natural habitats. Battery storage systems to hold excess solar power add 30–50% to total system cost. Commercial panels convert only 15–22% of sunlight into electricity, with most energy lost as heat. Manufacturing requires silicon, silver, and cadmium extraction, and end-of-life recycling infrastructure remains underdeveloped globally, raising lifecycle sustainability concerns.</a:t>
            </a:r>
          </a:p>
        </p:txBody>
      </p:sp>
      <p:sp>
        <p:nvSpPr>
          <p:cNvPr id="9" name="Rectangle 8"/>
          <p:cNvSpPr/>
          <p:nvPr/>
        </p:nvSpPr>
        <p:spPr>
          <a:xfrm>
            <a:off x="0" y="4654867"/>
            <a:ext cx="9144000" cy="488632"/>
          </a:xfrm>
          <a:prstGeom prst="rect">
            <a:avLst/>
          </a:prstGeom>
          <a:solidFill>
            <a:srgbClr val="505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Disadvantages — Illustrated Overview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Applications &amp; Uses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6_application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energy's versatility makes it applicable across virtually every sector of modern life. In residential settings, rooftop panels power homes, heat water, and charge electric vehicles — millions of households are now energy self-sufficient. Industrial applications include powering factories and providing process heat for food, textile, pharmaceutical, and chemical industries. Grid-scale solar farms feed clean electricity to national grids — single installations powering hundreds of thousands of homes. Transportation is being transformed by solar — charging EV fleets, powering boats and experimental aircraft, and testing solar road panels in France and the USA. Space exploration depends entirely on solar: every satellite and the International Space Station run purely on solar panels. Agriculture benefits through solar-powered irrigation pumps and greenhouses transforming farming across Africa, India, and South America without grid connections.</a:t>
            </a:r>
          </a:p>
        </p:txBody>
      </p:sp>
      <p:sp>
        <p:nvSpPr>
          <p:cNvPr id="9" name="Rectangle 8"/>
          <p:cNvSpPr/>
          <p:nvPr/>
        </p:nvSpPr>
        <p:spPr>
          <a:xfrm>
            <a:off x="0" y="4654867"/>
            <a:ext cx="9144000" cy="488632"/>
          </a:xfrm>
          <a:prstGeom prst="rect">
            <a:avLst/>
          </a:prstGeom>
          <a:solidFill>
            <a:srgbClr val="1E4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Applications &amp; Uses — Illustrated Overview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66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Case Studies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7_case_studie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The world's landmark solar projects demonstrate the technology's extraordinary scale and global impact. Bhadla Solar Park in Rajasthan, India — the world's largest — spans 14,000 acres of Thar Desert, generating 2,245 MW, completed in 2020 and powering over 1 million homes. Ivanpah Solar Electric in California's Mojave Desert uses 170,000 heliostats focusing sunlight onto three 140-meter towers, producing 392 MW CSP for 140,000 homes. Egypt's Benban Solar Hub near Aswan comprises 40 individual projects totaling 1,650 MW — Africa's largest solar installation — supporting Egypt's target of 42% renewable electricity by 2035. China's Tengger Desert Solar Park in Ningxia generates 1,547 MW and is nicknamed the "Great Wall of Solar" — visible from space — reflecting China's world-leading 430+ GW total installed solar capacity.</a:t>
            </a:r>
          </a:p>
        </p:txBody>
      </p:sp>
      <p:sp>
        <p:nvSpPr>
          <p:cNvPr id="9" name="Rectangle 8"/>
          <p:cNvSpPr/>
          <p:nvPr/>
        </p:nvSpPr>
        <p:spPr>
          <a:xfrm>
            <a:off x="0" y="4654867"/>
            <a:ext cx="9144000" cy="488632"/>
          </a:xfrm>
          <a:prstGeom prst="rect">
            <a:avLst/>
          </a:prstGeom>
          <a:solidFill>
            <a:srgbClr val="C8A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Case Studies — Illustrated Overview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42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Real-World Examples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8_real_world.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powers some of the world's most iconic institutions and innovations. Google's Mountain View campus generates 9.5 MW from rooftop and carport solar; the entire company runs on 100% renewable energy across global operations. Morocco's Noor Ouarzazate complex — the world's largest CSP installation at 580 MW — exports clean electricity to Europe through undersea cables, turning sunshine into export revenue. Cochin International Airport in India became the world's first fully solar-powered airport in 2015, with 50,000+ panels supplying all electricity with zero grid dependency. Tesla's Solar Roof has been installed on over 200,000 homes worldwide, integrating solar cells invisibly into building materials. Over 10 million solar LED street lights now illuminate roads across Sub-Saharan Africa with no grid connection needed, dramatically improving safety and community wellbeing.</a:t>
            </a:r>
          </a:p>
        </p:txBody>
      </p:sp>
      <p:sp>
        <p:nvSpPr>
          <p:cNvPr id="9" name="Rectangle 8"/>
          <p:cNvSpPr/>
          <p:nvPr/>
        </p:nvSpPr>
        <p:spPr>
          <a:xfrm>
            <a:off x="0" y="4654867"/>
            <a:ext cx="9144000" cy="488632"/>
          </a:xfrm>
          <a:prstGeom prst="rect">
            <a:avLst/>
          </a:prstGeom>
          <a:solidFill>
            <a:srgbClr val="3C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Real-World Examples — Illustrated Overview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Where Solar Is Used</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09_where_solar.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adoption spans every continent, with regions leveraging their unique solar resources. China dominates globally with 430+ GW installed — 30%+ of world solar output. The United States has surpassed 140 GW with California as its powerhouse. India targets 500 GW by 2030, adding 50 GW per year. Germany leads Europe despite modest sunshine, proving policy and investment can overcome geographic limitations. Portugal ran 100% renewable energy for six straight days in 2023 — a historic milestone. Africa holds immense untapped potential: the Sahara Desert alone could theoretically power all of Earth's electricity. Brazil's solar capacity has grown 50%+ annually since 2020. Floating solar (floatovoltaics) on reservoirs in Japan, India, and South Korea are solving land scarcity in densely populated nations while also reducing water evaporation.</a:t>
            </a:r>
          </a:p>
        </p:txBody>
      </p:sp>
      <p:sp>
        <p:nvSpPr>
          <p:cNvPr id="9" name="Rectangle 8"/>
          <p:cNvSpPr/>
          <p:nvPr/>
        </p:nvSpPr>
        <p:spPr>
          <a:xfrm>
            <a:off x="0" y="4654867"/>
            <a:ext cx="9144000" cy="488632"/>
          </a:xfrm>
          <a:prstGeom prst="rect">
            <a:avLst/>
          </a:prstGeom>
          <a:solidFill>
            <a:srgbClr val="1E3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Where Solar Is Used — Illustrated Overview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50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Solar &amp; Satellites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10_solar_satellite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The connection between solar energy and satellites is fundamental and inseparable. Since Vanguard 1 in 1958 — the first solar-powered satellite — every spacecraft has relied on solar panels as its primary power source, as no other energy technology can reliably operate in the vacuum of space over decades. The International Space Station's eight solar array wings span 2,500 square meters — one full acre — generating 84–120 kW of power for its six-person crew and hundreds of scientific experiments continuously. Earth-observing satellites like Sentinel, Landsat, and GOES use solar power to monitor climate change, wildfires, hurricanes, and deforestation in real time. Space-Based Solar Power (SBSP) stations would collect sunlight 24 hours a day in geostationary orbit and beam it to Earth as microwave energy — permanently solving the intermittency problem that limits ground-based solar installations.</a:t>
            </a:r>
          </a:p>
        </p:txBody>
      </p:sp>
      <p:sp>
        <p:nvSpPr>
          <p:cNvPr id="9" name="Rectangle 8"/>
          <p:cNvSpPr/>
          <p:nvPr/>
        </p:nvSpPr>
        <p:spPr>
          <a:xfrm>
            <a:off x="0" y="4654867"/>
            <a:ext cx="9144000" cy="488632"/>
          </a:xfrm>
          <a:prstGeom prst="rect">
            <a:avLst/>
          </a:prstGeom>
          <a:solidFill>
            <a:srgbClr val="14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Solar &amp; Satellites — Illustrated Overview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303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Satellite Deep Dive</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11_satellite_deepdive.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Satellites operate in one of the most extreme environments — temperature swings from −150°C to +120°C, intense radiation, and complete vacuum — yet solar panels power them flawlessly for decades. Unlike Earth-based panels using silicon at 15–22% efficiency, satellites use gallium arsenide multi-junction solar cells achieving 30–40% efficiency, maximizing power in weight-constrained spacecraft. Every GPS satellite, weather satellite, TV broadcast satellite, and internet satellite (including Starlink's 5,000+ constellation) runs purely on solar power. The SOHO, DSCOVR, and Sentinel satellites measure the Sun's energy output and solar wind activity, sending critical data to predict solar storms that could disrupt Earth's power grids. In orbit, sunlight is approximately 1.36 kilowatts per square meter — 30–40% more intense than at Earth's surface because there is no atmosphere absorbing and scattering the energy.</a:t>
            </a:r>
          </a:p>
        </p:txBody>
      </p:sp>
      <p:sp>
        <p:nvSpPr>
          <p:cNvPr id="9" name="Rectangle 8"/>
          <p:cNvSpPr/>
          <p:nvPr/>
        </p:nvSpPr>
        <p:spPr>
          <a:xfrm>
            <a:off x="0" y="4654867"/>
            <a:ext cx="9144000" cy="488632"/>
          </a:xfrm>
          <a:prstGeom prst="rect">
            <a:avLst/>
          </a:prstGeom>
          <a:solidFill>
            <a:srgbClr val="0F0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Satellite Deep Dive — Illustrated Overview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Key Statistics</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12_statistics.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The numbers behind solar energy's global rise are staggering and accelerating rapidly. The world has installed over 1.2 terawatts (1,200 gigawatts) of solar capacity — a figure essentially zero just 20 years ago. Solar panel costs have plummeted 90% between 2010 and 2024, making solar the cheapest electricity source in human history in most markets. The solar industry employs over 4 million people globally, with jobs growing 8–10% annually. Solar currently provides approximately 3% of global electricity generation, with that share doubling roughly every three years. China alone added 216 GW of new solar in 2023 — more than the entire world installed in 2021. The IEA projects solar will become the single largest electricity source globally by 2027, surpassing coal, natural gas, nuclear, and hydropower. Global investment in solar energy exceeded $300 billion in 2023 alone.</a:t>
            </a:r>
          </a:p>
        </p:txBody>
      </p:sp>
      <p:sp>
        <p:nvSpPr>
          <p:cNvPr id="9" name="Rectangle 8"/>
          <p:cNvSpPr/>
          <p:nvPr/>
        </p:nvSpPr>
        <p:spPr>
          <a:xfrm>
            <a:off x="0" y="4654867"/>
            <a:ext cx="9144000" cy="488632"/>
          </a:xfrm>
          <a:prstGeom prst="rect">
            <a:avLst/>
          </a:prstGeom>
          <a:solidFill>
            <a:srgbClr val="1E4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Key Statistics — Illustrated Overview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50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Future of Solar</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13_future.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Next-generation solar technologies promise to shatter current limitations and transform global energy systems. Perovskite solar cells — a new class of crystalline materials — have achieved 33%+ efficiency in laboratory settings at a fraction of silicon's manufacturing cost, with commercial rollout expected between 2028 and 2030. Space-Based Solar Power (SBSP), being actively developed by ESA, Japan's JAXA, and the UK government, would place giant orbital solar arrays collecting energy 24/7 with no clouds, no night, and no seasonal variation — beaming it to Earth as microwaves by 2035. Solid-state solar batteries using ceramic electrolytes will store solar power cheaply for days or weeks, finally eliminating intermittency. Floating solar grows 25% per year globally, solving land constraints. Solar-EV-battery smart home microgrids are enabling millions of households to achieve complete energy independence from national grids.</a:t>
            </a:r>
          </a:p>
        </p:txBody>
      </p:sp>
      <p:sp>
        <p:nvSpPr>
          <p:cNvPr id="9" name="Rectangle 8"/>
          <p:cNvSpPr/>
          <p:nvPr/>
        </p:nvSpPr>
        <p:spPr>
          <a:xfrm>
            <a:off x="0" y="4654867"/>
            <a:ext cx="9144000" cy="488632"/>
          </a:xfrm>
          <a:prstGeom prst="rect">
            <a:avLst/>
          </a:prstGeom>
          <a:solidFill>
            <a:srgbClr val="281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Future of Solar — Illustrated Overview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A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
          </a:xfrm>
          <a:prstGeom prst="rect">
            <a:avLst/>
          </a:prstGeom>
          <a:solidFill>
            <a:srgbClr val="0A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7152"/>
            <a:ext cx="6400800" cy="462915"/>
          </a:xfrm>
          <a:prstGeom prst="rect">
            <a:avLst/>
          </a:prstGeom>
          <a:noFill/>
        </p:spPr>
        <p:txBody>
          <a:bodyPr wrap="none">
            <a:spAutoFit/>
          </a:bodyPr>
          <a:lstStyle/>
          <a:p>
            <a:pPr algn="l"/>
            <a:r>
              <a:rPr sz="2000" b="1">
                <a:solidFill>
                  <a:srgbClr val="FFDC32"/>
                </a:solidFill>
              </a:rPr>
              <a:t xml:space="preserve">  Conclusion</a:t>
            </a:r>
          </a:p>
        </p:txBody>
      </p:sp>
      <p:sp>
        <p:nvSpPr>
          <p:cNvPr id="5" name="TextBox 4"/>
          <p:cNvSpPr txBox="1"/>
          <p:nvPr/>
        </p:nvSpPr>
        <p:spPr>
          <a:xfrm>
            <a:off x="6675120" y="102870"/>
            <a:ext cx="2286000" cy="411480"/>
          </a:xfrm>
          <a:prstGeom prst="rect">
            <a:avLst/>
          </a:prstGeom>
          <a:noFill/>
        </p:spPr>
        <p:txBody>
          <a:bodyPr wrap="none">
            <a:spAutoFit/>
          </a:bodyPr>
          <a:lstStyle/>
          <a:p>
            <a:pPr algn="r"/>
            <a:r>
              <a:rPr sz="900" b="1">
                <a:solidFill>
                  <a:srgbClr val="64B4FF"/>
                </a:solidFill>
              </a:rPr>
              <a:t>VISUAL EXPLANATION</a:t>
            </a:r>
          </a:p>
        </p:txBody>
      </p:sp>
      <p:pic>
        <p:nvPicPr>
          <p:cNvPr id="6" name="Picture 5" descr="14_conclusion.png"/>
          <p:cNvPicPr>
            <a:picLocks noChangeAspect="1"/>
          </p:cNvPicPr>
          <p:nvPr/>
        </p:nvPicPr>
        <p:blipFill>
          <a:blip r:embed="rId2"/>
          <a:stretch>
            <a:fillRect/>
          </a:stretch>
        </p:blipFill>
        <p:spPr>
          <a:xfrm>
            <a:off x="91440" y="565785"/>
            <a:ext cx="5212080" cy="4063365"/>
          </a:xfrm>
          <a:prstGeom prst="rect">
            <a:avLst/>
          </a:prstGeom>
        </p:spPr>
      </p:pic>
      <p:sp>
        <p:nvSpPr>
          <p:cNvPr id="7" name="Rectangle 6"/>
          <p:cNvSpPr/>
          <p:nvPr/>
        </p:nvSpPr>
        <p:spPr>
          <a:xfrm>
            <a:off x="5349240" y="565785"/>
            <a:ext cx="3703320" cy="4063365"/>
          </a:xfrm>
          <a:prstGeom prst="rect">
            <a:avLst/>
          </a:prstGeom>
          <a:solidFill>
            <a:srgbClr val="0F1C4B"/>
          </a:solidFill>
          <a:ln w="25400">
            <a:solidFill>
              <a:srgbClr val="326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69240" y="665785"/>
            <a:ext cx="3483320" cy="3883365"/>
          </a:xfrm>
          <a:prstGeom prst="rect">
            <a:avLst/>
          </a:prstGeom>
          <a:noFill/>
        </p:spPr>
        <p:txBody>
          <a:bodyPr wrap="square">
            <a:spAutoFit/>
          </a:bodyPr>
          <a:lstStyle/>
          <a:p>
            <a:pPr algn="l"/>
            <a:r>
              <a:rPr sz="1200" b="1">
                <a:solidFill>
                  <a:srgbClr val="FFDC32"/>
                </a:solidFill>
              </a:rPr>
              <a:t>Key Insights</a:t>
            </a:r>
          </a:p>
          <a:p>
            <a:pPr algn="l">
              <a:spcBef>
                <a:spcPts val="600"/>
              </a:spcBef>
            </a:pPr>
            <a:r>
              <a:rPr sz="1000">
                <a:solidFill>
                  <a:srgbClr val="D2E6FF"/>
                </a:solidFill>
              </a:rPr>
              <a:t>Solar energy has evolved from a scientific curiosity into the cornerstone of humanity's sustainable energy future. In just one decade, costs have dropped 90%, capacity has grown from megawatts to terawatts, and solar has become the cheapest electricity in history — a transformation without precedent. From powering individual homes in remote African villages to energizing the International Space Station orbiting 400 kilometers above Earth, solar has proven its universal applicability and reliability. Every satellite and spacecraft depends on solar power — underscoring how fundamental and proven this technology truly is. Challenges of intermittency and storage are being rapidly solved through next-generation batteries, space-based collection, and smart grid integration. By 2050, the IEA projects solar will supply 25% of all global electricity, forming the backbone of a civilization powered by clean, inexhaustible energy from our nearest star.</a:t>
            </a:r>
          </a:p>
        </p:txBody>
      </p:sp>
      <p:sp>
        <p:nvSpPr>
          <p:cNvPr id="9" name="Rectangle 8"/>
          <p:cNvSpPr/>
          <p:nvPr/>
        </p:nvSpPr>
        <p:spPr>
          <a:xfrm>
            <a:off x="0" y="4654867"/>
            <a:ext cx="9144000" cy="488632"/>
          </a:xfrm>
          <a:prstGeom prst="rect">
            <a:avLst/>
          </a:prstGeom>
          <a:solidFill>
            <a:srgbClr val="1E5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4706302"/>
            <a:ext cx="6400800" cy="360045"/>
          </a:xfrm>
          <a:prstGeom prst="rect">
            <a:avLst/>
          </a:prstGeom>
          <a:noFill/>
        </p:spPr>
        <p:txBody>
          <a:bodyPr wrap="none">
            <a:spAutoFit/>
          </a:bodyPr>
          <a:lstStyle/>
          <a:p>
            <a:r>
              <a:rPr sz="800" i="1">
                <a:solidFill>
                  <a:srgbClr val="A0C8FF"/>
                </a:solidFill>
              </a:rPr>
              <a:t>Solar Energy &amp; Satellite Technology  |  Conclusion — Illustrated Overview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Energy – Complete Seminar</dc:title>
  <dc:subject>PptxGenJS Presentation</dc:subject>
  <dc:creator>PptxGenJS</dc:creator>
  <cp:lastModifiedBy>PptxGenJS</cp:lastModifiedBy>
  <cp:revision>1</cp:revision>
  <dcterms:created xsi:type="dcterms:W3CDTF">2026-03-09T02:00:04Z</dcterms:created>
  <dcterms:modified xsi:type="dcterms:W3CDTF">2026-03-09T02:00:04Z</dcterms:modified>
</cp:coreProperties>
</file>