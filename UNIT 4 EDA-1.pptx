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4" autoAdjust="0"/>
    <p:restoredTop sz="94660"/>
  </p:normalViewPr>
  <p:slideViewPr>
    <p:cSldViewPr snapToGrid="0">
      <p:cViewPr varScale="1">
        <p:scale>
          <a:sx n="82" d="100"/>
          <a:sy n="82" d="100"/>
        </p:scale>
        <p:origin x="89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8C021-D67B-857A-D7B0-7CA27EF31D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4C3968-6ADF-DBD8-0525-A64BDE3215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AB5CBE-C12D-6A9F-0D4A-98282D91D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38485-38EB-4168-9C28-EFA3F0DF91B1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32912C-7664-8D08-2BE9-79E877434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A5A6CD-68E6-8075-FC10-250CE444B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118A1-78D9-4B08-8509-DCEBC772D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732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DDE61-798D-F666-C259-07EC73685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62EC42-CB1B-D370-F516-5A0A10F6A5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DD58A2-A717-EDD7-B322-4BDF146B3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38485-38EB-4168-9C28-EFA3F0DF91B1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340F98-2FA6-3181-B83E-236CC255F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9B5CEC-6BF7-D1E5-FB39-2401DF8D6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118A1-78D9-4B08-8509-DCEBC772D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4144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9D315-EB92-E24D-4961-A9B934347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34BF41-40AE-49EE-A1A9-E5774530A6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691C89-96B1-52B5-00DA-326258C49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38485-38EB-4168-9C28-EFA3F0DF91B1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33F8C0-D7E4-AD49-8432-6A4F9C274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7F506E-E5EB-C88B-8506-7550793AF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118A1-78D9-4B08-8509-DCEBC772D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619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A3D43-381A-4602-9350-653640029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6264AE-A23A-0D5E-8B7C-1E7D5EF71C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6DE539-793E-1377-7B8E-B05351D6E4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FF9ABC-E49C-FBEF-7B94-021506CD1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38485-38EB-4168-9C28-EFA3F0DF91B1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9CF82F-437F-E688-1345-BBF21CC15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C13566-AEB6-0154-ED21-F0BB24267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118A1-78D9-4B08-8509-DCEBC772D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5727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6FC35-B069-0146-1068-9C40A4BA5D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CD24C4-39C3-0C81-B5A7-E9546DF6EB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366ED3-3046-698A-D0FA-B4511F186D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C4869E-1873-8F9B-970D-2BF3F17553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47518C-0033-E44D-F89A-20D6B6A997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15804C-F1B4-5607-C89C-48030D883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38485-38EB-4168-9C28-EFA3F0DF91B1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5F24ED-A1F8-ED60-0BB9-97A2CF0BA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6B91B5-932E-639F-BC1C-238E9F429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118A1-78D9-4B08-8509-DCEBC772D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862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1FB6E-6E72-5B3A-193A-E18E3BF75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B2CF1A-5563-7D7D-1E40-6D9E0D9C0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38485-38EB-4168-9C28-EFA3F0DF91B1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802A6B-E8A3-B773-38DF-7A2D56459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DDA389-07C2-B7D2-76DB-8EC5D6E6B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118A1-78D9-4B08-8509-DCEBC772D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4949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735AB6-014C-3D39-0496-0E601BAC3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38485-38EB-4168-9C28-EFA3F0DF91B1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F220E4-6709-DD2F-39AA-657632780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F53534-56CB-015F-3DC3-57B7016EE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118A1-78D9-4B08-8509-DCEBC772D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0426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A0914-189B-1C3C-4DFB-0591C58B8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BCF6F0-B2C7-2FFE-0C1C-88C29624C2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9C8FB4-F685-9AA4-94BD-2B809D5F78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05265D-2FBC-0666-B52A-651CAC76DC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38485-38EB-4168-9C28-EFA3F0DF91B1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BD8A52-676B-0D46-6DCC-6E0411DBA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E3E8FF-DCA3-4D95-E5DE-34C199EF7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118A1-78D9-4B08-8509-DCEBC772D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9391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46911-7990-769A-61E7-F7F025EED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EE6621-2344-D7F1-200A-457F5A92B5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D68917-DC7D-D4CE-C94F-D6DE350090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1DC8D8-D2E0-C7A5-0D45-E37EBA7F7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38485-38EB-4168-9C28-EFA3F0DF91B1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2C9CB4-6EF2-B050-4AF4-8F7956F14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B4799E-DCD5-F9B7-9121-18A79E04F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118A1-78D9-4B08-8509-DCEBC772D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740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98234-08D1-A96E-6FFE-EFFA38510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FF4C86-F522-613B-6B05-3EFA42172F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8701BA-379B-C603-961D-553435A64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38485-38EB-4168-9C28-EFA3F0DF91B1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5A88C2-1FF4-7F40-5FC7-EE9D4516B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39199F-D9C7-1C8D-45EB-A24D8501A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118A1-78D9-4B08-8509-DCEBC772D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588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79136F1-CF44-ADF3-AB93-B985255CC9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42EF20-B99F-5E03-8ACA-8F71CB4168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0EC52F-0F11-4096-254A-CCF856868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38485-38EB-4168-9C28-EFA3F0DF91B1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3B0A86-9B58-F77A-FF51-6B77BFD55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EE590F-A740-6E18-0F36-9972C8184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118A1-78D9-4B08-8509-DCEBC772D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3737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B57453-5F6E-6579-3EF1-91320BF71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9879E8-DDD2-2C85-ED5B-0B80469526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29C842-92F1-E2FF-C887-BF0376B7F6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F38485-38EB-4168-9C28-EFA3F0DF91B1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4B2D47-1DDA-8912-D57E-359080250C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173540-6622-471D-22A8-78A0841236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B118A1-78D9-4B08-8509-DCEBC772D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680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1BB5D15-3FFC-FFCD-5856-322C546ADA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1354" y="316523"/>
            <a:ext cx="11535508" cy="6389077"/>
          </a:xfrm>
        </p:spPr>
        <p:txBody>
          <a:bodyPr/>
          <a:lstStyle/>
          <a:p>
            <a:r>
              <a:rPr lang="en-US" b="1" dirty="0"/>
              <a:t>UNIT – IV </a:t>
            </a:r>
          </a:p>
          <a:p>
            <a:pPr marL="457200" indent="-457200" algn="l">
              <a:buAutoNum type="arabicPeriod"/>
            </a:pPr>
            <a:r>
              <a:rPr lang="en-US" sz="2800" b="1" dirty="0"/>
              <a:t>Relationships Between Two Variables</a:t>
            </a:r>
          </a:p>
          <a:p>
            <a:pPr algn="l"/>
            <a:r>
              <a:rPr lang="en-US" b="1" dirty="0"/>
              <a:t>Definition</a:t>
            </a:r>
          </a:p>
          <a:p>
            <a:pPr algn="l"/>
            <a:r>
              <a:rPr lang="en-US" dirty="0"/>
              <a:t>Relationship between two variables means </a:t>
            </a:r>
            <a:r>
              <a:rPr lang="en-US" b="1" dirty="0"/>
              <a:t>how one variable changes when another variable changes</a:t>
            </a:r>
            <a:r>
              <a:rPr lang="en-US" dirty="0"/>
              <a:t>.</a:t>
            </a:r>
          </a:p>
          <a:p>
            <a:pPr lvl="0" algn="l"/>
            <a:r>
              <a:rPr lang="en-US" dirty="0"/>
              <a:t>If one increases and the other also increases → Positive relationship </a:t>
            </a:r>
          </a:p>
          <a:p>
            <a:pPr lvl="0" algn="l"/>
            <a:r>
              <a:rPr lang="en-US" dirty="0"/>
              <a:t>If one increases and the other decreases → Negative relationship </a:t>
            </a:r>
          </a:p>
          <a:p>
            <a:pPr lvl="0" algn="l"/>
            <a:r>
              <a:rPr lang="en-US" dirty="0"/>
              <a:t>If there is no pattern → No relationship</a:t>
            </a:r>
          </a:p>
          <a:p>
            <a:pPr lvl="0" algn="l"/>
            <a:endParaRPr lang="en-US" dirty="0"/>
          </a:p>
          <a:p>
            <a:pPr lvl="0" algn="l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A9556B-D5FF-DD97-070E-19E40FE460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4908" y="3457122"/>
            <a:ext cx="5359983" cy="3248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70583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13B232-4256-564C-846B-998CAC2FFF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9969" y="222738"/>
            <a:ext cx="11476893" cy="6307016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Key Concepts</a:t>
            </a:r>
          </a:p>
          <a:p>
            <a:pPr marL="0" indent="0">
              <a:buNone/>
            </a:pPr>
            <a:r>
              <a:rPr lang="en-US" b="1" dirty="0"/>
              <a:t>1. Correlation</a:t>
            </a:r>
          </a:p>
          <a:p>
            <a:pPr marL="0" indent="0">
              <a:buNone/>
            </a:pPr>
            <a:r>
              <a:rPr lang="en-US" b="1" dirty="0"/>
              <a:t>Definition</a:t>
            </a:r>
          </a:p>
          <a:p>
            <a:pPr marL="0" indent="0">
              <a:buNone/>
            </a:pPr>
            <a:r>
              <a:rPr lang="en-US" dirty="0"/>
              <a:t>Correlation measures the </a:t>
            </a:r>
            <a:r>
              <a:rPr lang="en-US" b="1" dirty="0"/>
              <a:t>strength and direction</a:t>
            </a:r>
            <a:r>
              <a:rPr lang="en-US" dirty="0"/>
              <a:t> of the relationship between two numerical variables.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8915AE-5DA2-0666-2AA2-005297C4DF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3437" y="2925599"/>
            <a:ext cx="7278116" cy="208626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09BDD89-68D9-3635-6C76-0B30A2DBC0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969" y="2590800"/>
            <a:ext cx="3708160" cy="2755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5515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FC60D-66BE-B937-8A18-5C4C7017D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1692" y="375138"/>
            <a:ext cx="11465170" cy="6248400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2. Causation</a:t>
            </a:r>
          </a:p>
          <a:p>
            <a:pPr marL="0" indent="0">
              <a:buNone/>
            </a:pPr>
            <a:r>
              <a:rPr lang="en-US" b="1" dirty="0"/>
              <a:t>Definition</a:t>
            </a:r>
          </a:p>
          <a:p>
            <a:pPr marL="0" indent="0">
              <a:buNone/>
            </a:pPr>
            <a:r>
              <a:rPr lang="en-US" dirty="0"/>
              <a:t>Causation means </a:t>
            </a:r>
            <a:r>
              <a:rPr lang="en-US" b="1" dirty="0"/>
              <a:t>one variable directly causes changes in another variable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/>
              <a:t>Example</a:t>
            </a:r>
          </a:p>
          <a:p>
            <a:pPr marL="0" indent="0">
              <a:buNone/>
            </a:pPr>
            <a:r>
              <a:rPr lang="en-US" dirty="0"/>
              <a:t>More Fertilizer → Better Crop Yield</a:t>
            </a:r>
          </a:p>
          <a:p>
            <a:pPr marL="0" indent="0">
              <a:buNone/>
            </a:pPr>
            <a:r>
              <a:rPr lang="en-US" dirty="0"/>
              <a:t>Here fertilizer directly affects crop growth.</a:t>
            </a:r>
          </a:p>
          <a:p>
            <a:pPr marL="0" indent="0">
              <a:buNone/>
            </a:pPr>
            <a:r>
              <a:rPr lang="en-US" b="1" dirty="0"/>
              <a:t>Important Point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Correlation </a:t>
            </a:r>
            <a:r>
              <a:rPr lang="en-US" b="1" dirty="0"/>
              <a:t>does not always mean</a:t>
            </a:r>
            <a:r>
              <a:rPr lang="en-US" dirty="0"/>
              <a:t> causation.</a:t>
            </a:r>
          </a:p>
          <a:p>
            <a:pPr marL="0" indent="0">
              <a:buNone/>
            </a:pPr>
            <a:r>
              <a:rPr lang="en-US" dirty="0"/>
              <a:t>Example:</a:t>
            </a:r>
          </a:p>
          <a:p>
            <a:pPr marL="0" indent="0">
              <a:buNone/>
            </a:pPr>
            <a:r>
              <a:rPr lang="en-US" dirty="0"/>
              <a:t>Ice Cream Sales ↑ and Drowning Cases ↑</a:t>
            </a:r>
          </a:p>
          <a:p>
            <a:pPr marL="0" indent="0">
              <a:buNone/>
            </a:pPr>
            <a:r>
              <a:rPr lang="en-US" dirty="0"/>
              <a:t>Both increase during summer, but ice cream does </a:t>
            </a:r>
            <a:r>
              <a:rPr lang="en-US" b="1" dirty="0"/>
              <a:t>not</a:t>
            </a:r>
            <a:r>
              <a:rPr lang="en-US" dirty="0"/>
              <a:t> cause drowning.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86155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F97A76-776B-D36F-D7EE-4F913430C0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3415" y="339968"/>
            <a:ext cx="11430000" cy="621323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3. Association</a:t>
            </a:r>
          </a:p>
          <a:p>
            <a:pPr marL="0" indent="0">
              <a:buNone/>
            </a:pPr>
            <a:r>
              <a:rPr lang="en-US" b="1" dirty="0"/>
              <a:t>Definition</a:t>
            </a:r>
          </a:p>
          <a:p>
            <a:pPr marL="0" indent="0">
              <a:buNone/>
            </a:pPr>
            <a:r>
              <a:rPr lang="en-US" dirty="0"/>
              <a:t>Association means two variables are related, but one may not necessarily cause the other.</a:t>
            </a:r>
          </a:p>
          <a:p>
            <a:pPr marL="0" indent="0">
              <a:buNone/>
            </a:pPr>
            <a:r>
              <a:rPr lang="en-US" b="1" dirty="0"/>
              <a:t>Example</a:t>
            </a:r>
          </a:p>
          <a:p>
            <a:pPr marL="0" indent="0">
              <a:buNone/>
            </a:pPr>
            <a:r>
              <a:rPr lang="en-US" dirty="0"/>
              <a:t>Umbrella Sales ↑ and Rainfall ↑</a:t>
            </a:r>
          </a:p>
          <a:p>
            <a:pPr marL="0" indent="0">
              <a:buNone/>
            </a:pPr>
            <a:r>
              <a:rPr lang="en-US" dirty="0"/>
              <a:t>Rain increases umbrella sales.</a:t>
            </a:r>
          </a:p>
          <a:p>
            <a:pPr marL="0" indent="0">
              <a:buNone/>
            </a:pPr>
            <a:r>
              <a:rPr lang="en-US" dirty="0"/>
              <a:t>There is an association.</a:t>
            </a:r>
          </a:p>
          <a:p>
            <a:pPr marL="0" indent="0">
              <a:buNone/>
            </a:pPr>
            <a:r>
              <a:rPr lang="en-US" b="1" dirty="0"/>
              <a:t>4. Independence</a:t>
            </a:r>
          </a:p>
          <a:p>
            <a:pPr marL="0" indent="0">
              <a:buNone/>
            </a:pPr>
            <a:r>
              <a:rPr lang="en-US" b="1" dirty="0"/>
              <a:t>Definition</a:t>
            </a:r>
          </a:p>
          <a:p>
            <a:pPr marL="0" indent="0">
              <a:buNone/>
            </a:pPr>
            <a:r>
              <a:rPr lang="en-US" dirty="0"/>
              <a:t>Two variables are independent if one variable does </a:t>
            </a:r>
            <a:r>
              <a:rPr lang="en-US" b="1" dirty="0"/>
              <a:t>not affect</a:t>
            </a:r>
            <a:r>
              <a:rPr lang="en-US" dirty="0"/>
              <a:t> the other.</a:t>
            </a:r>
          </a:p>
          <a:p>
            <a:pPr marL="0" indent="0">
              <a:buNone/>
            </a:pPr>
            <a:r>
              <a:rPr lang="en-US" b="1" dirty="0"/>
              <a:t>Example</a:t>
            </a:r>
          </a:p>
          <a:p>
            <a:pPr marL="0" indent="0">
              <a:buNone/>
            </a:pPr>
            <a:r>
              <a:rPr lang="en-US" dirty="0"/>
              <a:t>Student Roll Number and Height</a:t>
            </a:r>
          </a:p>
          <a:p>
            <a:pPr marL="0" indent="0">
              <a:buNone/>
            </a:pPr>
            <a:r>
              <a:rPr lang="en-US" dirty="0"/>
              <a:t>These variables have no relationship.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61216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D083E88-DE7C-FCCA-92DC-06683930A2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97169" y="550985"/>
            <a:ext cx="10222523" cy="5896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04924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5FAE1D-3AA5-5BA2-B37A-8E72299CDC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185" y="246185"/>
            <a:ext cx="11652737" cy="6424246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Percentage Tables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in Bivariate Analysis Percentage tables (also known as proportion tables or relative frequency tables) are used to understand the distribution and relationship between two categorical variables. </a:t>
            </a:r>
          </a:p>
          <a:p>
            <a:pPr marL="0" indent="0" algn="just"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They provide a clear and concise way to visualize the proportion of observations in each category combination of the two variables. </a:t>
            </a:r>
          </a:p>
          <a:p>
            <a:pPr marL="0" indent="0" algn="just"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These tables help in identifying patterns, associations, and potential dependencies between the variables. </a:t>
            </a:r>
          </a:p>
          <a:p>
            <a:pPr marL="0" indent="0" algn="just"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Key Concepts </a:t>
            </a:r>
          </a:p>
          <a:p>
            <a:pPr marL="0" indent="0" algn="just"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Frequency Table: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 table that displays the count of occurrences for each combination of categories in two categorical variables. </a:t>
            </a:r>
          </a:p>
          <a:p>
            <a:pPr marL="0" indent="0" algn="just"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Percentage Table: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 table that converts the counts from a frequency table into percentages, making it easier to interpret the proportions. </a:t>
            </a:r>
          </a:p>
          <a:p>
            <a:pPr marL="0" indent="0" algn="just"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Row Percentage Table: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Shows the percentage of each row category within the corresponding column categories. </a:t>
            </a:r>
          </a:p>
          <a:p>
            <a:pPr marL="0" indent="0" algn="just"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Column Percentage Table: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Shows the percentage of each column category within the corresponding row categories. </a:t>
            </a:r>
          </a:p>
          <a:p>
            <a:pPr marL="0" indent="0" algn="just"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Overall Percentage Table: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Shows the percentage of each cell relative to the total number of observations. </a:t>
            </a:r>
          </a:p>
        </p:txBody>
      </p:sp>
    </p:spTree>
    <p:extLst>
      <p:ext uri="{BB962C8B-B14F-4D97-AF65-F5344CB8AC3E}">
        <p14:creationId xmlns:p14="http://schemas.microsoft.com/office/powerpoint/2010/main" val="38989243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318AE6-38CF-CF4C-E044-087F2CCCC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0307" y="304800"/>
            <a:ext cx="11383107" cy="6365631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Relative Frequency Distribution</a:t>
            </a:r>
          </a:p>
          <a:p>
            <a:pPr marL="0" indent="0">
              <a:buNone/>
            </a:pPr>
            <a:r>
              <a:rPr lang="en-US" b="1" dirty="0"/>
              <a:t>Definition</a:t>
            </a:r>
          </a:p>
          <a:p>
            <a:pPr marL="0" indent="0">
              <a:buNone/>
            </a:pPr>
            <a:r>
              <a:rPr lang="en-US" dirty="0"/>
              <a:t>Relative frequency is the </a:t>
            </a:r>
            <a:r>
              <a:rPr lang="en-US" b="1" dirty="0"/>
              <a:t>proportion of observations</a:t>
            </a:r>
            <a:r>
              <a:rPr lang="en-US" dirty="0"/>
              <a:t> in each category.</a:t>
            </a:r>
          </a:p>
          <a:p>
            <a:pPr marL="0" indent="0">
              <a:buNone/>
            </a:pPr>
            <a:r>
              <a:rPr lang="en-US" dirty="0"/>
              <a:t>Formula</a:t>
            </a:r>
          </a:p>
          <a:p>
            <a:pPr marL="0" indent="0">
              <a:buNone/>
            </a:pPr>
            <a:r>
              <a:rPr lang="en-US" b="1" dirty="0"/>
              <a:t>Relative Frequency = Frequency / Total Frequency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07006F8-8E8F-C605-AE2D-D8711349DB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4677" y="2992836"/>
            <a:ext cx="8499231" cy="3431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4962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38CF6-704A-E327-7BDF-64C0D745A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007EFA-D812-97D9-1736-3EC93F987E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5740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389</Words>
  <Application>Microsoft Office PowerPoint</Application>
  <PresentationFormat>Widescreen</PresentationFormat>
  <Paragraphs>49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hari haran</dc:creator>
  <cp:lastModifiedBy>hari haran</cp:lastModifiedBy>
  <cp:revision>2</cp:revision>
  <dcterms:created xsi:type="dcterms:W3CDTF">2026-08-03T05:33:01Z</dcterms:created>
  <dcterms:modified xsi:type="dcterms:W3CDTF">2026-08-04T03:26:21Z</dcterms:modified>
</cp:coreProperties>
</file>