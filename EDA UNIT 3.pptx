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1644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341F6-69A3-4C4F-BD89-BF72897E1EA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A8FD7-0527-4BC2-8EC9-2D0234F266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607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341F6-69A3-4C4F-BD89-BF72897E1EA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A8FD7-0527-4BC2-8EC9-2D0234F266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202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341F6-69A3-4C4F-BD89-BF72897E1EA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A8FD7-0527-4BC2-8EC9-2D0234F266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260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341F6-69A3-4C4F-BD89-BF72897E1EA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A8FD7-0527-4BC2-8EC9-2D0234F266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3334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341F6-69A3-4C4F-BD89-BF72897E1EA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A8FD7-0527-4BC2-8EC9-2D0234F266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399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341F6-69A3-4C4F-BD89-BF72897E1EA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A8FD7-0527-4BC2-8EC9-2D0234F266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181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341F6-69A3-4C4F-BD89-BF72897E1EA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A8FD7-0527-4BC2-8EC9-2D0234F266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5897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341F6-69A3-4C4F-BD89-BF72897E1EA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A8FD7-0527-4BC2-8EC9-2D0234F266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042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341F6-69A3-4C4F-BD89-BF72897E1EA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A8FD7-0527-4BC2-8EC9-2D0234F266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176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341F6-69A3-4C4F-BD89-BF72897E1EA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A8FD7-0527-4BC2-8EC9-2D0234F266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1906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341F6-69A3-4C4F-BD89-BF72897E1EA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A8FD7-0527-4BC2-8EC9-2D0234F266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588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A341F6-69A3-4C4F-BD89-BF72897E1EA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FA8FD7-0527-4BC2-8EC9-2D0234F266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352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" y="304800"/>
            <a:ext cx="8382000" cy="6324600"/>
          </a:xfrm>
        </p:spPr>
        <p:txBody>
          <a:bodyPr>
            <a:normAutofit/>
          </a:bodyPr>
          <a:lstStyle/>
          <a:p>
            <a:pPr algn="l"/>
            <a:r>
              <a:rPr lang="en-US" b="1" dirty="0">
                <a:solidFill>
                  <a:schemeClr val="tx1"/>
                </a:solidFill>
              </a:rPr>
              <a:t>What is </a:t>
            </a:r>
            <a:r>
              <a:rPr lang="en-US" b="1" dirty="0" err="1">
                <a:solidFill>
                  <a:schemeClr val="tx1"/>
                </a:solidFill>
              </a:rPr>
              <a:t>Univariate</a:t>
            </a:r>
            <a:r>
              <a:rPr lang="en-US" b="1" dirty="0">
                <a:solidFill>
                  <a:schemeClr val="tx1"/>
                </a:solidFill>
              </a:rPr>
              <a:t> Analysis?</a:t>
            </a:r>
          </a:p>
          <a:p>
            <a:pPr marL="457200" indent="-457200" algn="l">
              <a:buFont typeface="Wingdings" pitchFamily="2" charset="2"/>
              <a:buChar char="ü"/>
            </a:pPr>
            <a:r>
              <a:rPr lang="en-US" dirty="0">
                <a:solidFill>
                  <a:schemeClr val="tx1"/>
                </a:solidFill>
              </a:rPr>
              <a:t>Analysis of </a:t>
            </a:r>
            <a:r>
              <a:rPr lang="en-US" b="1" dirty="0">
                <a:solidFill>
                  <a:schemeClr val="tx1"/>
                </a:solidFill>
              </a:rPr>
              <a:t>one variable at a time</a:t>
            </a:r>
            <a:r>
              <a:rPr lang="en-US" dirty="0">
                <a:solidFill>
                  <a:schemeClr val="tx1"/>
                </a:solidFill>
              </a:rPr>
              <a:t>. </a:t>
            </a:r>
          </a:p>
          <a:p>
            <a:pPr marL="457200" indent="-457200" algn="l">
              <a:buFont typeface="Wingdings" pitchFamily="2" charset="2"/>
              <a:buChar char="ü"/>
            </a:pPr>
            <a:r>
              <a:rPr lang="en-US" dirty="0">
                <a:solidFill>
                  <a:schemeClr val="tx1"/>
                </a:solidFill>
              </a:rPr>
              <a:t>Used to understand the characteristics of a dataset. </a:t>
            </a:r>
          </a:p>
          <a:p>
            <a:pPr marL="457200" indent="-457200" algn="l">
              <a:buFont typeface="Wingdings" pitchFamily="2" charset="2"/>
              <a:buChar char="ü"/>
            </a:pPr>
            <a:r>
              <a:rPr lang="en-US" dirty="0">
                <a:solidFill>
                  <a:schemeClr val="tx1"/>
                </a:solidFill>
              </a:rPr>
              <a:t>Helps identify: </a:t>
            </a:r>
          </a:p>
          <a:p>
            <a:pPr lvl="1" algn="l"/>
            <a:r>
              <a:rPr lang="en-US" dirty="0">
                <a:solidFill>
                  <a:schemeClr val="tx1"/>
                </a:solidFill>
              </a:rPr>
              <a:t>Central tendency </a:t>
            </a:r>
          </a:p>
          <a:p>
            <a:pPr lvl="1" algn="l"/>
            <a:r>
              <a:rPr lang="en-US" dirty="0">
                <a:solidFill>
                  <a:schemeClr val="tx1"/>
                </a:solidFill>
              </a:rPr>
              <a:t>Spread of data </a:t>
            </a:r>
          </a:p>
          <a:p>
            <a:pPr lvl="1" algn="l"/>
            <a:r>
              <a:rPr lang="en-US" dirty="0">
                <a:solidFill>
                  <a:schemeClr val="tx1"/>
                </a:solidFill>
              </a:rPr>
              <a:t>Distribution pattern </a:t>
            </a:r>
          </a:p>
          <a:p>
            <a:pPr lvl="1" algn="l"/>
            <a:r>
              <a:rPr lang="en-US" dirty="0">
                <a:solidFill>
                  <a:schemeClr val="tx1"/>
                </a:solidFill>
              </a:rPr>
              <a:t>Outliers </a:t>
            </a:r>
          </a:p>
          <a:p>
            <a:pPr algn="l"/>
            <a:r>
              <a:rPr lang="en-US" b="1" dirty="0">
                <a:solidFill>
                  <a:schemeClr val="tx1"/>
                </a:solidFill>
              </a:rPr>
              <a:t>Example:</a:t>
            </a:r>
            <a:r>
              <a:rPr lang="en-US" dirty="0">
                <a:solidFill>
                  <a:schemeClr val="tx1"/>
                </a:solidFill>
              </a:rPr>
              <a:t> Analyzing students' marks in a class.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927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" y="304800"/>
            <a:ext cx="8382000" cy="6324600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en-US" dirty="0">
                <a:solidFill>
                  <a:schemeClr val="tx1"/>
                </a:solidFill>
              </a:rPr>
              <a:t>Using </a:t>
            </a:r>
            <a:r>
              <a:rPr lang="en-US" b="1" dirty="0" err="1">
                <a:solidFill>
                  <a:schemeClr val="tx1"/>
                </a:solidFill>
              </a:rPr>
              <a:t>Univariate</a:t>
            </a:r>
            <a:r>
              <a:rPr lang="en-US" b="1" dirty="0">
                <a:solidFill>
                  <a:schemeClr val="tx1"/>
                </a:solidFill>
              </a:rPr>
              <a:t> Analysis</a:t>
            </a:r>
            <a:r>
              <a:rPr lang="en-US" dirty="0">
                <a:solidFill>
                  <a:schemeClr val="tx1"/>
                </a:solidFill>
              </a:rPr>
              <a:t>, the teacher can answer the following questions:</a:t>
            </a:r>
          </a:p>
          <a:p>
            <a:pPr algn="just"/>
            <a:r>
              <a:rPr lang="en-US" dirty="0">
                <a:solidFill>
                  <a:schemeClr val="tx1"/>
                </a:solidFill>
              </a:rPr>
              <a:t>✅ </a:t>
            </a:r>
            <a:r>
              <a:rPr lang="en-US" b="1" dirty="0">
                <a:solidFill>
                  <a:schemeClr val="tx1"/>
                </a:solidFill>
              </a:rPr>
              <a:t>Central Tendency</a:t>
            </a:r>
            <a:endParaRPr lang="en-US" dirty="0">
              <a:solidFill>
                <a:schemeClr val="tx1"/>
              </a:solidFill>
            </a:endParaRPr>
          </a:p>
          <a:p>
            <a:pPr algn="just"/>
            <a:r>
              <a:rPr lang="en-US" dirty="0">
                <a:solidFill>
                  <a:schemeClr val="tx1"/>
                </a:solidFill>
              </a:rPr>
              <a:t>What is the average mark of the class? </a:t>
            </a:r>
          </a:p>
          <a:p>
            <a:pPr algn="just"/>
            <a:r>
              <a:rPr lang="en-US" dirty="0">
                <a:solidFill>
                  <a:schemeClr val="tx1"/>
                </a:solidFill>
              </a:rPr>
              <a:t>Mean = 68 marks </a:t>
            </a:r>
          </a:p>
          <a:p>
            <a:pPr algn="just"/>
            <a:r>
              <a:rPr lang="en-US" dirty="0">
                <a:solidFill>
                  <a:schemeClr val="tx1"/>
                </a:solidFill>
              </a:rPr>
              <a:t>Median = 70 marks </a:t>
            </a:r>
          </a:p>
          <a:p>
            <a:pPr algn="just"/>
            <a:r>
              <a:rPr lang="en-US" dirty="0">
                <a:solidFill>
                  <a:schemeClr val="tx1"/>
                </a:solidFill>
              </a:rPr>
              <a:t>Mode = 75 marks </a:t>
            </a:r>
          </a:p>
          <a:p>
            <a:pPr algn="just"/>
            <a:r>
              <a:rPr lang="en-US" dirty="0">
                <a:solidFill>
                  <a:schemeClr val="tx1"/>
                </a:solidFill>
              </a:rPr>
              <a:t>✅ </a:t>
            </a:r>
            <a:r>
              <a:rPr lang="en-US" b="1" dirty="0">
                <a:solidFill>
                  <a:schemeClr val="tx1"/>
                </a:solidFill>
              </a:rPr>
              <a:t>Spread of Data</a:t>
            </a:r>
            <a:endParaRPr lang="en-US" dirty="0">
              <a:solidFill>
                <a:schemeClr val="tx1"/>
              </a:solidFill>
            </a:endParaRPr>
          </a:p>
          <a:p>
            <a:pPr algn="just"/>
            <a:r>
              <a:rPr lang="en-US" dirty="0">
                <a:solidFill>
                  <a:schemeClr val="tx1"/>
                </a:solidFill>
              </a:rPr>
              <a:t>Are the marks closely grouped or widely spread? </a:t>
            </a:r>
          </a:p>
          <a:p>
            <a:pPr algn="just"/>
            <a:r>
              <a:rPr lang="en-US" dirty="0">
                <a:solidFill>
                  <a:schemeClr val="tx1"/>
                </a:solidFill>
              </a:rPr>
              <a:t>Standard Deviation = 12 marks </a:t>
            </a:r>
          </a:p>
          <a:p>
            <a:pPr algn="just"/>
            <a:r>
              <a:rPr lang="en-US" dirty="0">
                <a:solidFill>
                  <a:schemeClr val="tx1"/>
                </a:solidFill>
              </a:rPr>
              <a:t>✅ </a:t>
            </a:r>
            <a:r>
              <a:rPr lang="en-US" b="1" dirty="0">
                <a:solidFill>
                  <a:schemeClr val="tx1"/>
                </a:solidFill>
              </a:rPr>
              <a:t>Distribution Pattern</a:t>
            </a:r>
            <a:endParaRPr lang="en-US" dirty="0">
              <a:solidFill>
                <a:schemeClr val="tx1"/>
              </a:solidFill>
            </a:endParaRPr>
          </a:p>
          <a:p>
            <a:pPr algn="just"/>
            <a:r>
              <a:rPr lang="en-US" dirty="0">
                <a:solidFill>
                  <a:schemeClr val="tx1"/>
                </a:solidFill>
              </a:rPr>
              <a:t>Do most students score around 70? </a:t>
            </a:r>
          </a:p>
          <a:p>
            <a:pPr algn="just"/>
            <a:r>
              <a:rPr lang="en-US" dirty="0">
                <a:solidFill>
                  <a:schemeClr val="tx1"/>
                </a:solidFill>
              </a:rPr>
              <a:t>Is the distribution normal, skewed, or bimodal? </a:t>
            </a:r>
          </a:p>
          <a:p>
            <a:pPr algn="just"/>
            <a:r>
              <a:rPr lang="en-US" dirty="0">
                <a:solidFill>
                  <a:schemeClr val="tx1"/>
                </a:solidFill>
              </a:rPr>
              <a:t>✅ </a:t>
            </a:r>
            <a:r>
              <a:rPr lang="en-US" b="1" dirty="0">
                <a:solidFill>
                  <a:schemeClr val="tx1"/>
                </a:solidFill>
              </a:rPr>
              <a:t>Outlier Detection</a:t>
            </a:r>
            <a:endParaRPr lang="en-US" dirty="0">
              <a:solidFill>
                <a:schemeClr val="tx1"/>
              </a:solidFill>
            </a:endParaRPr>
          </a:p>
          <a:p>
            <a:pPr algn="just"/>
            <a:r>
              <a:rPr lang="en-US" dirty="0">
                <a:solidFill>
                  <a:schemeClr val="tx1"/>
                </a:solidFill>
              </a:rPr>
              <a:t>Are there unusually low or high scores? </a:t>
            </a:r>
          </a:p>
          <a:p>
            <a:pPr algn="just"/>
            <a:r>
              <a:rPr lang="en-US" dirty="0">
                <a:solidFill>
                  <a:schemeClr val="tx1"/>
                </a:solidFill>
              </a:rPr>
              <a:t>Example: One student scored </a:t>
            </a:r>
            <a:r>
              <a:rPr lang="en-US" b="1" dirty="0">
                <a:solidFill>
                  <a:schemeClr val="tx1"/>
                </a:solidFill>
              </a:rPr>
              <a:t>15 marks</a:t>
            </a:r>
            <a:r>
              <a:rPr lang="en-US" dirty="0">
                <a:solidFill>
                  <a:schemeClr val="tx1"/>
                </a:solidFill>
              </a:rPr>
              <a:t> while most scored between 50–90. </a:t>
            </a:r>
          </a:p>
          <a:p>
            <a:pPr algn="just"/>
            <a:r>
              <a:rPr lang="en-US" dirty="0">
                <a:solidFill>
                  <a:schemeClr val="tx1"/>
                </a:solidFill>
              </a:rPr>
              <a:t>The score of 15 may be identified as an </a:t>
            </a:r>
            <a:r>
              <a:rPr lang="en-US" b="1" dirty="0">
                <a:solidFill>
                  <a:schemeClr val="tx1"/>
                </a:solidFill>
              </a:rPr>
              <a:t>outlier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12476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228600"/>
            <a:ext cx="8686800" cy="632460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3400" b="1" dirty="0"/>
              <a:t>Types of Distribution with Real-Time Examples </a:t>
            </a:r>
          </a:p>
          <a:p>
            <a:pPr marL="0" indent="0">
              <a:buNone/>
            </a:pPr>
            <a:r>
              <a:rPr lang="en-US" sz="3400" b="1" dirty="0"/>
              <a:t>1. Normal Distribution (Bell-Shaped Distribution)</a:t>
            </a:r>
          </a:p>
          <a:p>
            <a:pPr marL="0" indent="0">
              <a:buNone/>
            </a:pPr>
            <a:r>
              <a:rPr lang="en-US" sz="3400" b="1" dirty="0"/>
              <a:t>Description:</a:t>
            </a:r>
            <a:endParaRPr lang="en-US" sz="3400" dirty="0"/>
          </a:p>
          <a:p>
            <a:pPr marL="0" indent="0">
              <a:buNone/>
            </a:pPr>
            <a:r>
              <a:rPr lang="en-US" sz="3400" dirty="0"/>
              <a:t>Data is symmetric around the center. </a:t>
            </a:r>
          </a:p>
          <a:p>
            <a:pPr marL="0" indent="0">
              <a:buNone/>
            </a:pPr>
            <a:r>
              <a:rPr lang="en-US" sz="3400" dirty="0"/>
              <a:t>Mean = Median = Mode. </a:t>
            </a:r>
          </a:p>
          <a:p>
            <a:pPr marL="0" indent="0">
              <a:buNone/>
            </a:pPr>
            <a:r>
              <a:rPr lang="en-US" sz="3400" dirty="0"/>
              <a:t>Most values are concentrated near the average. </a:t>
            </a:r>
          </a:p>
          <a:p>
            <a:pPr marL="0" indent="0">
              <a:buNone/>
            </a:pPr>
            <a:r>
              <a:rPr lang="en-US" sz="3400" b="1" dirty="0"/>
              <a:t>Real-Time Example:</a:t>
            </a:r>
            <a:br>
              <a:rPr lang="en-US" sz="3400" dirty="0"/>
            </a:br>
            <a:r>
              <a:rPr lang="en-US" sz="3400" dirty="0"/>
              <a:t>📚 </a:t>
            </a:r>
            <a:r>
              <a:rPr lang="en-US" sz="3400" b="1" dirty="0"/>
              <a:t>Students' Exam Scores</a:t>
            </a:r>
            <a:endParaRPr lang="en-US" sz="3400" dirty="0"/>
          </a:p>
          <a:p>
            <a:pPr marL="0" indent="0">
              <a:buNone/>
            </a:pPr>
            <a:r>
              <a:rPr lang="en-US" sz="3400" dirty="0"/>
              <a:t>In a large class, most students score around 70–80 marks. </a:t>
            </a:r>
          </a:p>
          <a:p>
            <a:pPr marL="0" indent="0">
              <a:buNone/>
            </a:pPr>
            <a:r>
              <a:rPr lang="en-US" sz="3400" dirty="0"/>
              <a:t>Few students score very low or very high. </a:t>
            </a:r>
          </a:p>
          <a:p>
            <a:pPr marL="0" indent="0">
              <a:buNone/>
            </a:pPr>
            <a:r>
              <a:rPr lang="en-US" sz="3400" dirty="0"/>
              <a:t>The graph forms a bell shape. </a:t>
            </a:r>
          </a:p>
          <a:p>
            <a:pPr marL="0" indent="0">
              <a:buNone/>
            </a:pPr>
            <a:r>
              <a:rPr lang="en-US" sz="3400" b="1" dirty="0"/>
              <a:t>Example Scores:</a:t>
            </a:r>
            <a:br>
              <a:rPr lang="en-US" sz="3400" dirty="0"/>
            </a:br>
            <a:r>
              <a:rPr lang="en-US" sz="3400" dirty="0"/>
              <a:t>60, 65, 68, 70, 72, 75, 78, 80, 85</a:t>
            </a:r>
          </a:p>
          <a:p>
            <a:pPr marL="0" indent="0">
              <a:buNone/>
            </a:pPr>
            <a:r>
              <a:rPr lang="en-US" sz="3400" b="1" dirty="0"/>
              <a:t>Applications:</a:t>
            </a:r>
            <a:endParaRPr lang="en-US" sz="3400" dirty="0"/>
          </a:p>
          <a:p>
            <a:pPr marL="0" indent="0">
              <a:buNone/>
            </a:pPr>
            <a:r>
              <a:rPr lang="en-US" sz="3400" dirty="0"/>
              <a:t>IQ scores </a:t>
            </a:r>
          </a:p>
          <a:p>
            <a:pPr marL="0" indent="0">
              <a:buNone/>
            </a:pPr>
            <a:r>
              <a:rPr lang="en-US" sz="3400" dirty="0"/>
              <a:t>Human heights </a:t>
            </a:r>
          </a:p>
          <a:p>
            <a:pPr marL="0" indent="0">
              <a:buNone/>
            </a:pPr>
            <a:r>
              <a:rPr lang="en-US" sz="3400" dirty="0"/>
              <a:t>Measurement errors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96237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381000"/>
            <a:ext cx="8686800" cy="61722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2. Uniform Distribution</a:t>
            </a:r>
          </a:p>
          <a:p>
            <a:pPr marL="0" indent="0">
              <a:buNone/>
            </a:pPr>
            <a:r>
              <a:rPr lang="en-US" b="1" dirty="0"/>
              <a:t>Description: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Every value has an equal chance of occurring. </a:t>
            </a:r>
          </a:p>
          <a:p>
            <a:pPr marL="0" indent="0">
              <a:buNone/>
            </a:pPr>
            <a:r>
              <a:rPr lang="en-US" dirty="0"/>
              <a:t>The graph appears flat. </a:t>
            </a:r>
          </a:p>
          <a:p>
            <a:pPr marL="0" indent="0">
              <a:buNone/>
            </a:pPr>
            <a:r>
              <a:rPr lang="en-US" b="1" dirty="0"/>
              <a:t>Real-Time Example:</a:t>
            </a:r>
            <a:br>
              <a:rPr lang="en-US" dirty="0"/>
            </a:br>
            <a:r>
              <a:rPr lang="en-US" dirty="0"/>
              <a:t>🎲 </a:t>
            </a:r>
            <a:r>
              <a:rPr lang="en-US" b="1" dirty="0"/>
              <a:t>Rolling a Fair Dice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Outcomes: 1, 2, 3, 4, 5, 6 </a:t>
            </a:r>
          </a:p>
          <a:p>
            <a:pPr marL="0" indent="0">
              <a:buNone/>
            </a:pPr>
            <a:r>
              <a:rPr lang="en-US" dirty="0"/>
              <a:t>Each number has an equal probability (1/6). </a:t>
            </a:r>
          </a:p>
          <a:p>
            <a:pPr marL="0" indent="0">
              <a:buNone/>
            </a:pPr>
            <a:r>
              <a:rPr lang="en-US" b="1" dirty="0"/>
              <a:t>Applications: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Lottery draws </a:t>
            </a:r>
          </a:p>
          <a:p>
            <a:pPr marL="0" indent="0">
              <a:buNone/>
            </a:pPr>
            <a:r>
              <a:rPr lang="en-US" dirty="0"/>
              <a:t>Random number generation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99119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304800"/>
            <a:ext cx="8686800" cy="640080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3. Skewed Distribution</a:t>
            </a:r>
          </a:p>
          <a:p>
            <a:pPr marL="0" indent="0">
              <a:buNone/>
            </a:pPr>
            <a:r>
              <a:rPr lang="en-US" b="1" dirty="0"/>
              <a:t>Description: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Data is not symmetric. </a:t>
            </a:r>
          </a:p>
          <a:p>
            <a:pPr marL="0" indent="0">
              <a:buNone/>
            </a:pPr>
            <a:r>
              <a:rPr lang="en-US" dirty="0"/>
              <a:t>One tail is longer than the other. </a:t>
            </a:r>
          </a:p>
          <a:p>
            <a:pPr marL="0" indent="0">
              <a:buNone/>
            </a:pPr>
            <a:r>
              <a:rPr lang="en-US" b="1" dirty="0"/>
              <a:t>(a) Positive Skew (Right-Skewed)</a:t>
            </a:r>
          </a:p>
          <a:p>
            <a:pPr marL="0" indent="0">
              <a:buNone/>
            </a:pPr>
            <a:r>
              <a:rPr lang="en-US" dirty="0"/>
              <a:t>Tail extends to the right. </a:t>
            </a:r>
          </a:p>
          <a:p>
            <a:pPr marL="0" indent="0">
              <a:buNone/>
            </a:pPr>
            <a:r>
              <a:rPr lang="en-US" dirty="0"/>
              <a:t>Mean &gt; Median &gt; Mode. </a:t>
            </a:r>
          </a:p>
          <a:p>
            <a:pPr marL="0" indent="0">
              <a:buNone/>
            </a:pPr>
            <a:r>
              <a:rPr lang="en-US" b="1" dirty="0"/>
              <a:t>Real-Time Example:</a:t>
            </a:r>
            <a:br>
              <a:rPr lang="en-US" dirty="0"/>
            </a:br>
            <a:r>
              <a:rPr lang="en-US" dirty="0"/>
              <a:t>💰 </a:t>
            </a:r>
            <a:r>
              <a:rPr lang="en-US" b="1" dirty="0"/>
              <a:t>Employee Salaries in a Company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Most employees earn ₹30,000–₹50,000. </a:t>
            </a:r>
          </a:p>
          <a:p>
            <a:pPr marL="0" indent="0">
              <a:buNone/>
            </a:pPr>
            <a:r>
              <a:rPr lang="en-US" dirty="0"/>
              <a:t>A few managers earn ₹2,00,000+. </a:t>
            </a:r>
          </a:p>
          <a:p>
            <a:pPr marL="0" indent="0">
              <a:buNone/>
            </a:pPr>
            <a:r>
              <a:rPr lang="en-US" dirty="0"/>
              <a:t>High salaries pull the distribution to the right.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(b) Negative Skew (Left-Skewed)</a:t>
            </a:r>
          </a:p>
          <a:p>
            <a:pPr marL="0" indent="0">
              <a:buNone/>
            </a:pPr>
            <a:r>
              <a:rPr lang="en-US" dirty="0"/>
              <a:t>Tail extends to the left. </a:t>
            </a:r>
          </a:p>
          <a:p>
            <a:pPr marL="0" indent="0">
              <a:buNone/>
            </a:pPr>
            <a:r>
              <a:rPr lang="en-US" dirty="0"/>
              <a:t>Mean &lt; Median &lt; Mode. </a:t>
            </a:r>
          </a:p>
          <a:p>
            <a:pPr marL="0" indent="0">
              <a:buNone/>
            </a:pPr>
            <a:r>
              <a:rPr lang="en-US" b="1" dirty="0"/>
              <a:t>Real-Time Example:</a:t>
            </a:r>
            <a:br>
              <a:rPr lang="en-US" dirty="0"/>
            </a:br>
            <a:r>
              <a:rPr lang="en-US" dirty="0"/>
              <a:t>🎓 </a:t>
            </a:r>
            <a:r>
              <a:rPr lang="en-US" b="1" dirty="0"/>
              <a:t>Easy Examination Marks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Most students score above 80. </a:t>
            </a:r>
          </a:p>
          <a:p>
            <a:pPr marL="0" indent="0">
              <a:buNone/>
            </a:pPr>
            <a:r>
              <a:rPr lang="en-US" dirty="0"/>
              <a:t>Very few score below 40. </a:t>
            </a:r>
          </a:p>
          <a:p>
            <a:pPr marL="0" indent="0">
              <a:buNone/>
            </a:pPr>
            <a:r>
              <a:rPr lang="en-US" dirty="0"/>
              <a:t>Distribution tail extends toward lower marks.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914400"/>
            <a:ext cx="3962400" cy="3505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860175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304800"/>
            <a:ext cx="8534400" cy="632460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4. Bimodal Distribution</a:t>
            </a:r>
          </a:p>
          <a:p>
            <a:pPr marL="0" indent="0">
              <a:buNone/>
            </a:pPr>
            <a:r>
              <a:rPr lang="en-US" b="1" dirty="0"/>
              <a:t>Description: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Distribution contains two peaks (two modes). </a:t>
            </a:r>
          </a:p>
          <a:p>
            <a:pPr marL="0" indent="0">
              <a:buNone/>
            </a:pPr>
            <a:r>
              <a:rPr lang="en-US" dirty="0"/>
              <a:t>Indicates two distinct groups in the data.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Real-Time Example:</a:t>
            </a:r>
            <a:br>
              <a:rPr lang="en-US" dirty="0"/>
            </a:br>
            <a:r>
              <a:rPr lang="en-US" dirty="0"/>
              <a:t>🚗 </a:t>
            </a:r>
            <a:r>
              <a:rPr lang="en-US" b="1" dirty="0"/>
              <a:t>Daily Traffic Speed Analysis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Morning traffic speed average = 30 km/hr. </a:t>
            </a:r>
          </a:p>
          <a:p>
            <a:pPr marL="0" indent="0">
              <a:buNone/>
            </a:pPr>
            <a:r>
              <a:rPr lang="en-US" dirty="0"/>
              <a:t>Night traffic speed average = 70 km/hr. </a:t>
            </a:r>
          </a:p>
          <a:p>
            <a:pPr marL="0" indent="0">
              <a:buNone/>
            </a:pPr>
            <a:r>
              <a:rPr lang="en-US" dirty="0"/>
              <a:t>Two peaks appear in the graph.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Applications: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Customer segmentation </a:t>
            </a:r>
          </a:p>
          <a:p>
            <a:pPr marL="0" indent="0">
              <a:buNone/>
            </a:pPr>
            <a:r>
              <a:rPr lang="en-US" dirty="0"/>
              <a:t>Population studies </a:t>
            </a:r>
          </a:p>
          <a:p>
            <a:pPr marL="0" indent="0">
              <a:buNone/>
            </a:pPr>
            <a:r>
              <a:rPr lang="en-US" dirty="0"/>
              <a:t>Traffic analysis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1607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381000"/>
            <a:ext cx="8610600" cy="6096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Detecting Outliers Using IQR</a:t>
            </a:r>
          </a:p>
          <a:p>
            <a:pPr marL="0" indent="0">
              <a:buNone/>
            </a:pPr>
            <a:r>
              <a:rPr lang="en-US" b="1" dirty="0"/>
              <a:t>Interquartile Range (IQR)</a:t>
            </a:r>
          </a:p>
          <a:p>
            <a:pPr marL="0" indent="0">
              <a:buNone/>
            </a:pPr>
            <a:r>
              <a:rPr lang="en-US" dirty="0"/>
              <a:t>IQR=Q3−Q1</a:t>
            </a:r>
          </a:p>
          <a:p>
            <a:pPr marL="0" indent="0">
              <a:buNone/>
            </a:pPr>
            <a:r>
              <a:rPr lang="en-US" b="1" dirty="0"/>
              <a:t>Outlier Limits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Lower Bound:</a:t>
            </a:r>
          </a:p>
          <a:p>
            <a:pPr marL="0" indent="0">
              <a:buNone/>
            </a:pPr>
            <a:r>
              <a:rPr lang="en-US" dirty="0"/>
              <a:t>Q1−1.5(IQR) </a:t>
            </a:r>
          </a:p>
          <a:p>
            <a:pPr marL="0" indent="0">
              <a:buNone/>
            </a:pPr>
            <a:r>
              <a:rPr lang="en-US" dirty="0"/>
              <a:t>Upper Bound:</a:t>
            </a:r>
          </a:p>
          <a:p>
            <a:pPr marL="0" indent="0">
              <a:buNone/>
            </a:pPr>
            <a:r>
              <a:rPr lang="en-US" dirty="0"/>
              <a:t>Q3+1.5(IQR)</a:t>
            </a:r>
          </a:p>
          <a:p>
            <a:pPr marL="0" indent="0">
              <a:buNone/>
            </a:pPr>
            <a:r>
              <a:rPr lang="en-US" dirty="0"/>
              <a:t> Values outside these limits are considered outliers.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37041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382000" cy="6400800"/>
          </a:xfrm>
        </p:spPr>
        <p:txBody>
          <a:bodyPr>
            <a:normAutofit fontScale="62500" lnSpcReduction="20000"/>
          </a:bodyPr>
          <a:lstStyle/>
          <a:p>
            <a:r>
              <a:rPr lang="en-US" b="1" dirty="0"/>
              <a:t>Real-Time Example: Students' Marks</a:t>
            </a:r>
          </a:p>
          <a:p>
            <a:r>
              <a:rPr lang="en-US" dirty="0"/>
              <a:t>Consider the marks of 10 students:</a:t>
            </a:r>
          </a:p>
          <a:p>
            <a:r>
              <a:rPr lang="en-US" b="1" dirty="0"/>
              <a:t>45, 50, 52, 55, 58, 60, 62, 65, 68, 95</a:t>
            </a:r>
            <a:endParaRPr lang="en-US" dirty="0"/>
          </a:p>
          <a:p>
            <a:r>
              <a:rPr lang="en-US" b="1" dirty="0"/>
              <a:t>Step 1: Find Q1 and Q3</a:t>
            </a:r>
          </a:p>
          <a:p>
            <a:r>
              <a:rPr lang="en-US" dirty="0"/>
              <a:t>Lower Half: 45, 50, 52, 55, 58</a:t>
            </a:r>
          </a:p>
          <a:p>
            <a:r>
              <a:rPr lang="en-US" b="1" dirty="0"/>
              <a:t>Q1 = 52</a:t>
            </a:r>
            <a:endParaRPr lang="en-US" dirty="0"/>
          </a:p>
          <a:p>
            <a:r>
              <a:rPr lang="en-US" dirty="0"/>
              <a:t>Upper Half: 60, 62, 65, 68, 95</a:t>
            </a:r>
          </a:p>
          <a:p>
            <a:r>
              <a:rPr lang="en-US" b="1" dirty="0"/>
              <a:t>Q3 = 65</a:t>
            </a:r>
            <a:endParaRPr lang="en-US" dirty="0"/>
          </a:p>
          <a:p>
            <a:r>
              <a:rPr lang="en-US" b="1" dirty="0"/>
              <a:t>Step 2: Calculate IQR</a:t>
            </a:r>
          </a:p>
          <a:p>
            <a:r>
              <a:rPr lang="en-US" dirty="0"/>
              <a:t>IQR=Q3−Q1IQR = Q3 - Q1IQR=Q3−Q1 IQR=65−52=13IQR = 65 - 52 = 13IQR=65−52=13 </a:t>
            </a:r>
            <a:r>
              <a:rPr lang="en-US" b="1" dirty="0"/>
              <a:t>Step 3: Calculate Outlier Limits</a:t>
            </a:r>
          </a:p>
          <a:p>
            <a:r>
              <a:rPr lang="en-US" b="1" dirty="0"/>
              <a:t>Lower Bound</a:t>
            </a:r>
            <a:endParaRPr lang="en-US" dirty="0"/>
          </a:p>
          <a:p>
            <a:r>
              <a:rPr lang="en-US" dirty="0"/>
              <a:t>Q1−1.5(IQR)Q1 - 1.5(IQR)Q1−1.5(IQR) 52−1.5(13)52 - 1.5(13)52−1.5(13) 52−19.5=32.552 - 19.5 = 32.552−19.5=32.5 </a:t>
            </a:r>
            <a:r>
              <a:rPr lang="en-US" b="1" dirty="0"/>
              <a:t>Upper Bound</a:t>
            </a:r>
            <a:endParaRPr lang="en-US" dirty="0"/>
          </a:p>
          <a:p>
            <a:r>
              <a:rPr lang="en-US" dirty="0"/>
              <a:t>Q3+1.5(IQR)Q3 + 1.5(IQR)Q3+1.5(IQR) 65+19.5=84.565 + 19.5 = 84.565+19.5=84.5 </a:t>
            </a:r>
            <a:r>
              <a:rPr lang="en-US" b="1" dirty="0"/>
              <a:t>Step 4: Identify Outliers</a:t>
            </a:r>
          </a:p>
          <a:p>
            <a:r>
              <a:rPr lang="en-US" dirty="0"/>
              <a:t>Valid Range:</a:t>
            </a:r>
          </a:p>
          <a:p>
            <a:r>
              <a:rPr lang="en-US" dirty="0"/>
              <a:t>32.5≤x≤84.532.5 \</a:t>
            </a:r>
            <a:r>
              <a:rPr lang="en-US" dirty="0" err="1"/>
              <a:t>leq</a:t>
            </a:r>
            <a:r>
              <a:rPr lang="en-US" dirty="0"/>
              <a:t> x \</a:t>
            </a:r>
            <a:r>
              <a:rPr lang="en-US" dirty="0" err="1"/>
              <a:t>leq</a:t>
            </a:r>
            <a:r>
              <a:rPr lang="en-US" dirty="0"/>
              <a:t> 84.532.5≤x≤84.5 Marks:</a:t>
            </a:r>
          </a:p>
          <a:p>
            <a:r>
              <a:rPr lang="en-US" dirty="0"/>
              <a:t>45, 50, 52, 55, 58, 60, 62, 65, 68, </a:t>
            </a:r>
            <a:r>
              <a:rPr lang="en-US" b="1" dirty="0"/>
              <a:t>95</a:t>
            </a:r>
            <a:endParaRPr lang="en-US" dirty="0"/>
          </a:p>
          <a:p>
            <a:r>
              <a:rPr lang="en-US" dirty="0"/>
              <a:t>Since </a:t>
            </a:r>
            <a:r>
              <a:rPr lang="en-US" b="1" dirty="0"/>
              <a:t>95 &gt; 84.5</a:t>
            </a:r>
            <a:r>
              <a:rPr lang="en-US" dirty="0"/>
              <a:t>, it is an </a:t>
            </a:r>
            <a:r>
              <a:rPr lang="en-US" b="1" dirty="0"/>
              <a:t>outlier</a:t>
            </a:r>
            <a:r>
              <a:rPr lang="en-US" dirty="0"/>
              <a:t>.</a:t>
            </a:r>
          </a:p>
          <a:p>
            <a:r>
              <a:rPr lang="en-US" dirty="0"/>
              <a:t>✅ </a:t>
            </a:r>
            <a:r>
              <a:rPr lang="en-US" b="1" dirty="0"/>
              <a:t>Outlier = 95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30436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C67B49F-2A1E-15FC-DF51-CD14880D3B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800" y="228600"/>
            <a:ext cx="8686800" cy="624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8651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BAC7F7-1B4A-219A-D697-B5011774F8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304800"/>
            <a:ext cx="8763000" cy="64008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Visualization Techniques</a:t>
            </a:r>
          </a:p>
          <a:p>
            <a:pPr marL="0" indent="0" algn="just">
              <a:buNone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Objective: </a:t>
            </a:r>
          </a:p>
          <a:p>
            <a:pPr marL="0" indent="0" algn="just">
              <a:buNone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● Visualize how data is distributed </a:t>
            </a:r>
          </a:p>
          <a:p>
            <a:pPr marL="0" indent="0" algn="just">
              <a:buNone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● Spot patterns, skewness, and outliers visually 1. Histogram </a:t>
            </a:r>
          </a:p>
          <a:p>
            <a:pPr marL="0" indent="0" algn="just">
              <a:buNone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● Support numeric summaries (mean, median, std) with graphs</a:t>
            </a:r>
          </a:p>
          <a:p>
            <a:pPr marL="457200" indent="-457200" algn="just">
              <a:buAutoNum type="arabicPeriod"/>
            </a:pPr>
            <a:r>
              <a:rPr lang="en-US" sz="2400" dirty="0"/>
              <a:t>Histogram                                              </a:t>
            </a:r>
          </a:p>
          <a:p>
            <a:pPr marL="0" indent="0" algn="just">
              <a:buNone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47E9CD-D7C6-A41A-D7D1-C0DAF81C7B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124200"/>
            <a:ext cx="3000751" cy="3200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7DB7C48-7727-80F8-AA1E-44D0E79067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0351" y="2667001"/>
            <a:ext cx="5077534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7207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FD0EA00-B02E-6085-9136-D620830A54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600" y="228600"/>
            <a:ext cx="4343400" cy="64008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6C06888-01D7-3298-CF40-6389A3CBD10A}"/>
              </a:ext>
            </a:extLst>
          </p:cNvPr>
          <p:cNvSpPr txBox="1"/>
          <p:nvPr/>
        </p:nvSpPr>
        <p:spPr>
          <a:xfrm>
            <a:off x="4425505" y="2248890"/>
            <a:ext cx="448989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What it shows: </a:t>
            </a:r>
          </a:p>
          <a:p>
            <a:r>
              <a:rPr lang="en-US" dirty="0"/>
              <a:t>● Five-number summary: ○ Min, Q1, Median, Q3, Max </a:t>
            </a:r>
          </a:p>
          <a:p>
            <a:r>
              <a:rPr lang="en-US" dirty="0"/>
              <a:t>● Visual detection of: ○ Outliers (dots beyond whiskers) </a:t>
            </a:r>
          </a:p>
          <a:p>
            <a:r>
              <a:rPr lang="en-US" dirty="0"/>
              <a:t> ● Skewness (if box is lopsided) </a:t>
            </a:r>
          </a:p>
          <a:p>
            <a:r>
              <a:rPr lang="en-US" dirty="0"/>
              <a:t>● Spread (length of box and whiskers)</a:t>
            </a:r>
          </a:p>
        </p:txBody>
      </p:sp>
    </p:spTree>
    <p:extLst>
      <p:ext uri="{BB962C8B-B14F-4D97-AF65-F5344CB8AC3E}">
        <p14:creationId xmlns:p14="http://schemas.microsoft.com/office/powerpoint/2010/main" val="25075894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93368A4-2664-32B6-B040-1EC8760EEF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400" y="304800"/>
            <a:ext cx="8839200" cy="624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98005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759980-BC0B-4AF9-B572-71DF459807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2559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849</Words>
  <Application>Microsoft Office PowerPoint</Application>
  <PresentationFormat>On-screen Show (4:3)</PresentationFormat>
  <Paragraphs>121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hari haran</cp:lastModifiedBy>
  <cp:revision>5</cp:revision>
  <dcterms:created xsi:type="dcterms:W3CDTF">2026-07-14T09:44:38Z</dcterms:created>
  <dcterms:modified xsi:type="dcterms:W3CDTF">2026-07-23T05:34:23Z</dcterms:modified>
</cp:coreProperties>
</file>